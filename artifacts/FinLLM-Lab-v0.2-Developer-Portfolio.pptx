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9D6C1"/>
          </a:solidFill>
          <a:ln w="12700">
            <a:solidFill>
              <a:srgbClr val="39D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978408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39D6C1"/>
                </a:solidFill>
                <a:latin typeface="Noto Sans KR"/>
              </a:defRPr>
            </a:pPr>
            <a:r>
              <a:t>KIM DAEGYUN · AI / LLMOPS DEVELOPER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283464"/>
            <a:ext cx="5029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0"/>
              </a:spcAft>
              <a:defRPr sz="1600" b="1">
                <a:solidFill>
                  <a:srgbClr val="53708F"/>
                </a:solidFill>
                <a:latin typeface="Noto Sans KR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0698480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F5F8FC"/>
                </a:solidFill>
                <a:latin typeface="Noto Sans KR"/>
              </a:defRPr>
            </a:pPr>
            <a:r>
              <a:t>FinLLM Lab v0.2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18520" cy="10972"/>
          </a:xfrm>
          <a:prstGeom prst="rect">
            <a:avLst/>
          </a:prstGeom>
          <a:solidFill>
            <a:srgbClr val="2B456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6446520"/>
            <a:ext cx="11018520" cy="10972"/>
          </a:xfrm>
          <a:prstGeom prst="rect">
            <a:avLst/>
          </a:prstGeom>
          <a:solidFill>
            <a:srgbClr val="2B4565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510528"/>
            <a:ext cx="59436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20" b="0">
                <a:solidFill>
                  <a:srgbClr val="A4B5CA"/>
                </a:solidFill>
                <a:latin typeface="Noto Sans KR"/>
              </a:defRPr>
            </a:pPr>
            <a:r>
              <a:t>github.com/kkkimdaegyun/finllm-lab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6510528"/>
            <a:ext cx="4983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0"/>
              </a:spcAft>
              <a:defRPr sz="720" b="0">
                <a:solidFill>
                  <a:srgbClr val="A4B5CA"/>
                </a:solidFill>
                <a:latin typeface="Noto Sans KR"/>
              </a:defRPr>
            </a:pPr>
            <a:r>
              <a:t>EVIDENCE · docs/final-review/final-release-review.json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8046720" cy="1325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3100" b="1">
                <a:solidFill>
                  <a:srgbClr val="F5F8FC"/>
                </a:solidFill>
                <a:latin typeface="Noto Sans KR"/>
              </a:defRPr>
            </a:pPr>
            <a:r>
              <a:t>모델 실험을</a:t>
            </a:r>
            <a:br/>
            <a:r>
              <a:t>운영 가능한 LLM 서비스로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063240"/>
            <a:ext cx="7772400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A4B5CA"/>
                </a:solidFill>
                <a:latin typeface="Noto Sans KR"/>
              </a:defRPr>
            </a:pPr>
            <a:r>
              <a:t>금융 Private RAG · single GPU · evidence-driven engineering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611880"/>
            <a:ext cx="768096" cy="310896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3675887"/>
            <a:ext cx="768096" cy="1554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  <a:defRPr sz="750" b="0">
                <a:solidFill>
                  <a:srgbClr val="F5F8FC"/>
                </a:solidFill>
                <a:latin typeface="Noto Sans KR"/>
              </a:defRPr>
            </a:pPr>
            <a:r>
              <a:t>Python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63624" y="3611880"/>
            <a:ext cx="658368" cy="310896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63624" y="3675887"/>
            <a:ext cx="658368" cy="1554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  <a:defRPr sz="750" b="0">
                <a:solidFill>
                  <a:srgbClr val="F5F8FC"/>
                </a:solidFill>
                <a:latin typeface="Noto Sans KR"/>
              </a:defRPr>
            </a:pPr>
            <a:r>
              <a:t>vLLM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04288" y="3611880"/>
            <a:ext cx="768096" cy="310896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04288" y="3675887"/>
            <a:ext cx="768096" cy="1554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  <a:defRPr sz="750" b="0">
                <a:solidFill>
                  <a:srgbClr val="F5F8FC"/>
                </a:solidFill>
                <a:latin typeface="Noto Sans KR"/>
              </a:defRPr>
            </a:pPr>
            <a:r>
              <a:t>Docker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54680" y="3611880"/>
            <a:ext cx="1097280" cy="310896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54680" y="3675887"/>
            <a:ext cx="1097280" cy="1554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  <a:defRPr sz="750" b="0">
                <a:solidFill>
                  <a:srgbClr val="F5F8FC"/>
                </a:solidFill>
                <a:latin typeface="Noto Sans KR"/>
              </a:defRPr>
            </a:pPr>
            <a:r>
              <a:t>Prometheus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34256" y="3611880"/>
            <a:ext cx="1426464" cy="310896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34256" y="3675887"/>
            <a:ext cx="1426464" cy="1554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  <a:defRPr sz="750" b="0">
                <a:solidFill>
                  <a:srgbClr val="F5F8FC"/>
                </a:solidFill>
                <a:latin typeface="Noto Sans KR"/>
              </a:defRPr>
            </a:pPr>
            <a:r>
              <a:t>GitHub Actions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23960" y="4343400"/>
            <a:ext cx="2606040" cy="941832"/>
          </a:xfrm>
          <a:prstGeom prst="roundRect">
            <a:avLst/>
          </a:prstGeom>
          <a:solidFill>
            <a:srgbClr val="12352F"/>
          </a:solidFill>
          <a:ln w="12700">
            <a:solidFill>
              <a:srgbClr val="6EE7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88552" y="4544568"/>
            <a:ext cx="228600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6EE7A8"/>
                </a:solidFill>
                <a:latin typeface="Noto Sans KR"/>
              </a:defRPr>
            </a:pPr>
            <a:r>
              <a:t>PRODUCTION LLMOPS · PASS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88552" y="4855464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F5F8FC"/>
                </a:solidFill>
                <a:latin typeface="Noto Sans KR"/>
              </a:defRPr>
            </a:pPr>
            <a:r>
              <a:t>actual RTX A6000 통합 rehearsal · 11/11 regression stages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9D6C1"/>
          </a:solidFill>
          <a:ln w="12700">
            <a:solidFill>
              <a:srgbClr val="39D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978408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39D6C1"/>
                </a:solidFill>
                <a:latin typeface="Noto Sans KR"/>
              </a:defRPr>
            </a:pPr>
            <a:r>
              <a:t>01 · DEVELOPER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283464"/>
            <a:ext cx="5029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0"/>
              </a:spcAft>
              <a:defRPr sz="1600" b="1">
                <a:solidFill>
                  <a:srgbClr val="53708F"/>
                </a:solidFill>
                <a:latin typeface="Noto Sans KR"/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0698480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F5F8FC"/>
                </a:solidFill>
                <a:latin typeface="Noto Sans KR"/>
              </a:defRPr>
            </a:pPr>
            <a:r>
              <a:t>실험 코드에서 운영·복구까지 하나의 제품 경계로 구현했다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18520" cy="10972"/>
          </a:xfrm>
          <a:prstGeom prst="rect">
            <a:avLst/>
          </a:prstGeom>
          <a:solidFill>
            <a:srgbClr val="2B456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6446520"/>
            <a:ext cx="11018520" cy="10972"/>
          </a:xfrm>
          <a:prstGeom prst="rect">
            <a:avLst/>
          </a:prstGeom>
          <a:solidFill>
            <a:srgbClr val="2B4565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510528"/>
            <a:ext cx="59436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20" b="0">
                <a:solidFill>
                  <a:srgbClr val="A4B5CA"/>
                </a:solidFill>
                <a:latin typeface="Noto Sans KR"/>
              </a:defRPr>
            </a:pPr>
            <a:r>
              <a:t>Python 9,807 LOC · 17 test modules · 153 deterministic tests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6510528"/>
            <a:ext cx="4983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0"/>
              </a:spcAft>
              <a:defRPr sz="720" b="0">
                <a:solidFill>
                  <a:srgbClr val="A4B5CA"/>
                </a:solidFill>
                <a:latin typeface="Noto Sans KR"/>
              </a:defRPr>
            </a:pPr>
            <a:r>
              <a:t>EVIDENCE · service/ · deploy/ · monitoring/ · ops/ · tests/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389888"/>
            <a:ext cx="1088136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F5F8FC"/>
                </a:solidFill>
                <a:latin typeface="Noto Sans KR"/>
              </a:defRPr>
            </a:pPr>
            <a:r>
              <a:t>내 역할은 모델 호출 데모가 아니라, 실패를 탐지하고 안전하게 되돌릴 수 있는 LLM 서비스 구축이었다.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828800"/>
            <a:ext cx="3547872" cy="1600200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1947672"/>
            <a:ext cx="327355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39D6C1"/>
                </a:solidFill>
                <a:latin typeface="Noto Sans KR"/>
              </a:defRPr>
            </a:pPr>
            <a:r>
              <a:t>SERVICE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2185416"/>
            <a:ext cx="3273552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F5F8FC"/>
                </a:solidFill>
                <a:latin typeface="Noto Sans KR"/>
              </a:defRPr>
            </a:pPr>
            <a:r>
              <a:t>API lifecycle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2514600"/>
            <a:ext cx="3273552" cy="7955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A4B5CA"/>
                </a:solidFill>
                <a:latin typeface="Noto Sans KR"/>
              </a:defRPr>
            </a:pPr>
            <a:r>
              <a:t>health · readiness · metrics · RAG endpoint · graceful drain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1828800"/>
            <a:ext cx="3547872" cy="1600200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1947672"/>
            <a:ext cx="327355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39D6C1"/>
                </a:solidFill>
                <a:latin typeface="Noto Sans KR"/>
              </a:defRPr>
            </a:pPr>
            <a:r>
              <a:t>DEPLOY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185416"/>
            <a:ext cx="3273552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F5F8FC"/>
                </a:solidFill>
                <a:latin typeface="Noto Sans KR"/>
              </a:defRPr>
            </a:pPr>
            <a:r>
              <a:t>Pinned runtime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2514600"/>
            <a:ext cx="3273552" cy="7955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A4B5CA"/>
                </a:solidFill>
                <a:latin typeface="Noto Sans KR"/>
              </a:defRPr>
            </a:pPr>
            <a:r>
              <a:t>API/vLLM image · Compose · non-root · read-only filesystem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91856" y="1828800"/>
            <a:ext cx="3547872" cy="1600200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29016" y="1947672"/>
            <a:ext cx="327355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39D6C1"/>
                </a:solidFill>
                <a:latin typeface="Noto Sans KR"/>
              </a:defRPr>
            </a:pPr>
            <a:r>
              <a:t>EVALUATION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9016" y="2185416"/>
            <a:ext cx="3273552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F5F8FC"/>
                </a:solidFill>
                <a:latin typeface="Noto Sans KR"/>
              </a:defRPr>
            </a:pPr>
            <a:r>
              <a:t>Reproducible evidence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9016" y="2514600"/>
            <a:ext cx="3273552" cy="7955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A4B5CA"/>
                </a:solidFill>
                <a:latin typeface="Noto Sans KR"/>
              </a:defRPr>
            </a:pPr>
            <a:r>
              <a:t>60 cases · result schema · immutable revisions · n=3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547872"/>
            <a:ext cx="3547872" cy="1600200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5528" y="3666744"/>
            <a:ext cx="327355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39D6C1"/>
                </a:solidFill>
                <a:latin typeface="Noto Sans KR"/>
              </a:defRPr>
            </a:pPr>
            <a:r>
              <a:t>OBSERVE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" y="3904487"/>
            <a:ext cx="3273552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F5F8FC"/>
                </a:solidFill>
                <a:latin typeface="Noto Sans KR"/>
              </a:defRPr>
            </a:pPr>
            <a:r>
              <a:t>Production signals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8" y="4233672"/>
            <a:ext cx="3273552" cy="7955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A4B5CA"/>
                </a:solidFill>
                <a:latin typeface="Noto Sans KR"/>
              </a:defRPr>
            </a:pPr>
            <a:r>
              <a:t>Prometheus · Grafana · DCGM · 10 alert rules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5112" y="3547872"/>
            <a:ext cx="3547872" cy="1600200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62272" y="3666744"/>
            <a:ext cx="327355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39D6C1"/>
                </a:solidFill>
                <a:latin typeface="Noto Sans KR"/>
              </a:defRPr>
            </a:pPr>
            <a:r>
              <a:t>CHANGE SAFETY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62272" y="3904487"/>
            <a:ext cx="3273552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F5F8FC"/>
                </a:solidFill>
                <a:latin typeface="Noto Sans KR"/>
              </a:defRPr>
            </a:pPr>
            <a:r>
              <a:t>Fail-closed gate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2272" y="4233672"/>
            <a:ext cx="3273552" cy="7955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A4B5CA"/>
                </a:solidFill>
                <a:latin typeface="Noto Sans KR"/>
              </a:defRPr>
            </a:pPr>
            <a:r>
              <a:t>stale · skipped · crashed evaluation을 PASS로 처리하지 않음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91856" y="3547872"/>
            <a:ext cx="3547872" cy="1600200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29016" y="3666744"/>
            <a:ext cx="327355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39D6C1"/>
                </a:solidFill>
                <a:latin typeface="Noto Sans KR"/>
              </a:defRPr>
            </a:pPr>
            <a:r>
              <a:t>RECOVERY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29016" y="3904487"/>
            <a:ext cx="3273552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F5F8FC"/>
                </a:solidFill>
                <a:latin typeface="Noto Sans KR"/>
              </a:defRPr>
            </a:pPr>
            <a:r>
              <a:t>Incident &amp; rollback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9016" y="4233672"/>
            <a:ext cx="3273552" cy="7955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A4B5CA"/>
                </a:solidFill>
                <a:latin typeface="Noto Sans KR"/>
              </a:defRPr>
            </a:pPr>
            <a:r>
              <a:t>immutable target · restart · readiness · state commit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9D6C1"/>
          </a:solidFill>
          <a:ln w="12700">
            <a:solidFill>
              <a:srgbClr val="39D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978408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39D6C1"/>
                </a:solidFill>
                <a:latin typeface="Noto Sans KR"/>
              </a:defRPr>
            </a:pPr>
            <a:r>
              <a:t>02 · PRODUCT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283464"/>
            <a:ext cx="5029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0"/>
              </a:spcAft>
              <a:defRPr sz="1600" b="1">
                <a:solidFill>
                  <a:srgbClr val="53708F"/>
                </a:solidFill>
                <a:latin typeface="Noto Sans KR"/>
              </a:defRPr>
            </a:pPr>
            <a: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0698480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F5F8FC"/>
                </a:solidFill>
                <a:latin typeface="Noto Sans KR"/>
              </a:defRPr>
            </a:pPr>
            <a:r>
              <a:t>금융 RAG는 정확도 하나만으로 운영 구성을 고를 수 없다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18520" cy="10972"/>
          </a:xfrm>
          <a:prstGeom prst="rect">
            <a:avLst/>
          </a:prstGeom>
          <a:solidFill>
            <a:srgbClr val="2B456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6446520"/>
            <a:ext cx="11018520" cy="10972"/>
          </a:xfrm>
          <a:prstGeom prst="rect">
            <a:avLst/>
          </a:prstGeom>
          <a:solidFill>
            <a:srgbClr val="2B4565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510528"/>
            <a:ext cx="59436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20" b="0">
                <a:solidFill>
                  <a:srgbClr val="A4B5CA"/>
                </a:solidFill>
                <a:latin typeface="Noto Sans KR"/>
              </a:defRPr>
            </a:pPr>
            <a:r>
              <a:t>Scenario · 은행 내부통제·준법감시용 on-premise Private 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6510528"/>
            <a:ext cx="4983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0"/>
              </a:spcAft>
              <a:defRPr sz="720" b="0">
                <a:solidFill>
                  <a:srgbClr val="A4B5CA"/>
                </a:solidFill>
                <a:latin typeface="Noto Sans KR"/>
              </a:defRPr>
            </a:pPr>
            <a:r>
              <a:t>EVIDENCE · docs/project-brief.md · configs/profiles.json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508760"/>
            <a:ext cx="10607040" cy="1051560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39D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1755648"/>
            <a:ext cx="10058400" cy="5943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F5F8FC"/>
                </a:solidFill>
                <a:latin typeface="Noto Sans KR"/>
              </a:defRPr>
            </a:pPr>
            <a:r>
              <a:t>외부 API 없이, single GPU에서, 권한을 지키며 동시에 응답할 수 있는가?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816352"/>
            <a:ext cx="3410712" cy="758952"/>
          </a:xfrm>
          <a:prstGeom prst="roundRect">
            <a:avLst/>
          </a:prstGeom>
          <a:solidFill>
            <a:srgbClr val="142B49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926080"/>
            <a:ext cx="313639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39D6C1"/>
                </a:solidFill>
                <a:latin typeface="Noto Sans KR"/>
              </a:defRPr>
            </a:pPr>
            <a:r>
              <a:t>Quality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182112"/>
            <a:ext cx="3136392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A4B5CA"/>
                </a:solidFill>
                <a:latin typeface="Noto Sans KR"/>
              </a:defRPr>
            </a:pPr>
            <a:r>
              <a:t>correctness · grounding · citation · abstention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2816352"/>
            <a:ext cx="3410712" cy="758952"/>
          </a:xfrm>
          <a:prstGeom prst="roundRect">
            <a:avLst/>
          </a:prstGeom>
          <a:solidFill>
            <a:srgbClr val="142B49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7136" y="2926080"/>
            <a:ext cx="313639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39D6C1"/>
                </a:solidFill>
                <a:latin typeface="Noto Sans KR"/>
              </a:defRPr>
            </a:pPr>
            <a:r>
              <a:t>Latency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7136" y="3182112"/>
            <a:ext cx="3136392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A4B5CA"/>
                </a:solidFill>
                <a:latin typeface="Noto Sans KR"/>
              </a:defRPr>
            </a:pPr>
            <a:r>
              <a:t>P95 user TTFT ≤ 2,000ms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64424" y="2816352"/>
            <a:ext cx="3410712" cy="758952"/>
          </a:xfrm>
          <a:prstGeom prst="roundRect">
            <a:avLst/>
          </a:prstGeom>
          <a:solidFill>
            <a:srgbClr val="142B49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10728" y="2926080"/>
            <a:ext cx="313639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39D6C1"/>
                </a:solidFill>
                <a:latin typeface="Noto Sans KR"/>
              </a:defRPr>
            </a:pPr>
            <a:r>
              <a:t>Throughput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0728" y="3182112"/>
            <a:ext cx="3136392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A4B5CA"/>
                </a:solidFill>
                <a:latin typeface="Noto Sans KR"/>
              </a:defRPr>
            </a:pPr>
            <a:r>
              <a:t>concurrency 10 · 30 requests · n=3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749039"/>
            <a:ext cx="3410712" cy="758952"/>
          </a:xfrm>
          <a:prstGeom prst="roundRect">
            <a:avLst/>
          </a:prstGeom>
          <a:solidFill>
            <a:srgbClr val="142B49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3858768"/>
            <a:ext cx="313639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39D6C1"/>
                </a:solidFill>
                <a:latin typeface="Noto Sans KR"/>
              </a:defRPr>
            </a:pPr>
            <a:r>
              <a:t>Memory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" y="4114800"/>
            <a:ext cx="3136392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A4B5CA"/>
                </a:solidFill>
                <a:latin typeface="Noto Sans KR"/>
              </a:defRPr>
            </a:pPr>
            <a:r>
              <a:t>budget ≠ process peak ≠ native fit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70832" y="3749039"/>
            <a:ext cx="3410712" cy="758952"/>
          </a:xfrm>
          <a:prstGeom prst="roundRect">
            <a:avLst/>
          </a:prstGeom>
          <a:solidFill>
            <a:srgbClr val="142B49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7136" y="3858768"/>
            <a:ext cx="313639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39D6C1"/>
                </a:solidFill>
                <a:latin typeface="Noto Sans KR"/>
              </a:defRPr>
            </a:pPr>
            <a:r>
              <a:t>Security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17136" y="4114800"/>
            <a:ext cx="3136392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A4B5CA"/>
                </a:solidFill>
                <a:latin typeface="Noto Sans KR"/>
              </a:defRPr>
            </a:pPr>
            <a:r>
              <a:t>retrieval ACL violation = 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64424" y="3749039"/>
            <a:ext cx="3410712" cy="758952"/>
          </a:xfrm>
          <a:prstGeom prst="roundRect">
            <a:avLst/>
          </a:prstGeom>
          <a:solidFill>
            <a:srgbClr val="142B49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10728" y="3858768"/>
            <a:ext cx="313639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39D6C1"/>
                </a:solidFill>
                <a:latin typeface="Noto Sans KR"/>
              </a:defRPr>
            </a:pPr>
            <a:r>
              <a:t>Reproducibility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10728" y="4114800"/>
            <a:ext cx="3136392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A4B5CA"/>
                </a:solidFill>
                <a:latin typeface="Noto Sans KR"/>
              </a:defRPr>
            </a:pPr>
            <a:r>
              <a:t>model · prompt · eval · retriever provenance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983480"/>
            <a:ext cx="1033272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F6BA57"/>
                </a:solidFill>
                <a:latin typeface="Noto Sans KR"/>
              </a:defRPr>
            </a:pPr>
            <a:r>
              <a:t>추정은 후보 선정에만 사용하고, 최종 판정은 test · schema · actual run으로 제한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9D6C1"/>
          </a:solidFill>
          <a:ln w="12700">
            <a:solidFill>
              <a:srgbClr val="39D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978408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39D6C1"/>
                </a:solidFill>
                <a:latin typeface="Noto Sans KR"/>
              </a:defRPr>
            </a:pPr>
            <a:r>
              <a:t>03 ·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283464"/>
            <a:ext cx="5029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0"/>
              </a:spcAft>
              <a:defRPr sz="1600" b="1">
                <a:solidFill>
                  <a:srgbClr val="53708F"/>
                </a:solidFill>
                <a:latin typeface="Noto Sans KR"/>
              </a:defRPr>
            </a:pPr>
            <a: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0698480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F5F8FC"/>
                </a:solidFill>
                <a:latin typeface="Noto Sans KR"/>
              </a:defRPr>
            </a:pPr>
            <a:r>
              <a:t>요청 경로와 운영 제어면을 분리하고 같은 증거 체계로 연결했다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18520" cy="10972"/>
          </a:xfrm>
          <a:prstGeom prst="rect">
            <a:avLst/>
          </a:prstGeom>
          <a:solidFill>
            <a:srgbClr val="2B456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6446520"/>
            <a:ext cx="11018520" cy="10972"/>
          </a:xfrm>
          <a:prstGeom prst="rect">
            <a:avLst/>
          </a:prstGeom>
          <a:solidFill>
            <a:srgbClr val="2B4565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510528"/>
            <a:ext cx="59436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20" b="0">
                <a:solidFill>
                  <a:srgbClr val="A4B5CA"/>
                </a:solidFill>
                <a:latin typeface="Noto Sans KR"/>
              </a:defRPr>
            </a:pPr>
            <a:r>
              <a:t>Docker Compose · external finllm-net · pinned API/vLLM images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6510528"/>
            <a:ext cx="4983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0"/>
              </a:spcAft>
              <a:defRPr sz="720" b="0">
                <a:solidFill>
                  <a:srgbClr val="A4B5CA"/>
                </a:solidFill>
                <a:latin typeface="Noto Sans KR"/>
              </a:defRPr>
            </a:pPr>
            <a:r>
              <a:t>EVIDENCE · deploy/compose.yaml · monitoring/prometheus/prometheus.yml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508760"/>
            <a:ext cx="1874519" cy="960120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39D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728216"/>
            <a:ext cx="1691639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5F8FC"/>
                </a:solidFill>
                <a:latin typeface="Noto Sans KR"/>
              </a:defRPr>
            </a:pPr>
            <a:r>
              <a:t>Client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075688"/>
            <a:ext cx="1691639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A4B5CA"/>
                </a:solidFill>
                <a:latin typeface="Noto Sans KR"/>
              </a:defRPr>
            </a:pPr>
            <a:r>
              <a:t>private network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9463" y="1847088"/>
            <a:ext cx="2286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39D6C1"/>
                </a:solidFill>
                <a:latin typeface="Noto Sans KR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34639" y="1508760"/>
            <a:ext cx="1874519" cy="960120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39D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79" y="1728216"/>
            <a:ext cx="1691639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5F8FC"/>
                </a:solidFill>
                <a:latin typeface="Noto Sans KR"/>
              </a:defRPr>
            </a:pPr>
            <a:r>
              <a:t>FinLLM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79" y="2075688"/>
            <a:ext cx="1691639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A4B5CA"/>
                </a:solidFill>
                <a:latin typeface="Noto Sans KR"/>
              </a:defRPr>
            </a:pPr>
            <a:r>
              <a:t>/health · /ready · /metrics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45736" y="1847088"/>
            <a:ext cx="2286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39D6C1"/>
                </a:solidFill>
                <a:latin typeface="Noto Sans KR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10912" y="1508760"/>
            <a:ext cx="1874519" cy="960120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39D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02351" y="1728216"/>
            <a:ext cx="1691639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5F8FC"/>
                </a:solidFill>
                <a:latin typeface="Noto Sans KR"/>
              </a:defRPr>
            </a:pPr>
            <a:r>
              <a:t>ACL Retriever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02351" y="2075688"/>
            <a:ext cx="1691639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A4B5CA"/>
                </a:solidFill>
                <a:latin typeface="Noto Sans KR"/>
              </a:defRPr>
            </a:pPr>
            <a:r>
              <a:t>filter before 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2007" y="1847088"/>
            <a:ext cx="2286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39D6C1"/>
                </a:solidFill>
                <a:latin typeface="Noto Sans KR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87183" y="1508760"/>
            <a:ext cx="1874519" cy="960120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39D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78623" y="1728216"/>
            <a:ext cx="1691639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5F8FC"/>
                </a:solidFill>
                <a:latin typeface="Noto Sans KR"/>
              </a:defRPr>
            </a:pPr>
            <a:r>
              <a:t>vLLM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78623" y="2075688"/>
            <a:ext cx="1691639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A4B5CA"/>
                </a:solidFill>
                <a:latin typeface="Noto Sans KR"/>
              </a:defRPr>
            </a:pPr>
            <a:r>
              <a:t>OpenAI-compatible API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1847088"/>
            <a:ext cx="2286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39D6C1"/>
                </a:solidFill>
                <a:latin typeface="Noto Sans KR"/>
              </a:defRPr>
            </a:pPr>
            <a: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63456" y="1508760"/>
            <a:ext cx="1874519" cy="960120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39D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54896" y="1728216"/>
            <a:ext cx="1691639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5F8FC"/>
                </a:solidFill>
                <a:latin typeface="Noto Sans KR"/>
              </a:defRPr>
            </a:pPr>
            <a:r>
              <a:t>RTX A6000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54896" y="2075688"/>
            <a:ext cx="1691639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A4B5CA"/>
                </a:solidFill>
                <a:latin typeface="Noto Sans KR"/>
              </a:defRPr>
            </a:pPr>
            <a:r>
              <a:t>single GPU · 48GiB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2862072"/>
            <a:ext cx="5349240" cy="1399032"/>
          </a:xfrm>
          <a:prstGeom prst="roundRect">
            <a:avLst/>
          </a:prstGeom>
          <a:solidFill>
            <a:srgbClr val="142B49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59" y="3035808"/>
            <a:ext cx="201168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F6BA57"/>
                </a:solidFill>
                <a:latin typeface="Noto Sans KR"/>
              </a:defRPr>
            </a:pPr>
            <a:r>
              <a:t>OBSERVE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59" y="3328416"/>
            <a:ext cx="4937760" cy="621792"/>
          </a:xfrm>
          <a:prstGeom prst="rect">
            <a:avLst/>
          </a:prstGeom>
          <a:noFill/>
        </p:spPr>
        <p:txBody>
          <a:bodyPr wrap="square" lIns="45720" rIns="18288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A4B5CA"/>
                </a:solidFill>
                <a:latin typeface="Noto Sans KR"/>
              </a:defRPr>
            </a:pPr>
            <a:r>
              <a:t>• Prometheus + Grafana</a:t>
            </a:r>
          </a:p>
          <a:p>
            <a:pPr>
              <a:spcAft>
                <a:spcPts val="400"/>
              </a:spcAft>
              <a:defRPr sz="900">
                <a:solidFill>
                  <a:srgbClr val="A4B5CA"/>
                </a:solidFill>
                <a:latin typeface="Noto Sans KR"/>
              </a:defRPr>
            </a:pPr>
            <a:r>
              <a:t>• DCGM GPU metrics</a:t>
            </a:r>
          </a:p>
          <a:p>
            <a:pPr>
              <a:spcAft>
                <a:spcPts val="400"/>
              </a:spcAft>
              <a:defRPr sz="900">
                <a:solidFill>
                  <a:srgbClr val="A4B5CA"/>
                </a:solidFill>
                <a:latin typeface="Noto Sans KR"/>
              </a:defRPr>
            </a:pPr>
            <a:r>
              <a:t>• 10 alert rules</a:t>
            </a:r>
          </a:p>
          <a:p>
            <a:pPr>
              <a:spcAft>
                <a:spcPts val="400"/>
              </a:spcAft>
              <a:defRPr sz="900">
                <a:solidFill>
                  <a:srgbClr val="A4B5CA"/>
                </a:solidFill>
                <a:latin typeface="Noto Sans KR"/>
              </a:defRPr>
            </a:pPr>
            <a:r>
              <a:t>• incident runbook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2200" y="2862072"/>
            <a:ext cx="5349240" cy="1399032"/>
          </a:xfrm>
          <a:prstGeom prst="roundRect">
            <a:avLst/>
          </a:prstGeom>
          <a:solidFill>
            <a:srgbClr val="142B49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36792" y="3035808"/>
            <a:ext cx="201168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F6BA57"/>
                </a:solidFill>
                <a:latin typeface="Noto Sans KR"/>
              </a:defRPr>
            </a:pPr>
            <a:r>
              <a:t>CHANGE SAFETY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6792" y="3328416"/>
            <a:ext cx="4937760" cy="621792"/>
          </a:xfrm>
          <a:prstGeom prst="rect">
            <a:avLst/>
          </a:prstGeom>
          <a:noFill/>
        </p:spPr>
        <p:txBody>
          <a:bodyPr wrap="square" lIns="45720" rIns="18288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A4B5CA"/>
                </a:solidFill>
                <a:latin typeface="Noto Sans KR"/>
              </a:defRPr>
            </a:pPr>
            <a:r>
              <a:t>• 153 tests</a:t>
            </a:r>
          </a:p>
          <a:p>
            <a:pPr>
              <a:spcAft>
                <a:spcPts val="400"/>
              </a:spcAft>
              <a:defRPr sz="900">
                <a:solidFill>
                  <a:srgbClr val="A4B5CA"/>
                </a:solidFill>
                <a:latin typeface="Noto Sans KR"/>
              </a:defRPr>
            </a:pPr>
            <a:r>
              <a:t>• 27 result records</a:t>
            </a:r>
          </a:p>
          <a:p>
            <a:pPr>
              <a:spcAft>
                <a:spcPts val="400"/>
              </a:spcAft>
              <a:defRPr sz="900">
                <a:solidFill>
                  <a:srgbClr val="A4B5CA"/>
                </a:solidFill>
                <a:latin typeface="Noto Sans KR"/>
              </a:defRPr>
            </a:pPr>
            <a:r>
              <a:t>• 11-stage gate</a:t>
            </a:r>
          </a:p>
          <a:p>
            <a:pPr>
              <a:spcAft>
                <a:spcPts val="400"/>
              </a:spcAft>
              <a:defRPr sz="900">
                <a:solidFill>
                  <a:srgbClr val="A4B5CA"/>
                </a:solidFill>
                <a:latin typeface="Noto Sans KR"/>
              </a:defRPr>
            </a:pPr>
            <a:r>
              <a:t>• immutable rollback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4754880"/>
            <a:ext cx="1033272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6EE7A8"/>
                </a:solidFill>
                <a:latin typeface="Noto Sans KR"/>
              </a:defRPr>
            </a:pPr>
            <a:r>
              <a:t>actual rehearsal: API · vLLM · DCGM · Prometheus targets 4/4 up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9D6C1"/>
          </a:solidFill>
          <a:ln w="12700">
            <a:solidFill>
              <a:srgbClr val="39D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978408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39D6C1"/>
                </a:solidFill>
                <a:latin typeface="Noto Sans KR"/>
              </a:defRPr>
            </a:pPr>
            <a:r>
              <a:t>04 · CODE OWNERSHIP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283464"/>
            <a:ext cx="5029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0"/>
              </a:spcAft>
              <a:defRPr sz="1600" b="1">
                <a:solidFill>
                  <a:srgbClr val="53708F"/>
                </a:solidFill>
                <a:latin typeface="Noto Sans KR"/>
              </a:defRPr>
            </a:pPr>
            <a: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0698480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F5F8FC"/>
                </a:solidFill>
                <a:latin typeface="Noto Sans KR"/>
              </a:defRPr>
            </a:pPr>
            <a:r>
              <a:t>폴더 구조가 곧 책임 경계와 검증 지점이다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18520" cy="10972"/>
          </a:xfrm>
          <a:prstGeom prst="rect">
            <a:avLst/>
          </a:prstGeom>
          <a:solidFill>
            <a:srgbClr val="2B456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6446520"/>
            <a:ext cx="11018520" cy="10972"/>
          </a:xfrm>
          <a:prstGeom prst="rect">
            <a:avLst/>
          </a:prstGeom>
          <a:solidFill>
            <a:srgbClr val="2B4565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510528"/>
            <a:ext cx="59436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20" b="0">
                <a:solidFill>
                  <a:srgbClr val="A4B5CA"/>
                </a:solidFill>
                <a:latin typeface="Noto Sans KR"/>
              </a:defRPr>
            </a:pPr>
            <a:r>
              <a:t>구현 주장보다 source path와 회귀 테스트를 먼저 제시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6510528"/>
            <a:ext cx="4983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0"/>
              </a:spcAft>
              <a:defRPr sz="720" b="0">
                <a:solidFill>
                  <a:srgbClr val="A4B5CA"/>
                </a:solidFill>
                <a:latin typeface="Noto Sans KR"/>
              </a:defRPr>
            </a:pPr>
            <a:r>
              <a:t>EVIDENCE · service/ · scripts/ · deploy/ · monitoring/ · ops/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444752"/>
            <a:ext cx="2631186" cy="1938528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1563624"/>
            <a:ext cx="2356866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39D6C1"/>
                </a:solidFill>
                <a:latin typeface="Noto Sans KR"/>
              </a:defRPr>
            </a:pPr>
            <a:r>
              <a:t>service/app.py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1801368"/>
            <a:ext cx="2356866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F5F8FC"/>
                </a:solidFill>
                <a:latin typeface="Noto Sans KR"/>
              </a:defRPr>
            </a:pPr>
            <a:r>
              <a:t>HTTP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2130552"/>
            <a:ext cx="2356866" cy="11338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30" b="0">
                <a:solidFill>
                  <a:srgbClr val="A4B5CA"/>
                </a:solidFill>
                <a:latin typeface="Noto Sans KR"/>
              </a:defRPr>
            </a:pPr>
            <a:r>
              <a:t>health · ready · metrics · RAG 요청/응답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08426" y="1444752"/>
            <a:ext cx="2631186" cy="1938528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45586" y="1563624"/>
            <a:ext cx="2356866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39D6C1"/>
                </a:solidFill>
                <a:latin typeface="Noto Sans KR"/>
              </a:defRPr>
            </a:pPr>
            <a:r>
              <a:t>service/runtime.py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5586" y="1801368"/>
            <a:ext cx="2356866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F5F8FC"/>
                </a:solidFill>
                <a:latin typeface="Noto Sans KR"/>
              </a:defRPr>
            </a:pPr>
            <a:r>
              <a:t>Runtime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5586" y="2130552"/>
            <a:ext cx="2356866" cy="11338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30" b="0">
                <a:solidFill>
                  <a:srgbClr val="A4B5CA"/>
                </a:solidFill>
                <a:latin typeface="Noto Sans KR"/>
              </a:defRPr>
            </a:pPr>
            <a:r>
              <a:t>startup validation · admission · failure latch · drain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444752"/>
            <a:ext cx="2631186" cy="1938528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5644" y="1563624"/>
            <a:ext cx="2356866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39D6C1"/>
                </a:solidFill>
                <a:latin typeface="Noto Sans KR"/>
              </a:defRPr>
            </a:pPr>
            <a:r>
              <a:t>service/inference.py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5644" y="1801368"/>
            <a:ext cx="2356866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F5F8FC"/>
                </a:solidFill>
                <a:latin typeface="Noto Sans KR"/>
              </a:defRPr>
            </a:pPr>
            <a:r>
              <a:t>Inference adapter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95644" y="2130552"/>
            <a:ext cx="2356866" cy="11338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30" b="0">
                <a:solidFill>
                  <a:srgbClr val="A4B5CA"/>
                </a:solidFill>
                <a:latin typeface="Noto Sans KR"/>
              </a:defRPr>
            </a:pPr>
            <a:r>
              <a:t>vLLM 호출 · streaming · model provenance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08542" y="1444752"/>
            <a:ext cx="2631186" cy="1938528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45702" y="1563624"/>
            <a:ext cx="2356866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39D6C1"/>
                </a:solidFill>
                <a:latin typeface="Noto Sans KR"/>
              </a:defRPr>
            </a:pPr>
            <a:r>
              <a:t>scripts/rag_eval.py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45702" y="1801368"/>
            <a:ext cx="2356866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F5F8FC"/>
                </a:solidFill>
                <a:latin typeface="Noto Sans KR"/>
              </a:defRPr>
            </a:pPr>
            <a:r>
              <a:t>Evaluation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45702" y="2130552"/>
            <a:ext cx="2356866" cy="11338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30" b="0">
                <a:solidFill>
                  <a:srgbClr val="A4B5CA"/>
                </a:solidFill>
                <a:latin typeface="Noto Sans KR"/>
              </a:defRPr>
            </a:pPr>
            <a:r>
              <a:t>60문항 deterministic scoring · ACL · injection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3502152"/>
            <a:ext cx="2631186" cy="1938528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" y="3621024"/>
            <a:ext cx="2356866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39D6C1"/>
                </a:solidFill>
                <a:latin typeface="Noto Sans KR"/>
              </a:defRPr>
            </a:pPr>
            <a:r>
              <a:t>scripts/regression_gate.py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8" y="3858768"/>
            <a:ext cx="2356866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F5F8FC"/>
                </a:solidFill>
                <a:latin typeface="Noto Sans KR"/>
              </a:defRPr>
            </a:pPr>
            <a:r>
              <a:t>Release gate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8" y="4187952"/>
            <a:ext cx="2356866" cy="11338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30" b="0">
                <a:solidFill>
                  <a:srgbClr val="A4B5CA"/>
                </a:solidFill>
                <a:latin typeface="Noto Sans KR"/>
              </a:defRPr>
            </a:pPr>
            <a:r>
              <a:t>CPU/GPU 11 stages · stale/skip/crash fail closed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08426" y="3502152"/>
            <a:ext cx="2631186" cy="1938528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45586" y="3621024"/>
            <a:ext cx="2356866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39D6C1"/>
                </a:solidFill>
                <a:latin typeface="Noto Sans KR"/>
              </a:defRPr>
            </a:pPr>
            <a:r>
              <a:t>deploy/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45586" y="3858768"/>
            <a:ext cx="2356866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F5F8FC"/>
                </a:solidFill>
                <a:latin typeface="Noto Sans KR"/>
              </a:defRPr>
            </a:pPr>
            <a:r>
              <a:t>Deployment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45586" y="4187952"/>
            <a:ext cx="2356866" cy="11338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30" b="0">
                <a:solidFill>
                  <a:srgbClr val="A4B5CA"/>
                </a:solidFill>
                <a:latin typeface="Noto Sans KR"/>
              </a:defRPr>
            </a:pPr>
            <a:r>
              <a:t>digest-pinned containers · Compose · validation scripts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58483" y="3502152"/>
            <a:ext cx="2631186" cy="1938528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95644" y="3621024"/>
            <a:ext cx="2356866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39D6C1"/>
                </a:solidFill>
                <a:latin typeface="Noto Sans KR"/>
              </a:defRPr>
            </a:pPr>
            <a:r>
              <a:t>monitoring/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5644" y="3858768"/>
            <a:ext cx="2356866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F5F8FC"/>
                </a:solidFill>
                <a:latin typeface="Noto Sans KR"/>
              </a:defRPr>
            </a:pPr>
            <a:r>
              <a:t>Observability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95644" y="4187952"/>
            <a:ext cx="2356866" cy="11338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30" b="0">
                <a:solidFill>
                  <a:srgbClr val="A4B5CA"/>
                </a:solidFill>
                <a:latin typeface="Noto Sans KR"/>
              </a:defRPr>
            </a:pPr>
            <a:r>
              <a:t>metrics contract · dashboard · PromQL alert rules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08542" y="3502152"/>
            <a:ext cx="2631186" cy="1938528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45702" y="3621024"/>
            <a:ext cx="2356866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39D6C1"/>
                </a:solidFill>
                <a:latin typeface="Noto Sans KR"/>
              </a:defRPr>
            </a:pPr>
            <a:r>
              <a:t>ops/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45702" y="3858768"/>
            <a:ext cx="2356866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F5F8FC"/>
                </a:solidFill>
                <a:latin typeface="Noto Sans KR"/>
              </a:defRPr>
            </a:pPr>
            <a:r>
              <a:t>Operations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45702" y="4187952"/>
            <a:ext cx="2356866" cy="11338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30" b="0">
                <a:solidFill>
                  <a:srgbClr val="A4B5CA"/>
                </a:solidFill>
                <a:latin typeface="Noto Sans KR"/>
              </a:defRPr>
            </a:pPr>
            <a:r>
              <a:t>release manifest · incidents · evidence · rollback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9D6C1"/>
          </a:solidFill>
          <a:ln w="12700">
            <a:solidFill>
              <a:srgbClr val="39D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978408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39D6C1"/>
                </a:solidFill>
                <a:latin typeface="Noto Sans KR"/>
              </a:defRPr>
            </a:pPr>
            <a:r>
              <a:t>05 · QUANTIZATION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283464"/>
            <a:ext cx="5029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0"/>
              </a:spcAft>
              <a:defRPr sz="1600" b="1">
                <a:solidFill>
                  <a:srgbClr val="53708F"/>
                </a:solidFill>
                <a:latin typeface="Noto Sans KR"/>
              </a:defRPr>
            </a:pPr>
            <a: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0698480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F5F8FC"/>
                </a:solidFill>
                <a:latin typeface="Noto Sans KR"/>
              </a:defRPr>
            </a:pPr>
            <a:r>
              <a:t>14B AWQ eager를 다음 native 검증 후보로 선택했다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18520" cy="10972"/>
          </a:xfrm>
          <a:prstGeom prst="rect">
            <a:avLst/>
          </a:prstGeom>
          <a:solidFill>
            <a:srgbClr val="2B456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6446520"/>
            <a:ext cx="11018520" cy="10972"/>
          </a:xfrm>
          <a:prstGeom prst="rect">
            <a:avLst/>
          </a:prstGeom>
          <a:solidFill>
            <a:srgbClr val="2B4565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510528"/>
            <a:ext cx="59436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20" b="0">
                <a:solidFill>
                  <a:srgbClr val="A4B5CA"/>
                </a:solidFill>
                <a:latin typeface="Noto Sans KR"/>
              </a:defRPr>
            </a:pPr>
            <a:r>
              <a:t>A6000 관측값을 RTX 4090/5090 실측으로 재표기하지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6510528"/>
            <a:ext cx="4983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0"/>
              </a:spcAft>
              <a:defRPr sz="720" b="0">
                <a:solidFill>
                  <a:srgbClr val="A4B5CA"/>
                </a:solidFill>
                <a:latin typeface="Noto Sans KR"/>
              </a:defRPr>
            </a:pPr>
            <a:r>
              <a:t>EVIDENCE · results/2026-08-08c-* · decisions/0004-profile-a-model-revised.md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481328"/>
          <a:ext cx="864108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05840"/>
                <a:gridCol w="1234440"/>
                <a:gridCol w="1234440"/>
                <a:gridCol w="960120"/>
                <a:gridCol w="1143000"/>
                <a:gridCol w="914400"/>
              </a:tblGrid>
              <a:tr h="628650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39D6C1"/>
                          </a:solidFill>
                          <a:latin typeface="Noto Sans KR"/>
                        </a:defRPr>
                      </a:pPr>
                      <a:r>
                        <a:t>구성</a:t>
                      </a:r>
                    </a:p>
                  </a:txBody>
                  <a:tcPr marL="45720" marR="45720" marT="36576" marB="36576">
                    <a:solidFill>
                      <a:srgbClr val="17395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9D6C1"/>
                          </a:solidFill>
                          <a:latin typeface="Noto Sans KR"/>
                        </a:defRPr>
                      </a:pPr>
                      <a:r>
                        <a:t>Quality</a:t>
                      </a:r>
                    </a:p>
                  </a:txBody>
                  <a:tcPr marL="45720" marR="45720" marT="36576" marB="36576">
                    <a:solidFill>
                      <a:srgbClr val="17395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9D6C1"/>
                          </a:solidFill>
                          <a:latin typeface="Noto Sans KR"/>
                        </a:defRPr>
                      </a:pPr>
                      <a:r>
                        <a:t>server P95</a:t>
                      </a:r>
                    </a:p>
                  </a:txBody>
                  <a:tcPr marL="45720" marR="45720" marT="36576" marB="36576">
                    <a:solidFill>
                      <a:srgbClr val="17395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9D6C1"/>
                          </a:solidFill>
                          <a:latin typeface="Noto Sans KR"/>
                        </a:defRPr>
                      </a:pPr>
                      <a:r>
                        <a:t>user P95</a:t>
                      </a:r>
                    </a:p>
                  </a:txBody>
                  <a:tcPr marL="45720" marR="45720" marT="36576" marB="36576">
                    <a:solidFill>
                      <a:srgbClr val="17395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9D6C1"/>
                          </a:solidFill>
                          <a:latin typeface="Noto Sans KR"/>
                        </a:defRPr>
                      </a:pPr>
                      <a:r>
                        <a:t>tok/s</a:t>
                      </a:r>
                    </a:p>
                  </a:txBody>
                  <a:tcPr marL="45720" marR="45720" marT="36576" marB="36576">
                    <a:solidFill>
                      <a:srgbClr val="17395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9D6C1"/>
                          </a:solidFill>
                          <a:latin typeface="Noto Sans KR"/>
                        </a:defRPr>
                      </a:pPr>
                      <a:r>
                        <a:t>Peak</a:t>
                      </a:r>
                    </a:p>
                  </a:txBody>
                  <a:tcPr marL="45720" marR="45720" marT="36576" marB="36576">
                    <a:solidFill>
                      <a:srgbClr val="17395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9D6C1"/>
                          </a:solidFill>
                          <a:latin typeface="Noto Sans KR"/>
                        </a:defRPr>
                      </a:pPr>
                      <a:r>
                        <a:t>@8192</a:t>
                      </a:r>
                    </a:p>
                  </a:txBody>
                  <a:tcPr marL="45720" marR="45720" marT="36576" marB="36576">
                    <a:solidFill>
                      <a:srgbClr val="17395B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F5F8FC"/>
                          </a:solidFill>
                          <a:latin typeface="Noto Sans KR"/>
                        </a:defRPr>
                      </a:pPr>
                      <a:r>
                        <a:t>8B BF16 · 0.50</a:t>
                      </a:r>
                    </a:p>
                  </a:txBody>
                  <a:tcPr marL="45720" marR="45720" marT="36576" marB="36576">
                    <a:solidFill>
                      <a:srgbClr val="10203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0">
                          <a:solidFill>
                            <a:srgbClr val="F5F8FC"/>
                          </a:solidFill>
                          <a:latin typeface="Noto Sans KR"/>
                        </a:defRPr>
                      </a:pPr>
                      <a:r>
                        <a:t>95.926</a:t>
                      </a:r>
                    </a:p>
                  </a:txBody>
                  <a:tcPr marL="45720" marR="45720" marT="36576" marB="36576">
                    <a:solidFill>
                      <a:srgbClr val="10203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0">
                          <a:solidFill>
                            <a:srgbClr val="F5F8FC"/>
                          </a:solidFill>
                          <a:latin typeface="Noto Sans KR"/>
                        </a:defRPr>
                      </a:pPr>
                      <a:r>
                        <a:t>77.329ms</a:t>
                      </a:r>
                    </a:p>
                  </a:txBody>
                  <a:tcPr marL="45720" marR="45720" marT="36576" marB="36576">
                    <a:solidFill>
                      <a:srgbClr val="10203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0">
                          <a:solidFill>
                            <a:srgbClr val="F5F8FC"/>
                          </a:solidFill>
                          <a:latin typeface="Noto Sans KR"/>
                        </a:defRPr>
                      </a:pPr>
                      <a:r>
                        <a:t>1,344.653ms</a:t>
                      </a:r>
                    </a:p>
                  </a:txBody>
                  <a:tcPr marL="45720" marR="45720" marT="36576" marB="36576">
                    <a:solidFill>
                      <a:srgbClr val="10203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0">
                          <a:solidFill>
                            <a:srgbClr val="F5F8FC"/>
                          </a:solidFill>
                          <a:latin typeface="Noto Sans KR"/>
                        </a:defRPr>
                      </a:pPr>
                      <a:r>
                        <a:t>286.955</a:t>
                      </a:r>
                    </a:p>
                  </a:txBody>
                  <a:tcPr marL="45720" marR="45720" marT="36576" marB="36576">
                    <a:solidFill>
                      <a:srgbClr val="10203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0">
                          <a:solidFill>
                            <a:srgbClr val="F5F8FC"/>
                          </a:solidFill>
                          <a:latin typeface="Noto Sans KR"/>
                        </a:defRPr>
                      </a:pPr>
                      <a:r>
                        <a:t>24.006GiB</a:t>
                      </a:r>
                    </a:p>
                  </a:txBody>
                  <a:tcPr marL="45720" marR="45720" marT="36576" marB="36576">
                    <a:solidFill>
                      <a:srgbClr val="10203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0">
                          <a:solidFill>
                            <a:srgbClr val="F5F8FC"/>
                          </a:solidFill>
                          <a:latin typeface="Noto Sans KR"/>
                        </a:defRPr>
                      </a:pPr>
                      <a:r>
                        <a:t>7.31</a:t>
                      </a:r>
                    </a:p>
                  </a:txBody>
                  <a:tcPr marL="45720" marR="45720" marT="36576" marB="36576">
                    <a:solidFill>
                      <a:srgbClr val="102038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F5F8FC"/>
                          </a:solidFill>
                          <a:latin typeface="Noto Sans KR"/>
                        </a:defRPr>
                      </a:pPr>
                      <a:r>
                        <a:t>14B AWQ · 0.50</a:t>
                      </a:r>
                    </a:p>
                  </a:txBody>
                  <a:tcPr marL="45720" marR="45720" marT="36576" marB="36576">
                    <a:solidFill>
                      <a:srgbClr val="10203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0">
                          <a:solidFill>
                            <a:srgbClr val="F5F8FC"/>
                          </a:solidFill>
                          <a:latin typeface="Noto Sans KR"/>
                        </a:defRPr>
                      </a:pPr>
                      <a:r>
                        <a:t>97.667</a:t>
                      </a:r>
                    </a:p>
                  </a:txBody>
                  <a:tcPr marL="45720" marR="45720" marT="36576" marB="36576">
                    <a:solidFill>
                      <a:srgbClr val="10203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0">
                          <a:solidFill>
                            <a:srgbClr val="F5F8FC"/>
                          </a:solidFill>
                          <a:latin typeface="Noto Sans KR"/>
                        </a:defRPr>
                      </a:pPr>
                      <a:r>
                        <a:t>129.828ms</a:t>
                      </a:r>
                    </a:p>
                  </a:txBody>
                  <a:tcPr marL="45720" marR="45720" marT="36576" marB="36576">
                    <a:solidFill>
                      <a:srgbClr val="10203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0">
                          <a:solidFill>
                            <a:srgbClr val="F5F8FC"/>
                          </a:solidFill>
                          <a:latin typeface="Noto Sans KR"/>
                        </a:defRPr>
                      </a:pPr>
                      <a:r>
                        <a:t>1,310.587ms</a:t>
                      </a:r>
                    </a:p>
                  </a:txBody>
                  <a:tcPr marL="45720" marR="45720" marT="36576" marB="36576">
                    <a:solidFill>
                      <a:srgbClr val="10203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0">
                          <a:solidFill>
                            <a:srgbClr val="F5F8FC"/>
                          </a:solidFill>
                          <a:latin typeface="Noto Sans KR"/>
                        </a:defRPr>
                      </a:pPr>
                      <a:r>
                        <a:t>313.238</a:t>
                      </a:r>
                    </a:p>
                  </a:txBody>
                  <a:tcPr marL="45720" marR="45720" marT="36576" marB="36576">
                    <a:solidFill>
                      <a:srgbClr val="10203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0">
                          <a:solidFill>
                            <a:srgbClr val="F5F8FC"/>
                          </a:solidFill>
                          <a:latin typeface="Noto Sans KR"/>
                        </a:defRPr>
                      </a:pPr>
                      <a:r>
                        <a:t>23.836GiB</a:t>
                      </a:r>
                    </a:p>
                  </a:txBody>
                  <a:tcPr marL="45720" marR="45720" marT="36576" marB="36576">
                    <a:solidFill>
                      <a:srgbClr val="10203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0">
                          <a:solidFill>
                            <a:srgbClr val="F5F8FC"/>
                          </a:solidFill>
                          <a:latin typeface="Noto Sans KR"/>
                        </a:defRPr>
                      </a:pPr>
                      <a:r>
                        <a:t>11.05</a:t>
                      </a:r>
                    </a:p>
                  </a:txBody>
                  <a:tcPr marL="45720" marR="45720" marT="36576" marB="36576">
                    <a:solidFill>
                      <a:srgbClr val="102038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F5F8FC"/>
                          </a:solidFill>
                          <a:latin typeface="Noto Sans KR"/>
                        </a:defRPr>
                      </a:pPr>
                      <a:r>
                        <a:t>14B AWQ · 0.46</a:t>
                      </a:r>
                    </a:p>
                  </a:txBody>
                  <a:tcPr marL="45720" marR="45720" marT="36576" marB="36576">
                    <a:solidFill>
                      <a:srgbClr val="14413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F5F8FC"/>
                          </a:solidFill>
                          <a:latin typeface="Noto Sans KR"/>
                        </a:defRPr>
                      </a:pPr>
                      <a:r>
                        <a:t>97.667</a:t>
                      </a:r>
                    </a:p>
                  </a:txBody>
                  <a:tcPr marL="45720" marR="45720" marT="36576" marB="36576">
                    <a:solidFill>
                      <a:srgbClr val="14413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F5F8FC"/>
                          </a:solidFill>
                          <a:latin typeface="Noto Sans KR"/>
                        </a:defRPr>
                      </a:pPr>
                      <a:r>
                        <a:t>129.995ms</a:t>
                      </a:r>
                    </a:p>
                  </a:txBody>
                  <a:tcPr marL="45720" marR="45720" marT="36576" marB="36576">
                    <a:solidFill>
                      <a:srgbClr val="14413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F5F8FC"/>
                          </a:solidFill>
                          <a:latin typeface="Noto Sans KR"/>
                        </a:defRPr>
                      </a:pPr>
                      <a:r>
                        <a:t>1,273.402ms</a:t>
                      </a:r>
                    </a:p>
                  </a:txBody>
                  <a:tcPr marL="45720" marR="45720" marT="36576" marB="36576">
                    <a:solidFill>
                      <a:srgbClr val="14413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F5F8FC"/>
                          </a:solidFill>
                          <a:latin typeface="Noto Sans KR"/>
                        </a:defRPr>
                      </a:pPr>
                      <a:r>
                        <a:t>315.331</a:t>
                      </a:r>
                    </a:p>
                  </a:txBody>
                  <a:tcPr marL="45720" marR="45720" marT="36576" marB="36576">
                    <a:solidFill>
                      <a:srgbClr val="14413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F5F8FC"/>
                          </a:solidFill>
                          <a:latin typeface="Noto Sans KR"/>
                        </a:defRPr>
                      </a:pPr>
                      <a:r>
                        <a:t>21.961GiB</a:t>
                      </a:r>
                    </a:p>
                  </a:txBody>
                  <a:tcPr marL="45720" marR="45720" marT="36576" marB="36576">
                    <a:solidFill>
                      <a:srgbClr val="14413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F5F8FC"/>
                          </a:solidFill>
                          <a:latin typeface="Noto Sans KR"/>
                        </a:defRPr>
                      </a:pPr>
                      <a:r>
                        <a:t>9.53</a:t>
                      </a:r>
                    </a:p>
                  </a:txBody>
                  <a:tcPr marL="45720" marR="45720" marT="36576" marB="36576">
                    <a:solidFill>
                      <a:srgbClr val="14413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13232" y="4187952"/>
            <a:ext cx="1069848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A4B5CA"/>
                </a:solidFill>
                <a:latin typeface="Noto Sans KR"/>
              </a:defRPr>
            </a:pPr>
            <a:r>
              <a:t>RTX A6000 · memory-budget-emulation · concurrency 10 · 30 requests · n=3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590288"/>
            <a:ext cx="10881360" cy="777240"/>
          </a:xfrm>
          <a:prstGeom prst="roundRect">
            <a:avLst/>
          </a:prstGeom>
          <a:solidFill>
            <a:srgbClr val="15324B"/>
          </a:solidFill>
          <a:ln w="12700">
            <a:solidFill>
              <a:srgbClr val="F6B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773168"/>
            <a:ext cx="1042416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F5F8FC"/>
                </a:solidFill>
                <a:latin typeface="Noto Sans KR"/>
              </a:defRPr>
            </a:pPr>
            <a:r>
              <a:t>같은 host/workload에서 14B AWQ가 quality와 memory observation에 유리했다. 실제 24GB native fit은 NOT_EXECUTED.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9D6C1"/>
          </a:solidFill>
          <a:ln w="12700">
            <a:solidFill>
              <a:srgbClr val="39D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978408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39D6C1"/>
                </a:solidFill>
                <a:latin typeface="Noto Sans KR"/>
              </a:defRPr>
            </a:pPr>
            <a:r>
              <a:t>06 · DEBUGGING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283464"/>
            <a:ext cx="5029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0"/>
              </a:spcAft>
              <a:defRPr sz="1600" b="1">
                <a:solidFill>
                  <a:srgbClr val="53708F"/>
                </a:solidFill>
                <a:latin typeface="Noto Sans KR"/>
              </a:defRPr>
            </a:pPr>
            <a: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0698480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F5F8FC"/>
                </a:solidFill>
                <a:latin typeface="Noto Sans KR"/>
              </a:defRPr>
            </a:pPr>
            <a:r>
              <a:t>“AWQ라서 느리다”는 초기 해석을 통제 실험으로 수정했다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18520" cy="10972"/>
          </a:xfrm>
          <a:prstGeom prst="rect">
            <a:avLst/>
          </a:prstGeom>
          <a:solidFill>
            <a:srgbClr val="2B456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6446520"/>
            <a:ext cx="11018520" cy="10972"/>
          </a:xfrm>
          <a:prstGeom prst="rect">
            <a:avLst/>
          </a:prstGeom>
          <a:solidFill>
            <a:srgbClr val="2B4565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510528"/>
            <a:ext cx="59436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20" b="0">
                <a:solidFill>
                  <a:srgbClr val="A4B5CA"/>
                </a:solidFill>
                <a:latin typeface="Noto Sans KR"/>
              </a:defRPr>
            </a:pPr>
            <a:r>
              <a:t>Unexpected result → controlled experiment → bounded conclusion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6510528"/>
            <a:ext cx="4983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0"/>
              </a:spcAft>
              <a:defRPr sz="720" b="0">
                <a:solidFill>
                  <a:srgbClr val="A4B5CA"/>
                </a:solidFill>
                <a:latin typeface="Noto Sans KR"/>
              </a:defRPr>
            </a:pPr>
            <a:r>
              <a:t>EVIDENCE · decisions/0004-profile-a-model-revised.md · results/2026-08-08b/08c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481328"/>
            <a:ext cx="2423160" cy="1856231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1627632"/>
            <a:ext cx="21488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39D6C1"/>
                </a:solidFill>
                <a:latin typeface="Noto Sans KR"/>
              </a:defRPr>
            </a:pPr>
            <a:r>
              <a:t>OBSERVE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1920240"/>
            <a:ext cx="214884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F5F8FC"/>
                </a:solidFill>
                <a:latin typeface="Noto Sans KR"/>
              </a:defRPr>
            </a:pPr>
            <a:r>
              <a:t>graph-enabled AWQ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2331720"/>
            <a:ext cx="214884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F6BA57"/>
                </a:solidFill>
                <a:latin typeface="Noto Sans KR"/>
              </a:defRPr>
            </a:pPr>
            <a:r>
              <a:t>≈57.2 tok/s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2788920"/>
            <a:ext cx="214884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A4B5CA"/>
                </a:solidFill>
                <a:latin typeface="Noto Sans KR"/>
              </a:defRPr>
            </a:pPr>
            <a:r>
              <a:t>8B BF16보다 크게 느림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91256" y="2194560"/>
            <a:ext cx="2286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39D6C1"/>
                </a:solidFill>
                <a:latin typeface="Noto Sans KR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481328"/>
            <a:ext cx="2423160" cy="1856231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0" y="1627632"/>
            <a:ext cx="21488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39D6C1"/>
                </a:solidFill>
                <a:latin typeface="Noto Sans KR"/>
              </a:defRPr>
            </a:pPr>
            <a:r>
              <a:t>HYPOTHESIS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1920240"/>
            <a:ext cx="214884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F5F8FC"/>
                </a:solidFill>
                <a:latin typeface="Noto Sans KR"/>
              </a:defRPr>
            </a:pPr>
            <a:r>
              <a:t>초기 의심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14884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F6BA57"/>
                </a:solidFill>
                <a:latin typeface="Noto Sans KR"/>
              </a:defRPr>
            </a:pPr>
            <a:r>
              <a:t>dequant?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788920"/>
            <a:ext cx="214884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A4B5CA"/>
                </a:solidFill>
                <a:latin typeface="Noto Sans KR"/>
              </a:defRPr>
            </a:pPr>
            <a:r>
              <a:t>weight format을 원인으로 판단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1888" y="2194560"/>
            <a:ext cx="2286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39D6C1"/>
                </a:solidFill>
                <a:latin typeface="Noto Sans KR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1" y="1481328"/>
            <a:ext cx="2423160" cy="1856231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36792" y="1627632"/>
            <a:ext cx="21488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39D6C1"/>
                </a:solidFill>
                <a:latin typeface="Noto Sans KR"/>
              </a:defRPr>
            </a:pPr>
            <a: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36792" y="1920240"/>
            <a:ext cx="214884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F5F8FC"/>
                </a:solidFill>
                <a:latin typeface="Noto Sans KR"/>
              </a:defRPr>
            </a:pPr>
            <a:r>
              <a:t>변수 하나 변경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6792" y="2331720"/>
            <a:ext cx="214884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F6BA57"/>
                </a:solidFill>
                <a:latin typeface="Noto Sans KR"/>
              </a:defRPr>
            </a:pPr>
            <a:r>
              <a:t>--enforce-eager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36792" y="2788920"/>
            <a:ext cx="214884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A4B5CA"/>
                </a:solidFill>
                <a:latin typeface="Noto Sans KR"/>
              </a:defRPr>
            </a:pPr>
            <a:r>
              <a:t>model · revision · eval 고정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2519" y="2194560"/>
            <a:ext cx="2286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39D6C1"/>
                </a:solidFill>
                <a:latin typeface="Noto Sans KR"/>
              </a:defRPr>
            </a:pPr>
            <a: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70264" y="1481328"/>
            <a:ext cx="2423160" cy="1856231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07424" y="1627632"/>
            <a:ext cx="21488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39D6C1"/>
                </a:solidFill>
                <a:latin typeface="Noto Sans KR"/>
              </a:defRPr>
            </a:pPr>
            <a:r>
              <a:t>EVIDENCE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7424" y="1920240"/>
            <a:ext cx="214884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F5F8FC"/>
                </a:solidFill>
                <a:latin typeface="Noto Sans KR"/>
              </a:defRPr>
            </a:pPr>
            <a:r>
              <a:t>eager AWQ · n=3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07424" y="2331720"/>
            <a:ext cx="214884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F6BA57"/>
                </a:solidFill>
                <a:latin typeface="Noto Sans KR"/>
              </a:defRPr>
            </a:pPr>
            <a:r>
              <a:t>313.238 tok/s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07424" y="2788920"/>
            <a:ext cx="214884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A4B5CA"/>
                </a:solidFill>
                <a:latin typeface="Noto Sans KR"/>
              </a:defRPr>
            </a:pPr>
            <a:r>
              <a:t>저성능 현상 소멸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3639312"/>
            <a:ext cx="10881360" cy="777240"/>
          </a:xfrm>
          <a:prstGeom prst="roundRect">
            <a:avLst/>
          </a:prstGeom>
          <a:solidFill>
            <a:srgbClr val="15324B"/>
          </a:solidFill>
          <a:ln w="12700">
            <a:solidFill>
              <a:srgbClr val="F6B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3822191"/>
            <a:ext cx="1042416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F5F8FC"/>
                </a:solidFill>
                <a:latin typeface="Noto Sans KR"/>
              </a:defRPr>
            </a:pPr>
            <a:r>
              <a:t>수정된 결론: 저성능은 이 환경의 graph-enabled path와 함께 나타났다. 정확한 kernel root cause는 NOT_MEASURED.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4773168"/>
            <a:ext cx="1033272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F6BA57"/>
                </a:solidFill>
                <a:latin typeface="Noto Sans KR"/>
              </a:defRPr>
            </a:pPr>
            <a:r>
              <a:t>예상과 다른 결과를 설명으로 덮지 않고, 반증 가능한 변수로 다시 측정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9D6C1"/>
          </a:solidFill>
          <a:ln w="12700">
            <a:solidFill>
              <a:srgbClr val="39D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978408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39D6C1"/>
                </a:solidFill>
                <a:latin typeface="Noto Sans KR"/>
              </a:defRPr>
            </a:pPr>
            <a:r>
              <a:t>07 · SERVICE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283464"/>
            <a:ext cx="5029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0"/>
              </a:spcAft>
              <a:defRPr sz="1600" b="1">
                <a:solidFill>
                  <a:srgbClr val="53708F"/>
                </a:solidFill>
                <a:latin typeface="Noto Sans KR"/>
              </a:defRPr>
            </a:pPr>
            <a: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0698480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F5F8FC"/>
                </a:solidFill>
                <a:latin typeface="Noto Sans KR"/>
              </a:defRPr>
            </a:pPr>
            <a:r>
              <a:t>정상 경로보다 실패 경로를 먼저 계약했다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18520" cy="10972"/>
          </a:xfrm>
          <a:prstGeom prst="rect">
            <a:avLst/>
          </a:prstGeom>
          <a:solidFill>
            <a:srgbClr val="2B456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6446520"/>
            <a:ext cx="11018520" cy="10972"/>
          </a:xfrm>
          <a:prstGeom prst="rect">
            <a:avLst/>
          </a:prstGeom>
          <a:solidFill>
            <a:srgbClr val="2B4565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510528"/>
            <a:ext cx="59436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20" b="0">
                <a:solidFill>
                  <a:srgbClr val="A4B5CA"/>
                </a:solidFill>
                <a:latin typeface="Noto Sans KR"/>
              </a:defRPr>
            </a:pPr>
            <a:r>
              <a:t>API contract와 negative-path 테스트를 같은 변경에 포함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6510528"/>
            <a:ext cx="4983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0"/>
              </a:spcAft>
              <a:defRPr sz="720" b="0">
                <a:solidFill>
                  <a:srgbClr val="A4B5CA"/>
                </a:solidFill>
                <a:latin typeface="Noto Sans KR"/>
              </a:defRPr>
            </a:pPr>
            <a:r>
              <a:t>EVIDENCE · tests/test_service_*.py · tests/test_regression_gate.py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508760"/>
            <a:ext cx="10607040" cy="1051560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39D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1755648"/>
            <a:ext cx="10058400" cy="5943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F5F8FC"/>
                </a:solidFill>
                <a:latin typeface="Noto Sans KR"/>
              </a:defRPr>
            </a:pPr>
            <a:r>
              <a:t>서비스가 살아 있다는 것과 요청을 받아도 된다는 것은 다른 상태다.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816352"/>
            <a:ext cx="3410712" cy="758952"/>
          </a:xfrm>
          <a:prstGeom prst="roundRect">
            <a:avLst/>
          </a:prstGeom>
          <a:solidFill>
            <a:srgbClr val="142B49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926080"/>
            <a:ext cx="313639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39D6C1"/>
                </a:solidFill>
                <a:latin typeface="Noto Sans KR"/>
              </a:defRPr>
            </a:pPr>
            <a:r>
              <a:t>/health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182112"/>
            <a:ext cx="3136392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A4B5CA"/>
                </a:solidFill>
                <a:latin typeface="Noto Sans KR"/>
              </a:defRPr>
            </a:pPr>
            <a:r>
              <a:t>API process liveness만 반환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2816352"/>
            <a:ext cx="3410712" cy="758952"/>
          </a:xfrm>
          <a:prstGeom prst="roundRect">
            <a:avLst/>
          </a:prstGeom>
          <a:solidFill>
            <a:srgbClr val="142B49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7136" y="2926080"/>
            <a:ext cx="313639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39D6C1"/>
                </a:solidFill>
                <a:latin typeface="Noto Sans KR"/>
              </a:defRPr>
            </a:pPr>
            <a:r>
              <a:t>/ready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7136" y="3182112"/>
            <a:ext cx="3136392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A4B5CA"/>
                </a:solidFill>
                <a:latin typeface="Noto Sans KR"/>
              </a:defRPr>
            </a:pPr>
            <a:r>
              <a:t>retriever · inference · model · admission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64424" y="2816352"/>
            <a:ext cx="3410712" cy="758952"/>
          </a:xfrm>
          <a:prstGeom prst="roundRect">
            <a:avLst/>
          </a:prstGeom>
          <a:solidFill>
            <a:srgbClr val="142B49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10728" y="2926080"/>
            <a:ext cx="313639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39D6C1"/>
                </a:solidFill>
                <a:latin typeface="Noto Sans KR"/>
              </a:defRPr>
            </a:pPr>
            <a:r>
              <a:t>Startup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0728" y="3182112"/>
            <a:ext cx="3136392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A4B5CA"/>
                </a:solidFill>
                <a:latin typeface="Noto Sans KR"/>
              </a:defRPr>
            </a:pPr>
            <a:r>
              <a:t>revision/config 불일치 시 exit 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749039"/>
            <a:ext cx="3410712" cy="758952"/>
          </a:xfrm>
          <a:prstGeom prst="roundRect">
            <a:avLst/>
          </a:prstGeom>
          <a:solidFill>
            <a:srgbClr val="142B49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3858768"/>
            <a:ext cx="313639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39D6C1"/>
                </a:solidFill>
                <a:latin typeface="Noto Sans KR"/>
              </a:defRPr>
            </a:pPr>
            <a:r>
              <a:t>Drain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" y="4114800"/>
            <a:ext cx="3136392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A4B5CA"/>
                </a:solidFill>
                <a:latin typeface="Noto Sans KR"/>
              </a:defRPr>
            </a:pPr>
            <a:r>
              <a:t>새 요청 503 · accepted body는 완료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70832" y="3749039"/>
            <a:ext cx="3410712" cy="758952"/>
          </a:xfrm>
          <a:prstGeom prst="roundRect">
            <a:avLst/>
          </a:prstGeom>
          <a:solidFill>
            <a:srgbClr val="142B49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7136" y="3858768"/>
            <a:ext cx="313639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39D6C1"/>
                </a:solidFill>
                <a:latin typeface="Noto Sans KR"/>
              </a:defRPr>
            </a:pPr>
            <a:r>
              <a:t>Failure latch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17136" y="4114800"/>
            <a:ext cx="3136392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A4B5CA"/>
                </a:solidFill>
                <a:latin typeface="Noto Sans KR"/>
              </a:defRPr>
            </a:pPr>
            <a:r>
              <a:t>generation 실패 후 readiness 차단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64424" y="3749039"/>
            <a:ext cx="3410712" cy="758952"/>
          </a:xfrm>
          <a:prstGeom prst="roundRect">
            <a:avLst/>
          </a:prstGeom>
          <a:solidFill>
            <a:srgbClr val="142B49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10728" y="3858768"/>
            <a:ext cx="313639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39D6C1"/>
                </a:solidFill>
                <a:latin typeface="Noto Sans KR"/>
              </a:defRPr>
            </a:pPr>
            <a:r>
              <a:t>No fallback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10728" y="4114800"/>
            <a:ext cx="3136392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A4B5CA"/>
                </a:solidFill>
                <a:latin typeface="Noto Sans KR"/>
              </a:defRPr>
            </a:pPr>
            <a:r>
              <a:t>silent model/prompt fallback 금지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983480"/>
            <a:ext cx="1033272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F6BA57"/>
                </a:solidFill>
                <a:latin typeface="Noto Sans KR"/>
              </a:defRPr>
            </a:pPr>
            <a:r>
              <a:t>failure · stale output · skipped stage · restart mismatch를 모두 non-zero로 차단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9D6C1"/>
          </a:solidFill>
          <a:ln w="12700">
            <a:solidFill>
              <a:srgbClr val="39D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978408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39D6C1"/>
                </a:solidFill>
                <a:latin typeface="Noto Sans KR"/>
              </a:defRPr>
            </a:pPr>
            <a:r>
              <a:t>08 · INCIDENT &amp; ROLLBACK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283464"/>
            <a:ext cx="5029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0"/>
              </a:spcAft>
              <a:defRPr sz="1600" b="1">
                <a:solidFill>
                  <a:srgbClr val="53708F"/>
                </a:solidFill>
                <a:latin typeface="Noto Sans KR"/>
              </a:defRPr>
            </a:pPr>
            <a: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0698480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F5F8FC"/>
                </a:solidFill>
                <a:latin typeface="Noto Sans KR"/>
              </a:defRPr>
            </a:pPr>
            <a:r>
              <a:t>API 중단을 탐지하고 immutable image로 복구했다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18520" cy="10972"/>
          </a:xfrm>
          <a:prstGeom prst="rect">
            <a:avLst/>
          </a:prstGeom>
          <a:solidFill>
            <a:srgbClr val="2B456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6446520"/>
            <a:ext cx="11018520" cy="10972"/>
          </a:xfrm>
          <a:prstGeom prst="rect">
            <a:avLst/>
          </a:prstGeom>
          <a:solidFill>
            <a:srgbClr val="2B4565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510528"/>
            <a:ext cx="59436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20" b="0">
                <a:solidFill>
                  <a:srgbClr val="A4B5CA"/>
                </a:solidFill>
                <a:latin typeface="Noto Sans KR"/>
              </a:defRPr>
            </a:pPr>
            <a:r>
              <a:t>INC-003 · intentional experiment · actual RTX A6000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6510528"/>
            <a:ext cx="4983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0"/>
              </a:spcAft>
              <a:defRPr sz="720" b="0">
                <a:solidFill>
                  <a:srgbClr val="A4B5CA"/>
                </a:solidFill>
                <a:latin typeface="Noto Sans KR"/>
              </a:defRPr>
            </a:pPr>
            <a:r>
              <a:t>EVIDENCE · ops/incidents/INC-003-api-outage-container-rollback.md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444752"/>
            <a:ext cx="1682496" cy="2057400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444752"/>
            <a:ext cx="1682496" cy="36576"/>
          </a:xfrm>
          <a:prstGeom prst="rect">
            <a:avLst/>
          </a:prstGeom>
          <a:solidFill>
            <a:srgbClr val="39D6C1"/>
          </a:solidFill>
          <a:ln w="12700">
            <a:solidFill>
              <a:srgbClr val="39D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627632"/>
            <a:ext cx="14630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39D6C1"/>
                </a:solidFill>
                <a:latin typeface="Noto Sans KR"/>
              </a:defRPr>
            </a:pPr>
            <a:r>
              <a:t>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1938528"/>
            <a:ext cx="146304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F8FC"/>
                </a:solidFill>
                <a:latin typeface="Noto Sans KR"/>
              </a:defRPr>
            </a:pPr>
            <a:r>
              <a:t>4 targets 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423160"/>
            <a:ext cx="146304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6BA57"/>
                </a:solidFill>
                <a:latin typeface="Noto Sans KR"/>
              </a:defRPr>
            </a:pPr>
            <a:r>
              <a:t>ready=200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2898648"/>
            <a:ext cx="146304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50" b="0">
                <a:solidFill>
                  <a:srgbClr val="A4B5CA"/>
                </a:solidFill>
                <a:latin typeface="Noto Sans KR"/>
              </a:defRPr>
            </a:pPr>
            <a:r>
              <a:t>API · vLLM · DCGM · Prometheus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68880" y="1444752"/>
            <a:ext cx="1682496" cy="2057400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468880" y="1444752"/>
            <a:ext cx="1682496" cy="36576"/>
          </a:xfrm>
          <a:prstGeom prst="rect">
            <a:avLst/>
          </a:prstGeom>
          <a:solidFill>
            <a:srgbClr val="39D6C1"/>
          </a:solidFill>
          <a:ln w="12700">
            <a:solidFill>
              <a:srgbClr val="39D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78608" y="1627632"/>
            <a:ext cx="14630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39D6C1"/>
                </a:solidFill>
                <a:latin typeface="Noto Sans KR"/>
              </a:defRPr>
            </a:pPr>
            <a:r>
              <a:t>DRAIN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78608" y="1938528"/>
            <a:ext cx="146304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F8FC"/>
                </a:solidFill>
                <a:latin typeface="Noto Sans KR"/>
              </a:defRPr>
            </a:pPr>
            <a:r>
              <a:t>SIGTERM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78608" y="2423160"/>
            <a:ext cx="146304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6BA57"/>
                </a:solidFill>
                <a:latin typeface="Noto Sans KR"/>
              </a:defRPr>
            </a:pPr>
            <a:r>
              <a:t>20 / 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78608" y="2898648"/>
            <a:ext cx="146304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50" b="0">
                <a:solidFill>
                  <a:srgbClr val="A4B5CA"/>
                </a:solidFill>
                <a:latin typeface="Noto Sans KR"/>
              </a:defRPr>
            </a:pPr>
            <a:r>
              <a:t>in-flight response body 완주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9392" y="1444752"/>
            <a:ext cx="1682496" cy="2057400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79392" y="1444752"/>
            <a:ext cx="1682496" cy="36576"/>
          </a:xfrm>
          <a:prstGeom prst="rect">
            <a:avLst/>
          </a:prstGeom>
          <a:solidFill>
            <a:srgbClr val="39D6C1"/>
          </a:solidFill>
          <a:ln w="12700">
            <a:solidFill>
              <a:srgbClr val="39D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1627632"/>
            <a:ext cx="14630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39D6C1"/>
                </a:solidFill>
                <a:latin typeface="Noto Sans KR"/>
              </a:defRPr>
            </a:pPr>
            <a:r>
              <a:t>ALERT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1938528"/>
            <a:ext cx="146304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F8FC"/>
                </a:solidFill>
                <a:latin typeface="Noto Sans KR"/>
              </a:defRPr>
            </a:pPr>
            <a:r>
              <a:t>GatewayDown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2423160"/>
            <a:ext cx="146304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6BA57"/>
                </a:solidFill>
                <a:latin typeface="Noto Sans KR"/>
              </a:defRPr>
            </a:pPr>
            <a:r>
              <a:t>43.765s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2898648"/>
            <a:ext cx="146304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50" b="0">
                <a:solidFill>
                  <a:srgbClr val="A4B5CA"/>
                </a:solidFill>
                <a:latin typeface="Noto Sans KR"/>
              </a:defRPr>
            </a:pPr>
            <a:r>
              <a:t>Prometheus state=firing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89903" y="1444752"/>
            <a:ext cx="1682496" cy="2057400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89903" y="1444752"/>
            <a:ext cx="1682496" cy="36576"/>
          </a:xfrm>
          <a:prstGeom prst="rect">
            <a:avLst/>
          </a:prstGeom>
          <a:solidFill>
            <a:srgbClr val="39D6C1"/>
          </a:solidFill>
          <a:ln w="12700">
            <a:solidFill>
              <a:srgbClr val="39D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99631" y="1627632"/>
            <a:ext cx="14630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39D6C1"/>
                </a:solidFill>
                <a:latin typeface="Noto Sans KR"/>
              </a:defRPr>
            </a:pPr>
            <a:r>
              <a:t>FAIL CLOSED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9631" y="1938528"/>
            <a:ext cx="146304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F8FC"/>
                </a:solidFill>
                <a:latin typeface="Noto Sans KR"/>
              </a:defRPr>
            </a:pPr>
            <a:r>
              <a:t>SHA mismatch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99631" y="2423160"/>
            <a:ext cx="146304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6BA57"/>
                </a:solidFill>
                <a:latin typeface="Noto Sans KR"/>
              </a:defRPr>
            </a:pPr>
            <a:r>
              <a:t>state 유지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99631" y="2898648"/>
            <a:ext cx="146304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50" b="0">
                <a:solidFill>
                  <a:srgbClr val="A4B5CA"/>
                </a:solidFill>
                <a:latin typeface="Noto Sans KR"/>
              </a:defRPr>
            </a:pPr>
            <a:r>
              <a:t>잘못된 rollback 차단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00416" y="1444752"/>
            <a:ext cx="1682496" cy="2057400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00416" y="1444752"/>
            <a:ext cx="1682496" cy="36576"/>
          </a:xfrm>
          <a:prstGeom prst="rect">
            <a:avLst/>
          </a:prstGeom>
          <a:solidFill>
            <a:srgbClr val="39D6C1"/>
          </a:solidFill>
          <a:ln w="12700">
            <a:solidFill>
              <a:srgbClr val="39D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10144" y="1627632"/>
            <a:ext cx="14630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39D6C1"/>
                </a:solidFill>
                <a:latin typeface="Noto Sans KR"/>
              </a:defRPr>
            </a:pPr>
            <a:r>
              <a:t>ROLLBACK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4" y="1938528"/>
            <a:ext cx="146304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F8FC"/>
                </a:solidFill>
                <a:latin typeface="Noto Sans KR"/>
              </a:defRPr>
            </a:pPr>
            <a:r>
              <a:t>known-good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0144" y="2423160"/>
            <a:ext cx="146304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6BA57"/>
                </a:solidFill>
                <a:latin typeface="Noto Sans KR"/>
              </a:defRPr>
            </a:pPr>
            <a:r>
              <a:t>6.332s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10144" y="2898648"/>
            <a:ext cx="146304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50" b="0">
                <a:solidFill>
                  <a:srgbClr val="A4B5CA"/>
                </a:solidFill>
                <a:latin typeface="Noto Sans KR"/>
              </a:defRPr>
            </a:pPr>
            <a:r>
              <a:t>digest restart + verify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710928" y="1444752"/>
            <a:ext cx="1682496" cy="2057400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710928" y="1444752"/>
            <a:ext cx="1682496" cy="36576"/>
          </a:xfrm>
          <a:prstGeom prst="rect">
            <a:avLst/>
          </a:prstGeom>
          <a:solidFill>
            <a:srgbClr val="39D6C1"/>
          </a:solidFill>
          <a:ln w="12700">
            <a:solidFill>
              <a:srgbClr val="39D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820656" y="1627632"/>
            <a:ext cx="14630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39D6C1"/>
                </a:solidFill>
                <a:latin typeface="Noto Sans KR"/>
              </a:defRPr>
            </a:pPr>
            <a:r>
              <a:t>RECOVER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20656" y="1938528"/>
            <a:ext cx="146304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F8FC"/>
                </a:solidFill>
                <a:latin typeface="Noto Sans KR"/>
              </a:defRPr>
            </a:pPr>
            <a:r>
              <a:t>ready + build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20656" y="2423160"/>
            <a:ext cx="146304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6BA57"/>
                </a:solidFill>
                <a:latin typeface="Noto Sans KR"/>
              </a:defRPr>
            </a:pPr>
            <a:r>
              <a:t>VERIFY OK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20656" y="2898648"/>
            <a:ext cx="146304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50" b="0">
                <a:solidFill>
                  <a:srgbClr val="A4B5CA"/>
                </a:solidFill>
                <a:latin typeface="Noto Sans KR"/>
              </a:defRPr>
            </a:pPr>
            <a:r>
              <a:t>active alert 없음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8368" y="3840480"/>
            <a:ext cx="10881360" cy="621792"/>
          </a:xfrm>
          <a:prstGeom prst="roundRect">
            <a:avLst/>
          </a:prstGeom>
          <a:solidFill>
            <a:srgbClr val="15324B"/>
          </a:solidFill>
          <a:ln w="12700">
            <a:solidFill>
              <a:srgbClr val="F6B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8680" y="3995928"/>
            <a:ext cx="104241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F5F8FC"/>
                </a:solidFill>
                <a:latin typeface="Noto Sans KR"/>
              </a:defRPr>
            </a:pPr>
            <a:r>
              <a:t>graceful drain, symptom alert, immutable provenance, readiness verification을 한 incident에서 연결했다.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4709160"/>
            <a:ext cx="10698480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  <a:defRPr sz="850" b="0">
                <a:solidFill>
                  <a:srgbClr val="A4B5CA"/>
                </a:solidFill>
                <a:latin typeface="Noto Sans KR"/>
              </a:defRPr>
            </a:pPr>
            <a:r>
              <a:t>의도적 loopback 실험이며 실제 고객 downtime은 NOT_MEASURED.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9D6C1"/>
          </a:solidFill>
          <a:ln w="12700">
            <a:solidFill>
              <a:srgbClr val="39D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978408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39D6C1"/>
                </a:solidFill>
                <a:latin typeface="Noto Sans KR"/>
              </a:defRPr>
            </a:pPr>
            <a:r>
              <a:t>09 · RELEASE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283464"/>
            <a:ext cx="5029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0"/>
              </a:spcAft>
              <a:defRPr sz="1600" b="1">
                <a:solidFill>
                  <a:srgbClr val="53708F"/>
                </a:solidFill>
                <a:latin typeface="Noto Sans KR"/>
              </a:defRPr>
            </a:pPr>
            <a: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0698480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F5F8FC"/>
                </a:solidFill>
                <a:latin typeface="Noto Sans KR"/>
              </a:defRPr>
            </a:pPr>
            <a:r>
              <a:t>실행되지 않은 검증이 PASS로 보이지 않도록 gate를 닫았다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18520" cy="10972"/>
          </a:xfrm>
          <a:prstGeom prst="rect">
            <a:avLst/>
          </a:prstGeom>
          <a:solidFill>
            <a:srgbClr val="2B456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6446520"/>
            <a:ext cx="11018520" cy="10972"/>
          </a:xfrm>
          <a:prstGeom prst="rect">
            <a:avLst/>
          </a:prstGeom>
          <a:solidFill>
            <a:srgbClr val="2B4565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510528"/>
            <a:ext cx="59436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20" b="0">
                <a:solidFill>
                  <a:srgbClr val="A4B5CA"/>
                </a:solidFill>
                <a:latin typeface="Noto Sans KR"/>
              </a:defRPr>
            </a:pPr>
            <a:r>
              <a:t>GitHub Actions CPU gate + self-hosted A6000 GPU gate contract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6510528"/>
            <a:ext cx="4983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0"/>
              </a:spcAft>
              <a:defRPr sz="720" b="0">
                <a:solidFill>
                  <a:srgbClr val="A4B5CA"/>
                </a:solidFill>
                <a:latin typeface="Noto Sans KR"/>
              </a:defRPr>
            </a:pPr>
            <a:r>
              <a:t>EVIDENCE · .github/workflows/ci.yml · scripts/regression_gate.py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463040"/>
            <a:ext cx="5166360" cy="1920240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18288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39D6C1"/>
                </a:solidFill>
                <a:latin typeface="Noto Sans KR"/>
              </a:defRPr>
            </a:pPr>
            <a:r>
              <a:t>CHANGE INPUTS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1965960"/>
            <a:ext cx="466344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F5F8FC"/>
                </a:solidFill>
                <a:latin typeface="Noto Sans KR"/>
              </a:defRPr>
            </a:pPr>
            <a:r>
              <a:t>변경 가능한 요소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2423160"/>
            <a:ext cx="4572000" cy="658368"/>
          </a:xfrm>
          <a:prstGeom prst="rect">
            <a:avLst/>
          </a:prstGeom>
          <a:noFill/>
        </p:spPr>
        <p:txBody>
          <a:bodyPr wrap="square" lIns="45720" rIns="18288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A4B5CA"/>
                </a:solidFill>
                <a:latin typeface="Noto Sans KR"/>
              </a:defRPr>
            </a:pPr>
            <a:r>
              <a:t>• service / deployment code</a:t>
            </a:r>
          </a:p>
          <a:p>
            <a:pPr>
              <a:spcAft>
                <a:spcPts val="400"/>
              </a:spcAft>
              <a:defRPr sz="900">
                <a:solidFill>
                  <a:srgbClr val="A4B5CA"/>
                </a:solidFill>
                <a:latin typeface="Noto Sans KR"/>
              </a:defRPr>
            </a:pPr>
            <a:r>
              <a:t>• model · tokenizer revision</a:t>
            </a:r>
          </a:p>
          <a:p>
            <a:pPr>
              <a:spcAft>
                <a:spcPts val="400"/>
              </a:spcAft>
              <a:defRPr sz="900">
                <a:solidFill>
                  <a:srgbClr val="A4B5CA"/>
                </a:solidFill>
                <a:latin typeface="Noto Sans KR"/>
              </a:defRPr>
            </a:pPr>
            <a:r>
              <a:t>• prompt · retriever</a:t>
            </a:r>
          </a:p>
          <a:p>
            <a:pPr>
              <a:spcAft>
                <a:spcPts val="400"/>
              </a:spcAft>
              <a:defRPr sz="900">
                <a:solidFill>
                  <a:srgbClr val="A4B5CA"/>
                </a:solidFill>
                <a:latin typeface="Noto Sans KR"/>
              </a:defRPr>
            </a:pPr>
            <a:r>
              <a:t>• evaluation dataset</a:t>
            </a:r>
          </a:p>
          <a:p>
            <a:pPr>
              <a:spcAft>
                <a:spcPts val="400"/>
              </a:spcAft>
              <a:defRPr sz="900">
                <a:solidFill>
                  <a:srgbClr val="A4B5CA"/>
                </a:solidFill>
                <a:latin typeface="Noto Sans KR"/>
              </a:defRPr>
            </a:pPr>
            <a:r>
              <a:t>• monitoring / rollback policy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73368" y="1463040"/>
            <a:ext cx="5166360" cy="1920240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74536" y="1645920"/>
            <a:ext cx="18288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39D6C1"/>
                </a:solidFill>
                <a:latin typeface="Noto Sans KR"/>
              </a:defRPr>
            </a:pPr>
            <a:r>
              <a:t>FAIL-CLOSED GATES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74536" y="1965960"/>
            <a:ext cx="466344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F5F8FC"/>
                </a:solidFill>
                <a:latin typeface="Noto Sans KR"/>
              </a:defRPr>
            </a:pPr>
            <a:r>
              <a:t>release 판정 조건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74536" y="2423160"/>
            <a:ext cx="4572000" cy="658368"/>
          </a:xfrm>
          <a:prstGeom prst="rect">
            <a:avLst/>
          </a:prstGeom>
          <a:noFill/>
        </p:spPr>
        <p:txBody>
          <a:bodyPr wrap="square" lIns="45720" rIns="18288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A4B5CA"/>
                </a:solidFill>
                <a:latin typeface="Noto Sans KR"/>
              </a:defRPr>
            </a:pPr>
            <a:r>
              <a:t>• deterministic tests</a:t>
            </a:r>
          </a:p>
          <a:p>
            <a:pPr>
              <a:spcAft>
                <a:spcPts val="400"/>
              </a:spcAft>
              <a:defRPr sz="900">
                <a:solidFill>
                  <a:srgbClr val="A4B5CA"/>
                </a:solidFill>
                <a:latin typeface="Noto Sans KR"/>
              </a:defRPr>
            </a:pPr>
            <a:r>
              <a:t>• result schema validation</a:t>
            </a:r>
          </a:p>
          <a:p>
            <a:pPr>
              <a:spcAft>
                <a:spcPts val="400"/>
              </a:spcAft>
              <a:defRPr sz="900">
                <a:solidFill>
                  <a:srgbClr val="A4B5CA"/>
                </a:solidFill>
                <a:latin typeface="Noto Sans KR"/>
              </a:defRPr>
            </a:pPr>
            <a:r>
              <a:t>• CPU/GPU live evaluation</a:t>
            </a:r>
          </a:p>
          <a:p>
            <a:pPr>
              <a:spcAft>
                <a:spcPts val="400"/>
              </a:spcAft>
              <a:defRPr sz="900">
                <a:solidFill>
                  <a:srgbClr val="A4B5CA"/>
                </a:solidFill>
                <a:latin typeface="Noto Sans KR"/>
              </a:defRPr>
            </a:pPr>
            <a:r>
              <a:t>• ACL / injection regression</a:t>
            </a:r>
          </a:p>
          <a:p>
            <a:pPr>
              <a:spcAft>
                <a:spcPts val="400"/>
              </a:spcAft>
              <a:defRPr sz="900">
                <a:solidFill>
                  <a:srgbClr val="A4B5CA"/>
                </a:solidFill>
                <a:latin typeface="Noto Sans KR"/>
              </a:defRPr>
            </a:pPr>
            <a:r>
              <a:t>• manifest / readiness verify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50992" y="2148840"/>
            <a:ext cx="45720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  <a:defRPr sz="2500" b="1">
                <a:solidFill>
                  <a:srgbClr val="39D6C1"/>
                </a:solidFill>
                <a:latin typeface="Noto Sans KR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703320"/>
            <a:ext cx="3502152" cy="1188720"/>
          </a:xfrm>
          <a:prstGeom prst="roundRect">
            <a:avLst/>
          </a:prstGeom>
          <a:solidFill>
            <a:srgbClr val="142B49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" y="3840480"/>
            <a:ext cx="685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6EE7A8"/>
                </a:solidFill>
                <a:latin typeface="Noto Sans KR"/>
              </a:defRPr>
            </a:pPr>
            <a:r>
              <a:t>PASS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7048" y="3840480"/>
            <a:ext cx="23317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F5F8FC"/>
                </a:solidFill>
                <a:latin typeface="Noto Sans KR"/>
              </a:defRPr>
            </a:pPr>
            <a:r>
              <a:t>Deterministic suite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4160520"/>
            <a:ext cx="320040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39D6C1"/>
                </a:solidFill>
                <a:latin typeface="Noto Sans KR"/>
              </a:defRPr>
            </a:pPr>
            <a:r>
              <a:t>153 tests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" y="4526280"/>
            <a:ext cx="32004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50" b="0">
                <a:solidFill>
                  <a:srgbClr val="A4B5CA"/>
                </a:solidFill>
                <a:latin typeface="Noto Sans KR"/>
              </a:defRPr>
            </a:pPr>
            <a:r>
              <a:t>GPU opt-in 3개는 actual run 별도 PASS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3400" y="3703320"/>
            <a:ext cx="3502152" cy="1188720"/>
          </a:xfrm>
          <a:prstGeom prst="roundRect">
            <a:avLst/>
          </a:prstGeom>
          <a:solidFill>
            <a:srgbClr val="142B49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60" y="3840480"/>
            <a:ext cx="685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6EE7A8"/>
                </a:solidFill>
                <a:latin typeface="Noto Sans KR"/>
              </a:defRPr>
            </a:pPr>
            <a:r>
              <a:t>PASS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840480"/>
            <a:ext cx="23317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F5F8FC"/>
                </a:solidFill>
                <a:latin typeface="Noto Sans KR"/>
              </a:defRPr>
            </a:pPr>
            <a:r>
              <a:t>Result contract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160520"/>
            <a:ext cx="320040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39D6C1"/>
                </a:solidFill>
                <a:latin typeface="Noto Sans KR"/>
              </a:defRPr>
            </a:pPr>
            <a:r>
              <a:t>27 / 27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526280"/>
            <a:ext cx="32004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50" b="0">
                <a:solidFill>
                  <a:srgbClr val="A4B5CA"/>
                </a:solidFill>
                <a:latin typeface="Noto Sans KR"/>
              </a:defRPr>
            </a:pPr>
            <a:r>
              <a:t>schema · provenance · evidence type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28432" y="3703320"/>
            <a:ext cx="3502152" cy="1188720"/>
          </a:xfrm>
          <a:prstGeom prst="roundRect">
            <a:avLst/>
          </a:prstGeom>
          <a:solidFill>
            <a:srgbClr val="142B49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65592" y="3840480"/>
            <a:ext cx="685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6EE7A8"/>
                </a:solidFill>
                <a:latin typeface="Noto Sans KR"/>
              </a:defRPr>
            </a:pPr>
            <a:r>
              <a:t>PASS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97112" y="3840480"/>
            <a:ext cx="23317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F5F8FC"/>
                </a:solidFill>
                <a:latin typeface="Noto Sans KR"/>
              </a:defRPr>
            </a:pPr>
            <a:r>
              <a:t>Regression gate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5592" y="4160520"/>
            <a:ext cx="320040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39D6C1"/>
                </a:solidFill>
                <a:latin typeface="Noto Sans KR"/>
              </a:defRPr>
            </a:pPr>
            <a:r>
              <a:t>11 / 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4526280"/>
            <a:ext cx="32004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50" b="0">
                <a:solidFill>
                  <a:srgbClr val="A4B5CA"/>
                </a:solidFill>
                <a:latin typeface="Noto Sans KR"/>
              </a:defRPr>
            </a:pPr>
            <a:r>
              <a:t>60 cases · failed 0 · skipped 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9D6C1"/>
          </a:solidFill>
          <a:ln w="12700">
            <a:solidFill>
              <a:srgbClr val="39D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978408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39D6C1"/>
                </a:solidFill>
                <a:latin typeface="Noto Sans KR"/>
              </a:defRPr>
            </a:pPr>
            <a:r>
              <a:t>10 · EVIDENCE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283464"/>
            <a:ext cx="5029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0"/>
              </a:spcAft>
              <a:defRPr sz="1600" b="1">
                <a:solidFill>
                  <a:srgbClr val="53708F"/>
                </a:solidFill>
                <a:latin typeface="Noto Sans KR"/>
              </a:defRPr>
            </a:pPr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0698480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F5F8FC"/>
                </a:solidFill>
                <a:latin typeface="Noto Sans KR"/>
              </a:defRPr>
            </a:pPr>
            <a:r>
              <a:t>완료 범위와 아직 주장할 수 없는 것을 분리했다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18520" cy="10972"/>
          </a:xfrm>
          <a:prstGeom prst="rect">
            <a:avLst/>
          </a:prstGeom>
          <a:solidFill>
            <a:srgbClr val="2B456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6446520"/>
            <a:ext cx="11018520" cy="10972"/>
          </a:xfrm>
          <a:prstGeom prst="rect">
            <a:avLst/>
          </a:prstGeom>
          <a:solidFill>
            <a:srgbClr val="2B4565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510528"/>
            <a:ext cx="59436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20" b="0">
                <a:solidFill>
                  <a:srgbClr val="A4B5CA"/>
                </a:solidFill>
                <a:latin typeface="Noto Sans KR"/>
              </a:defRPr>
            </a:pPr>
            <a:r>
              <a:t>검증하지 않은 범위를 숨기지 않는 것도 production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6510528"/>
            <a:ext cx="4983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0"/>
              </a:spcAft>
              <a:defRPr sz="720" b="0">
                <a:solidFill>
                  <a:srgbClr val="A4B5CA"/>
                </a:solidFill>
                <a:latin typeface="Noto Sans KR"/>
              </a:defRPr>
            </a:pPr>
            <a:r>
              <a:t>EVIDENCE · docs/final-review/final-release-review.json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444752"/>
            <a:ext cx="3547872" cy="1600200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1563624"/>
            <a:ext cx="327355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39D6C1"/>
                </a:solidFill>
                <a:latin typeface="Noto Sans KR"/>
              </a:defRPr>
            </a:pPr>
            <a:r>
              <a:t>KNOWN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1801368"/>
            <a:ext cx="3273552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F5F8FC"/>
                </a:solidFill>
                <a:latin typeface="Noto Sans KR"/>
              </a:defRPr>
            </a:pPr>
            <a:r>
              <a:t>Prompt injection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2130552"/>
            <a:ext cx="3273552" cy="7955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30" b="0">
                <a:solidFill>
                  <a:srgbClr val="A4B5CA"/>
                </a:solidFill>
                <a:latin typeface="Noto Sans KR"/>
              </a:defRPr>
            </a:pPr>
            <a:r>
              <a:t>1 / 5 success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2770632"/>
            <a:ext cx="3273552" cy="1554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20" b="0">
                <a:solidFill>
                  <a:srgbClr val="F6BA57"/>
                </a:solidFill>
                <a:latin typeface="Noto Sans KR"/>
              </a:defRPr>
            </a:pPr>
            <a:r>
              <a:t>Next · 방어 실험과 별도 threshold 검증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1444752"/>
            <a:ext cx="3547872" cy="1600200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1563624"/>
            <a:ext cx="327355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39D6C1"/>
                </a:solidFill>
                <a:latin typeface="Noto Sans KR"/>
              </a:defRPr>
            </a:pPr>
            <a:r>
              <a:t>PENDING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1801368"/>
            <a:ext cx="3273552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F5F8FC"/>
                </a:solidFill>
                <a:latin typeface="Noto Sans KR"/>
              </a:defRPr>
            </a:pPr>
            <a:r>
              <a:t>Alert windows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2130552"/>
            <a:ext cx="3273552" cy="7955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30" b="0">
                <a:solidFill>
                  <a:srgbClr val="A4B5CA"/>
                </a:solidFill>
                <a:latin typeface="Noto Sans KR"/>
              </a:defRPr>
            </a:pPr>
            <a:r>
              <a:t>PENDING_THRESHOLD_VALIDATION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2770632"/>
            <a:ext cx="3273552" cy="1554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20" b="0">
                <a:solidFill>
                  <a:srgbClr val="F6BA57"/>
                </a:solidFill>
                <a:latin typeface="Noto Sans KR"/>
              </a:defRPr>
            </a:pPr>
            <a:r>
              <a:t>Next · 대표 traffic 분포로 재측정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91856" y="1444752"/>
            <a:ext cx="3547872" cy="1600200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29016" y="1563624"/>
            <a:ext cx="327355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39D6C1"/>
                </a:solidFill>
                <a:latin typeface="Noto Sans KR"/>
              </a:defRPr>
            </a:pPr>
            <a:r>
              <a:t>PENDING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9016" y="1801368"/>
            <a:ext cx="3273552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F5F8FC"/>
                </a:solidFill>
                <a:latin typeface="Noto Sans KR"/>
              </a:defRPr>
            </a:pPr>
            <a:r>
              <a:t>Native 24GB GPU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9016" y="2130552"/>
            <a:ext cx="3273552" cy="7955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30" b="0">
                <a:solidFill>
                  <a:srgbClr val="A4B5CA"/>
                </a:solidFill>
                <a:latin typeface="Noto Sans KR"/>
              </a:defRPr>
            </a:pPr>
            <a:r>
              <a:t>NOT_EXECUTED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9016" y="2770632"/>
            <a:ext cx="3273552" cy="1554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20" b="0">
                <a:solidFill>
                  <a:srgbClr val="F6BA57"/>
                </a:solidFill>
                <a:latin typeface="Noto Sans KR"/>
              </a:defRPr>
            </a:pPr>
            <a:r>
              <a:t>Next · 동일 revision/config native validation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163824"/>
            <a:ext cx="3547872" cy="1600200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282696"/>
            <a:ext cx="327355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39D6C1"/>
                </a:solidFill>
                <a:latin typeface="Noto Sans KR"/>
              </a:defRPr>
            </a:pPr>
            <a:r>
              <a:t>SCOPE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" y="3520440"/>
            <a:ext cx="3273552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F5F8FC"/>
                </a:solidFill>
                <a:latin typeface="Noto Sans KR"/>
              </a:defRPr>
            </a:pPr>
            <a:r>
              <a:t>High availability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8" y="3849624"/>
            <a:ext cx="3273552" cy="7955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30" b="0">
                <a:solidFill>
                  <a:srgbClr val="A4B5CA"/>
                </a:solidFill>
                <a:latin typeface="Noto Sans KR"/>
              </a:defRPr>
            </a:pPr>
            <a:r>
              <a:t>single-host only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8" y="4489704"/>
            <a:ext cx="3273552" cy="1554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20" b="0">
                <a:solidFill>
                  <a:srgbClr val="F6BA57"/>
                </a:solidFill>
                <a:latin typeface="Noto Sans KR"/>
              </a:defRPr>
            </a:pPr>
            <a:r>
              <a:t>Next · 현재 프로젝트 범위 밖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25112" y="3163824"/>
            <a:ext cx="3547872" cy="1600200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62272" y="3282696"/>
            <a:ext cx="327355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39D6C1"/>
                </a:solidFill>
                <a:latin typeface="Noto Sans KR"/>
              </a:defRPr>
            </a:pPr>
            <a:r>
              <a:t>SCOPE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62272" y="3520440"/>
            <a:ext cx="3273552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F5F8FC"/>
                </a:solidFill>
                <a:latin typeface="Noto Sans KR"/>
              </a:defRPr>
            </a:pPr>
            <a:r>
              <a:t>Production corpus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62272" y="3849624"/>
            <a:ext cx="3273552" cy="7955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30" b="0">
                <a:solidFill>
                  <a:srgbClr val="A4B5CA"/>
                </a:solidFill>
                <a:latin typeface="Noto Sans KR"/>
              </a:defRPr>
            </a:pPr>
            <a:r>
              <a:t>synthetic 16 docs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2272" y="4489704"/>
            <a:ext cx="3273552" cy="1554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20" b="0">
                <a:solidFill>
                  <a:srgbClr val="F6BA57"/>
                </a:solidFill>
                <a:latin typeface="Noto Sans KR"/>
              </a:defRPr>
            </a:pPr>
            <a:r>
              <a:t>Next · 보안 승인된 별도 평가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91856" y="3163824"/>
            <a:ext cx="3547872" cy="1600200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29016" y="3282696"/>
            <a:ext cx="327355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39D6C1"/>
                </a:solidFill>
                <a:latin typeface="Noto Sans KR"/>
              </a:defRPr>
            </a:pPr>
            <a:r>
              <a:t>PENDING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29016" y="3520440"/>
            <a:ext cx="3273552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F5F8FC"/>
                </a:solidFill>
                <a:latin typeface="Noto Sans KR"/>
              </a:defRPr>
            </a:pPr>
            <a:r>
              <a:t>Remote GPU CI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29016" y="3849624"/>
            <a:ext cx="3273552" cy="7955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30" b="0">
                <a:solidFill>
                  <a:srgbClr val="A4B5CA"/>
                </a:solidFill>
                <a:latin typeface="Noto Sans KR"/>
              </a:defRPr>
            </a:pPr>
            <a:r>
              <a:t>NOT_EXECUTED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29016" y="4489704"/>
            <a:ext cx="3273552" cy="1554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20" b="0">
                <a:solidFill>
                  <a:srgbClr val="F6BA57"/>
                </a:solidFill>
                <a:latin typeface="Noto Sans KR"/>
              </a:defRPr>
            </a:pPr>
            <a:r>
              <a:t>Next · self-hosted runner 연결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" y="5943600"/>
            <a:ext cx="10881360" cy="347472"/>
          </a:xfrm>
          <a:prstGeom prst="roundRect">
            <a:avLst/>
          </a:prstGeom>
          <a:solidFill>
            <a:srgbClr val="12433E"/>
          </a:solidFill>
          <a:ln w="12700">
            <a:solidFill>
              <a:srgbClr val="6EE7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6035040"/>
            <a:ext cx="22860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6EE7A8"/>
                </a:solidFill>
                <a:latin typeface="Noto Sans KR"/>
              </a:defRPr>
            </a:pPr>
            <a:r>
              <a:t>PASS · v0.2 single-A6000 scope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34640" y="6025896"/>
            <a:ext cx="84124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60" b="0">
                <a:solidFill>
                  <a:srgbClr val="F5F8FC"/>
                </a:solidFill>
                <a:latin typeface="Noto Sans KR"/>
              </a:defRPr>
            </a:pPr>
            <a:r>
              <a:t>통합 운영 rehearsal 통과는 native 24GB 또는 실제 고객 traffic 검증을 의미하지 않는다.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9D6C1"/>
          </a:solidFill>
          <a:ln w="12700">
            <a:solidFill>
              <a:srgbClr val="39D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978408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39D6C1"/>
                </a:solidFill>
                <a:latin typeface="Noto Sans KR"/>
              </a:defRPr>
            </a:pPr>
            <a:r>
              <a:t>11 · DEVELOPER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283464"/>
            <a:ext cx="5029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0"/>
              </a:spcAft>
              <a:defRPr sz="1600" b="1">
                <a:solidFill>
                  <a:srgbClr val="53708F"/>
                </a:solidFill>
                <a:latin typeface="Noto Sans KR"/>
              </a:defRPr>
            </a:pPr>
            <a: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0698480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F5F8FC"/>
                </a:solidFill>
                <a:latin typeface="Noto Sans KR"/>
              </a:defRPr>
            </a:pPr>
            <a:r>
              <a:t>모델 비교를 운영 가능한 증거 체계까지 확장했다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18520" cy="10972"/>
          </a:xfrm>
          <a:prstGeom prst="rect">
            <a:avLst/>
          </a:prstGeom>
          <a:solidFill>
            <a:srgbClr val="2B456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6446520"/>
            <a:ext cx="11018520" cy="10972"/>
          </a:xfrm>
          <a:prstGeom prst="rect">
            <a:avLst/>
          </a:prstGeom>
          <a:solidFill>
            <a:srgbClr val="2B4565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510528"/>
            <a:ext cx="59436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720" b="0">
                <a:solidFill>
                  <a:srgbClr val="A4B5CA"/>
                </a:solidFill>
                <a:latin typeface="Noto Sans KR"/>
              </a:defRPr>
            </a:pPr>
            <a:r>
              <a:t>Interview evidence map · docs/final-report/resume-interview-summary.md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6510528"/>
            <a:ext cx="4983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0"/>
              </a:spcAft>
              <a:defRPr sz="720" b="0">
                <a:solidFill>
                  <a:srgbClr val="A4B5CA"/>
                </a:solidFill>
                <a:latin typeface="Noto Sans KR"/>
              </a:defRPr>
            </a:pPr>
            <a:r>
              <a:t>EVIDENCE · docs/final-report/resume-interview-summary.md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417320"/>
            <a:ext cx="10881360" cy="1261872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39D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664208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F5F8FC"/>
                </a:solidFill>
                <a:latin typeface="Noto Sans KR"/>
              </a:defRPr>
            </a:pPr>
            <a:r>
              <a:t>금융 RAG에서 품질·TTFT·처리량·VRAM·ACL을 같은 provenance로 비교했습니다. 이어 pinned Compose·readiness·Prometheus·회귀 gate·incident·immutable rollback을 실제 A6000에서 검증했습니다.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944368"/>
            <a:ext cx="7040880" cy="1554480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154680"/>
            <a:ext cx="18288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39D6C1"/>
                </a:solidFill>
                <a:latin typeface="Noto Sans KR"/>
              </a:defRPr>
            </a:pPr>
            <a:r>
              <a:t>CORE STACK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3520440"/>
            <a:ext cx="640080" cy="283464"/>
          </a:xfrm>
          <a:prstGeom prst="roundRect">
            <a:avLst/>
          </a:prstGeom>
          <a:solidFill>
            <a:srgbClr val="142B49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93592"/>
            <a:ext cx="640080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  <a:defRPr sz="700" b="0">
                <a:solidFill>
                  <a:srgbClr val="F5F8FC"/>
                </a:solidFill>
                <a:latin typeface="Noto Sans KR"/>
              </a:defRPr>
            </a:pPr>
            <a:r>
              <a:t>Python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81912" y="3520440"/>
            <a:ext cx="708660" cy="283464"/>
          </a:xfrm>
          <a:prstGeom prst="roundRect">
            <a:avLst/>
          </a:prstGeom>
          <a:solidFill>
            <a:srgbClr val="142B49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81912" y="3593592"/>
            <a:ext cx="708660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  <a:defRPr sz="700" b="0">
                <a:solidFill>
                  <a:srgbClr val="F5F8FC"/>
                </a:solidFill>
                <a:latin typeface="Noto Sans KR"/>
              </a:defRPr>
            </a:pPr>
            <a:r>
              <a:t>PyTorch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63724" y="3520440"/>
            <a:ext cx="914400" cy="283464"/>
          </a:xfrm>
          <a:prstGeom prst="roundRect">
            <a:avLst/>
          </a:prstGeom>
          <a:solidFill>
            <a:srgbClr val="142B49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63724" y="3593592"/>
            <a:ext cx="914400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  <a:defRPr sz="700" b="0">
                <a:solidFill>
                  <a:srgbClr val="F5F8FC"/>
                </a:solidFill>
                <a:latin typeface="Noto Sans KR"/>
              </a:defRPr>
            </a:pPr>
            <a:r>
              <a:t>vLLM 0.9.2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51276" y="3520440"/>
            <a:ext cx="640080" cy="283464"/>
          </a:xfrm>
          <a:prstGeom prst="roundRect">
            <a:avLst/>
          </a:prstGeom>
          <a:solidFill>
            <a:srgbClr val="142B49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51276" y="3593592"/>
            <a:ext cx="640080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  <a:defRPr sz="700" b="0">
                <a:solidFill>
                  <a:srgbClr val="F5F8FC"/>
                </a:solidFill>
                <a:latin typeface="Noto Sans KR"/>
              </a:defRPr>
            </a:pPr>
            <a:r>
              <a:t>Qwen3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64508" y="3520440"/>
            <a:ext cx="640080" cy="283464"/>
          </a:xfrm>
          <a:prstGeom prst="roundRect">
            <a:avLst/>
          </a:prstGeom>
          <a:solidFill>
            <a:srgbClr val="142B49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64508" y="3593592"/>
            <a:ext cx="640080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  <a:defRPr sz="700" b="0">
                <a:solidFill>
                  <a:srgbClr val="F5F8FC"/>
                </a:solidFill>
                <a:latin typeface="Noto Sans KR"/>
              </a:defRPr>
            </a:pPr>
            <a:r>
              <a:t>AWQ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77740" y="3520440"/>
            <a:ext cx="1188720" cy="283464"/>
          </a:xfrm>
          <a:prstGeom prst="roundRect">
            <a:avLst/>
          </a:prstGeom>
          <a:solidFill>
            <a:srgbClr val="142B49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77740" y="3593592"/>
            <a:ext cx="1188720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  <a:defRPr sz="700" b="0">
                <a:solidFill>
                  <a:srgbClr val="F5F8FC"/>
                </a:solidFill>
                <a:latin typeface="Noto Sans KR"/>
              </a:defRPr>
            </a:pPr>
            <a:r>
              <a:t>Docker Compose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9612" y="3520440"/>
            <a:ext cx="914400" cy="283464"/>
          </a:xfrm>
          <a:prstGeom prst="roundRect">
            <a:avLst/>
          </a:prstGeom>
          <a:solidFill>
            <a:srgbClr val="142B49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9612" y="3593592"/>
            <a:ext cx="914400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  <a:defRPr sz="700" b="0">
                <a:solidFill>
                  <a:srgbClr val="F5F8FC"/>
                </a:solidFill>
                <a:latin typeface="Noto Sans KR"/>
              </a:defRPr>
            </a:pPr>
            <a:r>
              <a:t>Prometheus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8680" y="3904488"/>
            <a:ext cx="708660" cy="283464"/>
          </a:xfrm>
          <a:prstGeom prst="roundRect">
            <a:avLst/>
          </a:prstGeom>
          <a:solidFill>
            <a:srgbClr val="142B49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3977640"/>
            <a:ext cx="708660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  <a:defRPr sz="700" b="0">
                <a:solidFill>
                  <a:srgbClr val="F5F8FC"/>
                </a:solidFill>
                <a:latin typeface="Noto Sans KR"/>
              </a:defRPr>
            </a:pPr>
            <a:r>
              <a:t>Grafana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650492" y="3904488"/>
            <a:ext cx="640080" cy="283464"/>
          </a:xfrm>
          <a:prstGeom prst="roundRect">
            <a:avLst/>
          </a:prstGeom>
          <a:solidFill>
            <a:srgbClr val="142B49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50492" y="3977640"/>
            <a:ext cx="640080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  <a:defRPr sz="700" b="0">
                <a:solidFill>
                  <a:srgbClr val="F5F8FC"/>
                </a:solidFill>
                <a:latin typeface="Noto Sans KR"/>
              </a:defRPr>
            </a:pPr>
            <a:r>
              <a:t>DCGM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363724" y="3904488"/>
            <a:ext cx="1188720" cy="283464"/>
          </a:xfrm>
          <a:prstGeom prst="roundRect">
            <a:avLst/>
          </a:prstGeom>
          <a:solidFill>
            <a:srgbClr val="142B49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63724" y="3977640"/>
            <a:ext cx="1188720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  <a:defRPr sz="700" b="0">
                <a:solidFill>
                  <a:srgbClr val="F5F8FC"/>
                </a:solidFill>
                <a:latin typeface="Noto Sans KR"/>
              </a:defRPr>
            </a:pPr>
            <a:r>
              <a:t>GitHub Actions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09560" y="2944368"/>
            <a:ext cx="3630168" cy="1554480"/>
          </a:xfrm>
          <a:prstGeom prst="roundRect">
            <a:avLst/>
          </a:prstGeom>
          <a:solidFill>
            <a:srgbClr val="102038"/>
          </a:solidFill>
          <a:ln w="12700">
            <a:solidFill>
              <a:srgbClr val="2B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38160" y="3154680"/>
            <a:ext cx="13716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39D6C1"/>
                </a:solidFill>
                <a:latin typeface="Noto Sans KR"/>
              </a:defRPr>
            </a:pPr>
            <a:r>
              <a:t>ROLE FIT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60" y="3493008"/>
            <a:ext cx="3063240" cy="658368"/>
          </a:xfrm>
          <a:prstGeom prst="rect">
            <a:avLst/>
          </a:prstGeom>
          <a:noFill/>
        </p:spPr>
        <p:txBody>
          <a:bodyPr wrap="square" lIns="45720" rIns="18288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A4B5CA"/>
                </a:solidFill>
                <a:latin typeface="Noto Sans KR"/>
              </a:defRPr>
            </a:pPr>
            <a:r>
              <a:t>• LLMOps Engineer</a:t>
            </a:r>
          </a:p>
          <a:p>
            <a:pPr>
              <a:spcAft>
                <a:spcPts val="400"/>
              </a:spcAft>
              <a:defRPr sz="900">
                <a:solidFill>
                  <a:srgbClr val="A4B5CA"/>
                </a:solidFill>
                <a:latin typeface="Noto Sans KR"/>
              </a:defRPr>
            </a:pPr>
            <a:r>
              <a:t>• AI Backend Engineer</a:t>
            </a:r>
          </a:p>
          <a:p>
            <a:pPr>
              <a:spcAft>
                <a:spcPts val="400"/>
              </a:spcAft>
              <a:defRPr sz="900">
                <a:solidFill>
                  <a:srgbClr val="A4B5CA"/>
                </a:solidFill>
                <a:latin typeface="Noto Sans KR"/>
              </a:defRPr>
            </a:pPr>
            <a:r>
              <a:t>• Inference Engineer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4892040"/>
            <a:ext cx="1051560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  <a:defRPr sz="1050" b="1">
                <a:solidFill>
                  <a:srgbClr val="F6BA57"/>
                </a:solidFill>
                <a:latin typeface="Noto Sans KR"/>
              </a:defRPr>
            </a:pPr>
            <a:r>
              <a:t>GitHub · github.com/kkkimdaegyun/finllm-lab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