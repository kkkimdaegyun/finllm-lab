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9D6C1"/>
          </a:solidFill>
          <a:ln w="12700">
            <a:solidFill>
              <a:srgbClr val="39D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97840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850" b="1">
                <a:solidFill>
                  <a:srgbClr val="39D6C1"/>
                </a:solidFill>
                <a:latin typeface="Noto Sans CJK KR"/>
              </a:defRPr>
            </a:pPr>
            <a:r>
              <a:t>PRIVATE RAG · INFERENCE · PRODUCTION LLMOPS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83464"/>
            <a:ext cx="5029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  <a:defRPr sz="1600" b="1">
                <a:solidFill>
                  <a:srgbClr val="53708F"/>
                </a:solidFill>
                <a:latin typeface="Noto Sans CJK KR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21792"/>
            <a:ext cx="10698480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F5F8FC"/>
                </a:solidFill>
                <a:latin typeface="Noto Sans CJK KR"/>
              </a:defRPr>
            </a:pPr>
            <a:r>
              <a:t>FinLLM Lab v0.2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18520" cy="10972"/>
          </a:xfrm>
          <a:prstGeom prst="rect">
            <a:avLst/>
          </a:prstGeom>
          <a:solidFill>
            <a:srgbClr val="2B456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6446520"/>
            <a:ext cx="11018520" cy="10972"/>
          </a:xfrm>
          <a:prstGeom prst="rect">
            <a:avLst/>
          </a:prstGeom>
          <a:solidFill>
            <a:srgbClr val="2B4565"/>
          </a:solidFill>
          <a:ln w="12700">
            <a:solidFill>
              <a:srgbClr val="2B4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510528"/>
            <a:ext cx="59436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720" b="0">
                <a:solidFill>
                  <a:srgbClr val="A4B5CA"/>
                </a:solidFill>
                <a:latin typeface="Noto Sans CJK KR"/>
              </a:defRPr>
            </a:pPr>
            <a:r>
              <a:t>Evidence-locked portfolio · 2026-08-09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6510528"/>
            <a:ext cx="49834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  <a:defRPr sz="720" b="0">
                <a:solidFill>
                  <a:srgbClr val="A4B5CA"/>
                </a:solidFill>
                <a:latin typeface="Noto Sans CJK KR"/>
              </a:defRPr>
            </a:pPr>
            <a:r>
              <a:t>EVIDENCE · docs/final-review/final-release-review.json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600200"/>
            <a:ext cx="8046720" cy="1325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3100" b="1">
                <a:solidFill>
                  <a:srgbClr val="F5F8FC"/>
                </a:solidFill>
                <a:latin typeface="Noto Sans CJK KR"/>
              </a:defRPr>
            </a:pPr>
            <a:r>
              <a:t>단일 GPU 금융 Private RAG의</a:t>
            </a:r>
            <a:br/>
            <a:r>
              <a:t>모델 선택부터 운영 안전성까지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3063240"/>
            <a:ext cx="77724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A4B5CA"/>
                </a:solidFill>
                <a:latin typeface="Noto Sans CJK KR"/>
              </a:defRPr>
            </a:pPr>
            <a:r>
              <a:t>측정 → 오진 수정 → 배포 → 관측 → 회귀 차단 → 복구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611880"/>
            <a:ext cx="1097280" cy="310896"/>
          </a:xfrm>
          <a:prstGeom prst="roundRect">
            <a:avLst/>
          </a:prstGeom>
          <a:solidFill>
            <a:srgbClr val="102038"/>
          </a:solidFill>
          <a:ln w="12700">
            <a:solidFill>
              <a:srgbClr val="2B4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3675887"/>
            <a:ext cx="1097280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  <a:defRPr sz="750" b="0">
                <a:solidFill>
                  <a:srgbClr val="F5F8FC"/>
                </a:solidFill>
                <a:latin typeface="Noto Sans CJK KR"/>
              </a:defRPr>
            </a:pPr>
            <a:r>
              <a:t>On-premise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92808" y="3611880"/>
            <a:ext cx="1179576" cy="310896"/>
          </a:xfrm>
          <a:prstGeom prst="roundRect">
            <a:avLst/>
          </a:prstGeom>
          <a:solidFill>
            <a:srgbClr val="102038"/>
          </a:solidFill>
          <a:ln w="12700">
            <a:solidFill>
              <a:srgbClr val="2B4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92808" y="3675887"/>
            <a:ext cx="1179576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  <a:defRPr sz="750" b="0">
                <a:solidFill>
                  <a:srgbClr val="F5F8FC"/>
                </a:solidFill>
                <a:latin typeface="Noto Sans CJK KR"/>
              </a:defRPr>
            </a:pPr>
            <a:r>
              <a:t>Qwen3 + AWQ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154680" y="3611880"/>
            <a:ext cx="658368" cy="310896"/>
          </a:xfrm>
          <a:prstGeom prst="roundRect">
            <a:avLst/>
          </a:prstGeom>
          <a:solidFill>
            <a:srgbClr val="102038"/>
          </a:solidFill>
          <a:ln w="12700">
            <a:solidFill>
              <a:srgbClr val="2B4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54680" y="3675887"/>
            <a:ext cx="658368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  <a:defRPr sz="750" b="0">
                <a:solidFill>
                  <a:srgbClr val="F5F8FC"/>
                </a:solidFill>
                <a:latin typeface="Noto Sans CJK KR"/>
              </a:defRPr>
            </a:pPr>
            <a:r>
              <a:t>vLLM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95344" y="3611880"/>
            <a:ext cx="1097280" cy="310896"/>
          </a:xfrm>
          <a:prstGeom prst="roundRect">
            <a:avLst/>
          </a:prstGeom>
          <a:solidFill>
            <a:srgbClr val="102038"/>
          </a:solidFill>
          <a:ln w="12700">
            <a:solidFill>
              <a:srgbClr val="2B4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95344" y="3675887"/>
            <a:ext cx="1097280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  <a:defRPr sz="750" b="0">
                <a:solidFill>
                  <a:srgbClr val="F5F8FC"/>
                </a:solidFill>
                <a:latin typeface="Noto Sans CJK KR"/>
              </a:defRPr>
            </a:pPr>
            <a:r>
              <a:t>Evaluation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74920" y="3611880"/>
            <a:ext cx="768096" cy="310896"/>
          </a:xfrm>
          <a:prstGeom prst="roundRect">
            <a:avLst/>
          </a:prstGeom>
          <a:solidFill>
            <a:srgbClr val="102038"/>
          </a:solidFill>
          <a:ln w="12700">
            <a:solidFill>
              <a:srgbClr val="2B4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74920" y="3675887"/>
            <a:ext cx="768096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  <a:defRPr sz="750" b="0">
                <a:solidFill>
                  <a:srgbClr val="F5F8FC"/>
                </a:solidFill>
                <a:latin typeface="Noto Sans CJK KR"/>
              </a:defRPr>
            </a:pPr>
            <a:r>
              <a:t>LLMOps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23960" y="4343400"/>
            <a:ext cx="2606040" cy="941832"/>
          </a:xfrm>
          <a:prstGeom prst="roundRect">
            <a:avLst/>
          </a:prstGeom>
          <a:solidFill>
            <a:srgbClr val="12352F"/>
          </a:solidFill>
          <a:ln w="12700">
            <a:solidFill>
              <a:srgbClr val="6EE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88552" y="4544568"/>
            <a:ext cx="228600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6EE7A8"/>
                </a:solidFill>
                <a:latin typeface="Noto Sans CJK KR"/>
              </a:defRPr>
            </a:pPr>
            <a:r>
              <a:t>FINAL RELEASE · PASS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88552" y="4855464"/>
            <a:ext cx="22860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800" b="0">
                <a:solidFill>
                  <a:srgbClr val="F5F8FC"/>
                </a:solidFill>
                <a:latin typeface="Noto Sans CJK KR"/>
              </a:defRPr>
            </a:pPr>
            <a:r>
              <a:t>actual RTX A6000 통합 rehearsal · 11/11 regression stages PASS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9D6C1"/>
          </a:solidFill>
          <a:ln w="12700">
            <a:solidFill>
              <a:srgbClr val="39D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97840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850" b="1">
                <a:solidFill>
                  <a:srgbClr val="39D6C1"/>
                </a:solidFill>
                <a:latin typeface="Noto Sans CJK KR"/>
              </a:defRPr>
            </a:pPr>
            <a:r>
              <a:t>01 · PROBLEM &amp; CONSTRAINTS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83464"/>
            <a:ext cx="5029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  <a:defRPr sz="1600" b="1">
                <a:solidFill>
                  <a:srgbClr val="53708F"/>
                </a:solidFill>
                <a:latin typeface="Noto Sans CJK KR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21792"/>
            <a:ext cx="10698480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F5F8FC"/>
                </a:solidFill>
                <a:latin typeface="Noto Sans CJK KR"/>
              </a:defRPr>
            </a:pPr>
            <a:r>
              <a:t>정확도 하나로는 운영 가능한 구성을 고를 수 없다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18520" cy="10972"/>
          </a:xfrm>
          <a:prstGeom prst="rect">
            <a:avLst/>
          </a:prstGeom>
          <a:solidFill>
            <a:srgbClr val="2B456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6446520"/>
            <a:ext cx="11018520" cy="10972"/>
          </a:xfrm>
          <a:prstGeom prst="rect">
            <a:avLst/>
          </a:prstGeom>
          <a:solidFill>
            <a:srgbClr val="2B4565"/>
          </a:solidFill>
          <a:ln w="12700">
            <a:solidFill>
              <a:srgbClr val="2B4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510528"/>
            <a:ext cx="59436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720" b="0">
                <a:solidFill>
                  <a:srgbClr val="A4B5CA"/>
                </a:solidFill>
                <a:latin typeface="Noto Sans CJK KR"/>
              </a:defRPr>
            </a:pPr>
            <a:r>
              <a:t>Policy source · configs/profiles.json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6510528"/>
            <a:ext cx="49834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  <a:defRPr sz="720" b="0">
                <a:solidFill>
                  <a:srgbClr val="A4B5CA"/>
                </a:solidFill>
                <a:latin typeface="Noto Sans CJK KR"/>
              </a:defRPr>
            </a:pPr>
            <a:r>
              <a:t>EVIDENCE · configs/profiles.json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389888"/>
            <a:ext cx="1088136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F5F8FC"/>
                </a:solidFill>
                <a:latin typeface="Noto Sans CJK KR"/>
              </a:defRPr>
            </a:pPr>
            <a:r>
              <a:t>외부 API 없이, single GPU에서, 권한을 지키며, 동시에 응답해야 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1828800"/>
            <a:ext cx="3547872" cy="1600200"/>
          </a:xfrm>
          <a:prstGeom prst="roundRect">
            <a:avLst/>
          </a:prstGeom>
          <a:solidFill>
            <a:srgbClr val="102038"/>
          </a:solidFill>
          <a:ln w="12700">
            <a:solidFill>
              <a:srgbClr val="2B4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" y="1947672"/>
            <a:ext cx="327355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39D6C1"/>
                </a:solidFill>
                <a:latin typeface="Noto Sans CJK KR"/>
              </a:defRPr>
            </a:pPr>
            <a:r>
              <a:t>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2185416"/>
            <a:ext cx="3273552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F5F8FC"/>
                </a:solidFill>
                <a:latin typeface="Noto Sans CJK KR"/>
              </a:defRPr>
            </a:pPr>
            <a:r>
              <a:t>금융 내부문서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" y="2514600"/>
            <a:ext cx="3273552" cy="7955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A4B5CA"/>
                </a:solidFill>
                <a:latin typeface="Noto Sans CJK KR"/>
              </a:defRPr>
            </a:pPr>
            <a:r>
              <a:t>합성 corpus 16개로 외부 유출 없이 검증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25112" y="1828800"/>
            <a:ext cx="3547872" cy="1600200"/>
          </a:xfrm>
          <a:prstGeom prst="roundRect">
            <a:avLst/>
          </a:prstGeom>
          <a:solidFill>
            <a:srgbClr val="102038"/>
          </a:solidFill>
          <a:ln w="12700">
            <a:solidFill>
              <a:srgbClr val="2B4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62272" y="1947672"/>
            <a:ext cx="327355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39D6C1"/>
                </a:solidFill>
                <a:latin typeface="Noto Sans CJK KR"/>
              </a:defRPr>
            </a:pPr>
            <a:r>
              <a:t>COMPUTE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62272" y="2185416"/>
            <a:ext cx="3273552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F5F8FC"/>
                </a:solidFill>
                <a:latin typeface="Noto Sans CJK KR"/>
              </a:defRPr>
            </a:pPr>
            <a:r>
              <a:t>Single A6000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62272" y="2514600"/>
            <a:ext cx="3273552" cy="7955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A4B5CA"/>
                </a:solidFill>
                <a:latin typeface="Noto Sans CJK KR"/>
              </a:defRPr>
            </a:pPr>
            <a:r>
              <a:t>48GiB 한 장 · Kubernetes/multi-node 제외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91856" y="1828800"/>
            <a:ext cx="3547872" cy="1600200"/>
          </a:xfrm>
          <a:prstGeom prst="roundRect">
            <a:avLst/>
          </a:prstGeom>
          <a:solidFill>
            <a:srgbClr val="102038"/>
          </a:solidFill>
          <a:ln w="12700">
            <a:solidFill>
              <a:srgbClr val="2B4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29016" y="1947672"/>
            <a:ext cx="327355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39D6C1"/>
                </a:solidFill>
                <a:latin typeface="Noto Sans CJK KR"/>
              </a:defRPr>
            </a:pPr>
            <a:r>
              <a:t>SERVICE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29016" y="2185416"/>
            <a:ext cx="3273552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F5F8FC"/>
                </a:solidFill>
                <a:latin typeface="Noto Sans CJK KR"/>
              </a:defRPr>
            </a:pPr>
            <a:r>
              <a:t>Concurrency 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29016" y="2514600"/>
            <a:ext cx="3273552" cy="7955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A4B5CA"/>
                </a:solidFill>
                <a:latin typeface="Noto Sans CJK KR"/>
              </a:defRPr>
            </a:pPr>
            <a:r>
              <a:t>P95 TTFT ≤ 2,000ms · error ≤ 1%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3547872"/>
            <a:ext cx="3547872" cy="1600200"/>
          </a:xfrm>
          <a:prstGeom prst="roundRect">
            <a:avLst/>
          </a:prstGeom>
          <a:solidFill>
            <a:srgbClr val="102038"/>
          </a:solidFill>
          <a:ln w="12700">
            <a:solidFill>
              <a:srgbClr val="2B4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5528" y="3666744"/>
            <a:ext cx="327355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39D6C1"/>
                </a:solidFill>
                <a:latin typeface="Noto Sans CJK KR"/>
              </a:defRPr>
            </a:pPr>
            <a:r>
              <a:t>QUALITY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8" y="3904487"/>
            <a:ext cx="3273552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F5F8FC"/>
                </a:solidFill>
                <a:latin typeface="Noto Sans CJK KR"/>
              </a:defRPr>
            </a:pPr>
            <a:r>
              <a:t>Quality ≥ 90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8" y="4233672"/>
            <a:ext cx="3273552" cy="7955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A4B5CA"/>
                </a:solidFill>
                <a:latin typeface="Noto Sans CJK KR"/>
              </a:defRPr>
            </a:pPr>
            <a:r>
              <a:t>정확성 · 근거성 · 인용 · 거부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25112" y="3547872"/>
            <a:ext cx="3547872" cy="1600200"/>
          </a:xfrm>
          <a:prstGeom prst="roundRect">
            <a:avLst/>
          </a:prstGeom>
          <a:solidFill>
            <a:srgbClr val="102038"/>
          </a:solidFill>
          <a:ln w="12700">
            <a:solidFill>
              <a:srgbClr val="2B4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62272" y="3666744"/>
            <a:ext cx="327355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39D6C1"/>
                </a:solidFill>
                <a:latin typeface="Noto Sans CJK KR"/>
              </a:defRPr>
            </a:pPr>
            <a:r>
              <a:t>SECURITY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62272" y="3904487"/>
            <a:ext cx="3273552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F5F8FC"/>
                </a:solidFill>
                <a:latin typeface="Noto Sans CJK KR"/>
              </a:defRPr>
            </a:pPr>
            <a:r>
              <a:t>ACL violation = 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62272" y="4233672"/>
            <a:ext cx="3273552" cy="7955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A4B5CA"/>
                </a:solidFill>
                <a:latin typeface="Noto Sans CJK KR"/>
              </a:defRPr>
            </a:pPr>
            <a:r>
              <a:t>권한 필터를 retrieval layer에서 강제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91856" y="3547872"/>
            <a:ext cx="3547872" cy="1600200"/>
          </a:xfrm>
          <a:prstGeom prst="roundRect">
            <a:avLst/>
          </a:prstGeom>
          <a:solidFill>
            <a:srgbClr val="102038"/>
          </a:solidFill>
          <a:ln w="12700">
            <a:solidFill>
              <a:srgbClr val="2B4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29016" y="3666744"/>
            <a:ext cx="327355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39D6C1"/>
                </a:solidFill>
                <a:latin typeface="Noto Sans CJK KR"/>
              </a:defRPr>
            </a:pPr>
            <a:r>
              <a:t>EVIDENCE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29016" y="3904487"/>
            <a:ext cx="3273552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F5F8FC"/>
                </a:solidFill>
                <a:latin typeface="Noto Sans CJK KR"/>
              </a:defRPr>
            </a:pPr>
            <a:r>
              <a:t>Immutable provenance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29016" y="4233672"/>
            <a:ext cx="3273552" cy="7955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A4B5CA"/>
                </a:solidFill>
                <a:latin typeface="Noto Sans CJK KR"/>
              </a:defRPr>
            </a:pPr>
            <a:r>
              <a:t>model/tokenizer/prompt/eval/config revision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9D6C1"/>
          </a:solidFill>
          <a:ln w="12700">
            <a:solidFill>
              <a:srgbClr val="39D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97840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850" b="1">
                <a:solidFill>
                  <a:srgbClr val="39D6C1"/>
                </a:solidFill>
                <a:latin typeface="Noto Sans CJK KR"/>
              </a:defRPr>
            </a:pPr>
            <a:r>
              <a:t>02 · DECISION FRAME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83464"/>
            <a:ext cx="5029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  <a:defRPr sz="1600" b="1">
                <a:solidFill>
                  <a:srgbClr val="53708F"/>
                </a:solidFill>
                <a:latin typeface="Noto Sans CJK KR"/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21792"/>
            <a:ext cx="10698480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F5F8FC"/>
                </a:solidFill>
                <a:latin typeface="Noto Sans CJK KR"/>
              </a:defRPr>
            </a:pPr>
            <a:r>
              <a:t>내가 집중한 질문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18520" cy="10972"/>
          </a:xfrm>
          <a:prstGeom prst="rect">
            <a:avLst/>
          </a:prstGeom>
          <a:solidFill>
            <a:srgbClr val="2B456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6446520"/>
            <a:ext cx="11018520" cy="10972"/>
          </a:xfrm>
          <a:prstGeom prst="rect">
            <a:avLst/>
          </a:prstGeom>
          <a:solidFill>
            <a:srgbClr val="2B4565"/>
          </a:solidFill>
          <a:ln w="12700">
            <a:solidFill>
              <a:srgbClr val="2B4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510528"/>
            <a:ext cx="59436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720" b="0">
                <a:solidFill>
                  <a:srgbClr val="A4B5CA"/>
                </a:solidFill>
                <a:latin typeface="Noto Sans CJK KR"/>
              </a:defRPr>
            </a:pPr>
            <a:r>
              <a:t>LLM의 의견은 evidence가 아니다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6510528"/>
            <a:ext cx="49834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  <a:defRPr sz="720" b="0">
                <a:solidFill>
                  <a:srgbClr val="A4B5CA"/>
                </a:solidFill>
                <a:latin typeface="Noto Sans CJK KR"/>
              </a:defRPr>
            </a:pPr>
            <a:r>
              <a:t>EVIDENCE · schemas/run-result.schema.json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508760"/>
            <a:ext cx="10607040" cy="1051560"/>
          </a:xfrm>
          <a:prstGeom prst="roundRect">
            <a:avLst/>
          </a:prstGeom>
          <a:solidFill>
            <a:srgbClr val="102038"/>
          </a:solidFill>
          <a:ln w="12700">
            <a:solidFill>
              <a:srgbClr val="39D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1755648"/>
            <a:ext cx="10058400" cy="5943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F5F8FC"/>
                </a:solidFill>
                <a:latin typeface="Noto Sans CJK KR"/>
              </a:defRPr>
            </a:pPr>
            <a:r>
              <a:t>가장 큰 모델이 아니라, 제한된 GPU에서 어떤 구성이 실제로 운영 가능한가?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816352"/>
            <a:ext cx="3410712" cy="758952"/>
          </a:xfrm>
          <a:prstGeom prst="roundRect">
            <a:avLst/>
          </a:prstGeom>
          <a:solidFill>
            <a:srgbClr val="142B49"/>
          </a:solidFill>
          <a:ln w="12700">
            <a:solidFill>
              <a:srgbClr val="2B4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3544" y="2926080"/>
            <a:ext cx="313639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39D6C1"/>
                </a:solidFill>
                <a:latin typeface="Noto Sans CJK KR"/>
              </a:defRPr>
            </a:pPr>
            <a:r>
              <a:t>Quality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" y="3182112"/>
            <a:ext cx="3136392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850" b="0">
                <a:solidFill>
                  <a:srgbClr val="A4B5CA"/>
                </a:solidFill>
                <a:latin typeface="Noto Sans CJK KR"/>
              </a:defRPr>
            </a:pPr>
            <a:r>
              <a:t>60-case deterministic evaluation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0832" y="2816352"/>
            <a:ext cx="3410712" cy="758952"/>
          </a:xfrm>
          <a:prstGeom prst="roundRect">
            <a:avLst/>
          </a:prstGeom>
          <a:solidFill>
            <a:srgbClr val="142B49"/>
          </a:solidFill>
          <a:ln w="12700">
            <a:solidFill>
              <a:srgbClr val="2B4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17136" y="2926080"/>
            <a:ext cx="313639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39D6C1"/>
                </a:solidFill>
                <a:latin typeface="Noto Sans CJK KR"/>
              </a:defRPr>
            </a:pPr>
            <a:r>
              <a:t>Latency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17136" y="3182112"/>
            <a:ext cx="3136392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850" b="0">
                <a:solidFill>
                  <a:srgbClr val="A4B5CA"/>
                </a:solidFill>
                <a:latin typeface="Noto Sans CJK KR"/>
              </a:defRPr>
            </a:pPr>
            <a:r>
              <a:t>server TTFT ≠ user TTFT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64424" y="2816352"/>
            <a:ext cx="3410712" cy="758952"/>
          </a:xfrm>
          <a:prstGeom prst="roundRect">
            <a:avLst/>
          </a:prstGeom>
          <a:solidFill>
            <a:srgbClr val="142B49"/>
          </a:solidFill>
          <a:ln w="12700">
            <a:solidFill>
              <a:srgbClr val="2B4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10728" y="2926080"/>
            <a:ext cx="313639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39D6C1"/>
                </a:solidFill>
                <a:latin typeface="Noto Sans CJK KR"/>
              </a:defRPr>
            </a:pPr>
            <a:r>
              <a:t>Throughput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10728" y="3182112"/>
            <a:ext cx="3136392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850" b="0">
                <a:solidFill>
                  <a:srgbClr val="A4B5CA"/>
                </a:solidFill>
                <a:latin typeface="Noto Sans CJK KR"/>
              </a:defRPr>
            </a:pPr>
            <a:r>
              <a:t>aggregate output tokens/s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3749039"/>
            <a:ext cx="3410712" cy="758952"/>
          </a:xfrm>
          <a:prstGeom prst="roundRect">
            <a:avLst/>
          </a:prstGeom>
          <a:solidFill>
            <a:srgbClr val="142B49"/>
          </a:solidFill>
          <a:ln w="12700">
            <a:solidFill>
              <a:srgbClr val="2B4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3544" y="3858768"/>
            <a:ext cx="313639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39D6C1"/>
                </a:solidFill>
                <a:latin typeface="Noto Sans CJK KR"/>
              </a:defRPr>
            </a:pPr>
            <a:r>
              <a:t>Memory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" y="4114800"/>
            <a:ext cx="3136392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850" b="0">
                <a:solidFill>
                  <a:srgbClr val="A4B5CA"/>
                </a:solidFill>
                <a:latin typeface="Noto Sans CJK KR"/>
              </a:defRPr>
            </a:pPr>
            <a:r>
              <a:t>budget ≠ process peak ≠ native fit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70832" y="3749039"/>
            <a:ext cx="3410712" cy="758952"/>
          </a:xfrm>
          <a:prstGeom prst="roundRect">
            <a:avLst/>
          </a:prstGeom>
          <a:solidFill>
            <a:srgbClr val="142B49"/>
          </a:solidFill>
          <a:ln w="12700">
            <a:solidFill>
              <a:srgbClr val="2B4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17136" y="3858768"/>
            <a:ext cx="313639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39D6C1"/>
                </a:solidFill>
                <a:latin typeface="Noto Sans CJK KR"/>
              </a:defRPr>
            </a:pPr>
            <a:r>
              <a:t>Security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17136" y="4114800"/>
            <a:ext cx="3136392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850" b="0">
                <a:solidFill>
                  <a:srgbClr val="A4B5CA"/>
                </a:solidFill>
                <a:latin typeface="Noto Sans CJK KR"/>
              </a:defRPr>
            </a:pPr>
            <a:r>
              <a:t>retrieval ACL + injection diagnostics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64424" y="3749039"/>
            <a:ext cx="3410712" cy="758952"/>
          </a:xfrm>
          <a:prstGeom prst="roundRect">
            <a:avLst/>
          </a:prstGeom>
          <a:solidFill>
            <a:srgbClr val="142B49"/>
          </a:solidFill>
          <a:ln w="12700">
            <a:solidFill>
              <a:srgbClr val="2B4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10728" y="3858768"/>
            <a:ext cx="313639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39D6C1"/>
                </a:solidFill>
                <a:latin typeface="Noto Sans CJK KR"/>
              </a:defRPr>
            </a:pPr>
            <a:r>
              <a:t>Reproducibility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10728" y="4114800"/>
            <a:ext cx="3136392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850" b="0">
                <a:solidFill>
                  <a:srgbClr val="A4B5CA"/>
                </a:solidFill>
                <a:latin typeface="Noto Sans CJK KR"/>
              </a:defRPr>
            </a:pPr>
            <a:r>
              <a:t>immutable revisions + result schema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983480"/>
            <a:ext cx="103327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F6BA57"/>
                </a:solidFill>
                <a:latin typeface="Noto Sans CJK KR"/>
              </a:defRPr>
            </a:pPr>
            <a:r>
              <a:t>추정은 후보 선정에만, 최종 판정은 test · schema · actual run에만 사용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9D6C1"/>
          </a:solidFill>
          <a:ln w="12700">
            <a:solidFill>
              <a:srgbClr val="39D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97840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850" b="1">
                <a:solidFill>
                  <a:srgbClr val="39D6C1"/>
                </a:solidFill>
                <a:latin typeface="Noto Sans CJK KR"/>
              </a:defRPr>
            </a:pPr>
            <a:r>
              <a:t>03 · INTEGRATED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83464"/>
            <a:ext cx="5029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  <a:defRPr sz="1600" b="1">
                <a:solidFill>
                  <a:srgbClr val="53708F"/>
                </a:solidFill>
                <a:latin typeface="Noto Sans CJK KR"/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21792"/>
            <a:ext cx="10698480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F5F8FC"/>
                </a:solidFill>
                <a:latin typeface="Noto Sans CJK KR"/>
              </a:defRPr>
            </a:pPr>
            <a:r>
              <a:t>Requirement에서 Evidence까지 하나의 실행 경로로 닫았다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18520" cy="10972"/>
          </a:xfrm>
          <a:prstGeom prst="rect">
            <a:avLst/>
          </a:prstGeom>
          <a:solidFill>
            <a:srgbClr val="2B456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6446520"/>
            <a:ext cx="11018520" cy="10972"/>
          </a:xfrm>
          <a:prstGeom prst="rect">
            <a:avLst/>
          </a:prstGeom>
          <a:solidFill>
            <a:srgbClr val="2B4565"/>
          </a:solidFill>
          <a:ln w="12700">
            <a:solidFill>
              <a:srgbClr val="2B4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510528"/>
            <a:ext cx="59436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720" b="0">
                <a:solidFill>
                  <a:srgbClr val="A4B5CA"/>
                </a:solidFill>
                <a:latin typeface="Noto Sans CJK KR"/>
              </a:defRPr>
            </a:pPr>
            <a:r>
              <a:t>docker compose + external finllm-net · actual rehearsal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6510528"/>
            <a:ext cx="49834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  <a:defRPr sz="720" b="0">
                <a:solidFill>
                  <a:srgbClr val="A4B5CA"/>
                </a:solidFill>
                <a:latin typeface="Noto Sans CJK KR"/>
              </a:defRPr>
            </a:pPr>
            <a:r>
              <a:t>EVIDENCE · deploy/compose.yaml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508760"/>
            <a:ext cx="1874519" cy="960120"/>
          </a:xfrm>
          <a:prstGeom prst="roundRect">
            <a:avLst/>
          </a:prstGeom>
          <a:solidFill>
            <a:srgbClr val="102038"/>
          </a:solidFill>
          <a:ln w="12700">
            <a:solidFill>
              <a:srgbClr val="39D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728216"/>
            <a:ext cx="1691639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F5F8FC"/>
                </a:solidFill>
                <a:latin typeface="Noto Sans CJK KR"/>
              </a:defRPr>
            </a:pPr>
            <a:r>
              <a:t>Client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075688"/>
            <a:ext cx="1691639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A4B5CA"/>
                </a:solidFill>
                <a:latin typeface="Noto Sans CJK KR"/>
              </a:defRPr>
            </a:pPr>
            <a:r>
              <a:t>Private network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9463" y="1847088"/>
            <a:ext cx="2286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39D6C1"/>
                </a:solidFill>
                <a:latin typeface="Noto Sans CJK KR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34639" y="1508760"/>
            <a:ext cx="1874519" cy="960120"/>
          </a:xfrm>
          <a:prstGeom prst="roundRect">
            <a:avLst/>
          </a:prstGeom>
          <a:solidFill>
            <a:srgbClr val="102038"/>
          </a:solidFill>
          <a:ln w="12700">
            <a:solidFill>
              <a:srgbClr val="39D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26079" y="1728216"/>
            <a:ext cx="1691639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F5F8FC"/>
                </a:solidFill>
                <a:latin typeface="Noto Sans CJK KR"/>
              </a:defRPr>
            </a:pPr>
            <a:r>
              <a:t>FinLLM 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79" y="2075688"/>
            <a:ext cx="1691639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A4B5CA"/>
                </a:solidFill>
                <a:latin typeface="Noto Sans CJK KR"/>
              </a:defRPr>
            </a:pPr>
            <a:r>
              <a:t>/health · /ready · /metrics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45736" y="1847088"/>
            <a:ext cx="2286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39D6C1"/>
                </a:solidFill>
                <a:latin typeface="Noto Sans CJK KR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10912" y="1508760"/>
            <a:ext cx="1874519" cy="960120"/>
          </a:xfrm>
          <a:prstGeom prst="roundRect">
            <a:avLst/>
          </a:prstGeom>
          <a:solidFill>
            <a:srgbClr val="102038"/>
          </a:solidFill>
          <a:ln w="12700">
            <a:solidFill>
              <a:srgbClr val="39D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02351" y="1728216"/>
            <a:ext cx="1691639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F5F8FC"/>
                </a:solidFill>
                <a:latin typeface="Noto Sans CJK KR"/>
              </a:defRPr>
            </a:pPr>
            <a:r>
              <a:t>ACL Retriever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02351" y="2075688"/>
            <a:ext cx="1691639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A4B5CA"/>
                </a:solidFill>
                <a:latin typeface="Noto Sans CJK KR"/>
              </a:defRPr>
            </a:pPr>
            <a:r>
              <a:t>deterministic index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22007" y="1847088"/>
            <a:ext cx="2286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39D6C1"/>
                </a:solidFill>
                <a:latin typeface="Noto Sans CJK KR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87183" y="1508760"/>
            <a:ext cx="1874519" cy="960120"/>
          </a:xfrm>
          <a:prstGeom prst="roundRect">
            <a:avLst/>
          </a:prstGeom>
          <a:solidFill>
            <a:srgbClr val="102038"/>
          </a:solidFill>
          <a:ln w="12700">
            <a:solidFill>
              <a:srgbClr val="39D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78623" y="1728216"/>
            <a:ext cx="1691639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F5F8FC"/>
                </a:solidFill>
                <a:latin typeface="Noto Sans CJK KR"/>
              </a:defRPr>
            </a:pPr>
            <a:r>
              <a:t>vLLM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78623" y="2075688"/>
            <a:ext cx="1691639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A4B5CA"/>
                </a:solidFill>
                <a:latin typeface="Noto Sans CJK KR"/>
              </a:defRPr>
            </a:pPr>
            <a:r>
              <a:t>OpenAI-compatible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98280" y="1847088"/>
            <a:ext cx="2286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39D6C1"/>
                </a:solidFill>
                <a:latin typeface="Noto Sans CJK KR"/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363456" y="1508760"/>
            <a:ext cx="1874519" cy="960120"/>
          </a:xfrm>
          <a:prstGeom prst="roundRect">
            <a:avLst/>
          </a:prstGeom>
          <a:solidFill>
            <a:srgbClr val="102038"/>
          </a:solidFill>
          <a:ln w="12700">
            <a:solidFill>
              <a:srgbClr val="39D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54896" y="1728216"/>
            <a:ext cx="1691639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F5F8FC"/>
                </a:solidFill>
                <a:latin typeface="Noto Sans CJK KR"/>
              </a:defRPr>
            </a:pPr>
            <a:r>
              <a:t>RTX A6000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54896" y="2075688"/>
            <a:ext cx="1691639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A4B5CA"/>
                </a:solidFill>
                <a:latin typeface="Noto Sans CJK KR"/>
              </a:defRPr>
            </a:pPr>
            <a:r>
              <a:t>GPU 1 · 48GiB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2862072"/>
            <a:ext cx="5349240" cy="1399032"/>
          </a:xfrm>
          <a:prstGeom prst="roundRect">
            <a:avLst/>
          </a:prstGeom>
          <a:solidFill>
            <a:srgbClr val="142B49"/>
          </a:solidFill>
          <a:ln w="12700">
            <a:solidFill>
              <a:srgbClr val="2B4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59" y="3035808"/>
            <a:ext cx="20116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F6BA57"/>
                </a:solidFill>
                <a:latin typeface="Noto Sans CJK KR"/>
              </a:defRPr>
            </a:pPr>
            <a:r>
              <a:t>OBSERVE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59" y="3328416"/>
            <a:ext cx="4937760" cy="621792"/>
          </a:xfrm>
          <a:prstGeom prst="rect">
            <a:avLst/>
          </a:prstGeom>
          <a:noFill/>
        </p:spPr>
        <p:txBody>
          <a:bodyPr wrap="square" lIns="45720" rIns="18288">
            <a:spAutoFit/>
          </a:bodyPr>
          <a:lstStyle/>
          <a:p>
            <a:pPr>
              <a:spcAft>
                <a:spcPts val="400"/>
              </a:spcAft>
              <a:defRPr sz="900">
                <a:solidFill>
                  <a:srgbClr val="A4B5CA"/>
                </a:solidFill>
                <a:latin typeface="Noto Sans CJK KR"/>
              </a:defRPr>
            </a:pPr>
            <a:r>
              <a:t>• Prometheus</a:t>
            </a:r>
          </a:p>
          <a:p>
            <a:pPr>
              <a:spcAft>
                <a:spcPts val="400"/>
              </a:spcAft>
              <a:defRPr sz="900">
                <a:solidFill>
                  <a:srgbClr val="A4B5CA"/>
                </a:solidFill>
                <a:latin typeface="Noto Sans CJK KR"/>
              </a:defRPr>
            </a:pPr>
            <a:r>
              <a:t>• Grafana</a:t>
            </a:r>
          </a:p>
          <a:p>
            <a:pPr>
              <a:spcAft>
                <a:spcPts val="400"/>
              </a:spcAft>
              <a:defRPr sz="900">
                <a:solidFill>
                  <a:srgbClr val="A4B5CA"/>
                </a:solidFill>
                <a:latin typeface="Noto Sans CJK KR"/>
              </a:defRPr>
            </a:pPr>
            <a:r>
              <a:t>• 10 alert rules</a:t>
            </a:r>
          </a:p>
          <a:p>
            <a:pPr>
              <a:spcAft>
                <a:spcPts val="400"/>
              </a:spcAft>
              <a:defRPr sz="900">
                <a:solidFill>
                  <a:srgbClr val="A4B5CA"/>
                </a:solidFill>
                <a:latin typeface="Noto Sans CJK KR"/>
              </a:defRPr>
            </a:pPr>
            <a:r>
              <a:t>• DCGM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2200" y="2862072"/>
            <a:ext cx="5349240" cy="1399032"/>
          </a:xfrm>
          <a:prstGeom prst="roundRect">
            <a:avLst/>
          </a:prstGeom>
          <a:solidFill>
            <a:srgbClr val="142B49"/>
          </a:solidFill>
          <a:ln w="12700">
            <a:solidFill>
              <a:srgbClr val="2B4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36792" y="3035808"/>
            <a:ext cx="20116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F6BA57"/>
                </a:solidFill>
                <a:latin typeface="Noto Sans CJK KR"/>
              </a:defRPr>
            </a:pPr>
            <a:r>
              <a:t>CHANGE SAFETY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36792" y="3328416"/>
            <a:ext cx="4937760" cy="621792"/>
          </a:xfrm>
          <a:prstGeom prst="rect">
            <a:avLst/>
          </a:prstGeom>
          <a:noFill/>
        </p:spPr>
        <p:txBody>
          <a:bodyPr wrap="square" lIns="45720" rIns="18288">
            <a:spAutoFit/>
          </a:bodyPr>
          <a:lstStyle/>
          <a:p>
            <a:pPr>
              <a:spcAft>
                <a:spcPts val="400"/>
              </a:spcAft>
              <a:defRPr sz="900">
                <a:solidFill>
                  <a:srgbClr val="A4B5CA"/>
                </a:solidFill>
                <a:latin typeface="Noto Sans CJK KR"/>
              </a:defRPr>
            </a:pPr>
            <a:r>
              <a:t>• 153 tests</a:t>
            </a:r>
          </a:p>
          <a:p>
            <a:pPr>
              <a:spcAft>
                <a:spcPts val="400"/>
              </a:spcAft>
              <a:defRPr sz="900">
                <a:solidFill>
                  <a:srgbClr val="A4B5CA"/>
                </a:solidFill>
                <a:latin typeface="Noto Sans CJK KR"/>
              </a:defRPr>
            </a:pPr>
            <a:r>
              <a:t>• 27 result schemas</a:t>
            </a:r>
          </a:p>
          <a:p>
            <a:pPr>
              <a:spcAft>
                <a:spcPts val="400"/>
              </a:spcAft>
              <a:defRPr sz="900">
                <a:solidFill>
                  <a:srgbClr val="A4B5CA"/>
                </a:solidFill>
                <a:latin typeface="Noto Sans CJK KR"/>
              </a:defRPr>
            </a:pPr>
            <a:r>
              <a:t>• 11-stage gate</a:t>
            </a:r>
          </a:p>
          <a:p>
            <a:pPr>
              <a:spcAft>
                <a:spcPts val="400"/>
              </a:spcAft>
              <a:defRPr sz="900">
                <a:solidFill>
                  <a:srgbClr val="A4B5CA"/>
                </a:solidFill>
                <a:latin typeface="Noto Sans CJK KR"/>
              </a:defRPr>
            </a:pPr>
            <a:r>
              <a:t>• immutable rollback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4754880"/>
            <a:ext cx="1033272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6EE7A8"/>
                </a:solidFill>
                <a:latin typeface="Noto Sans CJK KR"/>
              </a:defRPr>
            </a:pPr>
            <a:r>
              <a:t>finllm-net에서 API/vLLM/DCGM target 4개 모두 up=1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9D6C1"/>
          </a:solidFill>
          <a:ln w="12700">
            <a:solidFill>
              <a:srgbClr val="39D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97840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850" b="1">
                <a:solidFill>
                  <a:srgbClr val="39D6C1"/>
                </a:solidFill>
                <a:latin typeface="Noto Sans CJK KR"/>
              </a:defRPr>
            </a:pPr>
            <a:r>
              <a:t>04 · QUANTIZATION / GPU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83464"/>
            <a:ext cx="5029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  <a:defRPr sz="1600" b="1">
                <a:solidFill>
                  <a:srgbClr val="53708F"/>
                </a:solidFill>
                <a:latin typeface="Noto Sans CJK KR"/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21792"/>
            <a:ext cx="10698480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F5F8FC"/>
                </a:solidFill>
                <a:latin typeface="Noto Sans CJK KR"/>
              </a:defRPr>
            </a:pPr>
            <a:r>
              <a:t>14B AWQ 0.46 eager를 다음 native 검증 후보로 선택했다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18520" cy="10972"/>
          </a:xfrm>
          <a:prstGeom prst="rect">
            <a:avLst/>
          </a:prstGeom>
          <a:solidFill>
            <a:srgbClr val="2B456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6446520"/>
            <a:ext cx="11018520" cy="10972"/>
          </a:xfrm>
          <a:prstGeom prst="rect">
            <a:avLst/>
          </a:prstGeom>
          <a:solidFill>
            <a:srgbClr val="2B4565"/>
          </a:solidFill>
          <a:ln w="12700">
            <a:solidFill>
              <a:srgbClr val="2B4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510528"/>
            <a:ext cx="59436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720" b="0">
                <a:solidFill>
                  <a:srgbClr val="A4B5CA"/>
                </a:solidFill>
                <a:latin typeface="Noto Sans CJK KR"/>
              </a:defRPr>
            </a:pPr>
            <a:r>
              <a:t>Measured on A6000; never relabeled as RTX 4090/5090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6510528"/>
            <a:ext cx="49834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  <a:defRPr sz="720" b="0">
                <a:solidFill>
                  <a:srgbClr val="A4B5CA"/>
                </a:solidFill>
                <a:latin typeface="Noto Sans CJK KR"/>
              </a:defRPr>
            </a:pPr>
            <a:r>
              <a:t>EVIDENCE · results/2026-08-08c-profile-a-qwen3-14b-awq-deploymentmatched-eager-r1.json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58368" y="1481328"/>
          <a:ext cx="864108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1005840"/>
                <a:gridCol w="1234440"/>
                <a:gridCol w="1234440"/>
                <a:gridCol w="960120"/>
                <a:gridCol w="1143000"/>
                <a:gridCol w="914400"/>
              </a:tblGrid>
              <a:tr h="62865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39D6C1"/>
                          </a:solidFill>
                          <a:latin typeface="Noto Sans CJK KR"/>
                        </a:defRPr>
                      </a:pPr>
                      <a:r>
                        <a:t>구성</a:t>
                      </a:r>
                    </a:p>
                  </a:txBody>
                  <a:tcPr marL="45720" marR="45720" marT="36576" marB="36576">
                    <a:solidFill>
                      <a:srgbClr val="17395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 b="1">
                          <a:solidFill>
                            <a:srgbClr val="39D6C1"/>
                          </a:solidFill>
                          <a:latin typeface="Noto Sans CJK KR"/>
                        </a:defRPr>
                      </a:pPr>
                      <a:r>
                        <a:t>Quality</a:t>
                      </a:r>
                    </a:p>
                  </a:txBody>
                  <a:tcPr marL="45720" marR="45720" marT="36576" marB="36576">
                    <a:solidFill>
                      <a:srgbClr val="17395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 b="1">
                          <a:solidFill>
                            <a:srgbClr val="39D6C1"/>
                          </a:solidFill>
                          <a:latin typeface="Noto Sans CJK KR"/>
                        </a:defRPr>
                      </a:pPr>
                      <a:r>
                        <a:t>server P95</a:t>
                      </a:r>
                    </a:p>
                  </a:txBody>
                  <a:tcPr marL="45720" marR="45720" marT="36576" marB="36576">
                    <a:solidFill>
                      <a:srgbClr val="17395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 b="1">
                          <a:solidFill>
                            <a:srgbClr val="39D6C1"/>
                          </a:solidFill>
                          <a:latin typeface="Noto Sans CJK KR"/>
                        </a:defRPr>
                      </a:pPr>
                      <a:r>
                        <a:t>user P95</a:t>
                      </a:r>
                    </a:p>
                  </a:txBody>
                  <a:tcPr marL="45720" marR="45720" marT="36576" marB="36576">
                    <a:solidFill>
                      <a:srgbClr val="17395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 b="1">
                          <a:solidFill>
                            <a:srgbClr val="39D6C1"/>
                          </a:solidFill>
                          <a:latin typeface="Noto Sans CJK KR"/>
                        </a:defRPr>
                      </a:pPr>
                      <a:r>
                        <a:t>tok/s</a:t>
                      </a:r>
                    </a:p>
                  </a:txBody>
                  <a:tcPr marL="45720" marR="45720" marT="36576" marB="36576">
                    <a:solidFill>
                      <a:srgbClr val="17395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 b="1">
                          <a:solidFill>
                            <a:srgbClr val="39D6C1"/>
                          </a:solidFill>
                          <a:latin typeface="Noto Sans CJK KR"/>
                        </a:defRPr>
                      </a:pPr>
                      <a:r>
                        <a:t>Peak</a:t>
                      </a:r>
                    </a:p>
                  </a:txBody>
                  <a:tcPr marL="45720" marR="45720" marT="36576" marB="36576">
                    <a:solidFill>
                      <a:srgbClr val="17395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 b="1">
                          <a:solidFill>
                            <a:srgbClr val="39D6C1"/>
                          </a:solidFill>
                          <a:latin typeface="Noto Sans CJK KR"/>
                        </a:defRPr>
                      </a:pPr>
                      <a:r>
                        <a:t>@8192</a:t>
                      </a:r>
                    </a:p>
                  </a:txBody>
                  <a:tcPr marL="45720" marR="45720" marT="36576" marB="36576">
                    <a:solidFill>
                      <a:srgbClr val="17395B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F5F8FC"/>
                          </a:solidFill>
                          <a:latin typeface="Noto Sans CJK KR"/>
                        </a:defRPr>
                      </a:pPr>
                      <a:r>
                        <a:t>8B BF16 · 0.50</a:t>
                      </a:r>
                    </a:p>
                  </a:txBody>
                  <a:tcPr marL="45720" marR="45720" marT="36576" marB="36576">
                    <a:solidFill>
                      <a:srgbClr val="10203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 b="0">
                          <a:solidFill>
                            <a:srgbClr val="F5F8FC"/>
                          </a:solidFill>
                          <a:latin typeface="Noto Sans CJK KR"/>
                        </a:defRPr>
                      </a:pPr>
                      <a:r>
                        <a:t>95.926</a:t>
                      </a:r>
                    </a:p>
                  </a:txBody>
                  <a:tcPr marL="45720" marR="45720" marT="36576" marB="36576">
                    <a:solidFill>
                      <a:srgbClr val="10203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 b="0">
                          <a:solidFill>
                            <a:srgbClr val="F5F8FC"/>
                          </a:solidFill>
                          <a:latin typeface="Noto Sans CJK KR"/>
                        </a:defRPr>
                      </a:pPr>
                      <a:r>
                        <a:t>77.329ms</a:t>
                      </a:r>
                    </a:p>
                  </a:txBody>
                  <a:tcPr marL="45720" marR="45720" marT="36576" marB="36576">
                    <a:solidFill>
                      <a:srgbClr val="10203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 b="0">
                          <a:solidFill>
                            <a:srgbClr val="F5F8FC"/>
                          </a:solidFill>
                          <a:latin typeface="Noto Sans CJK KR"/>
                        </a:defRPr>
                      </a:pPr>
                      <a:r>
                        <a:t>1,344.653ms</a:t>
                      </a:r>
                    </a:p>
                  </a:txBody>
                  <a:tcPr marL="45720" marR="45720" marT="36576" marB="36576">
                    <a:solidFill>
                      <a:srgbClr val="10203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 b="0">
                          <a:solidFill>
                            <a:srgbClr val="F5F8FC"/>
                          </a:solidFill>
                          <a:latin typeface="Noto Sans CJK KR"/>
                        </a:defRPr>
                      </a:pPr>
                      <a:r>
                        <a:t>286.955</a:t>
                      </a:r>
                    </a:p>
                  </a:txBody>
                  <a:tcPr marL="45720" marR="45720" marT="36576" marB="36576">
                    <a:solidFill>
                      <a:srgbClr val="10203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 b="0">
                          <a:solidFill>
                            <a:srgbClr val="F5F8FC"/>
                          </a:solidFill>
                          <a:latin typeface="Noto Sans CJK KR"/>
                        </a:defRPr>
                      </a:pPr>
                      <a:r>
                        <a:t>24.006GiB</a:t>
                      </a:r>
                    </a:p>
                  </a:txBody>
                  <a:tcPr marL="45720" marR="45720" marT="36576" marB="36576">
                    <a:solidFill>
                      <a:srgbClr val="10203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 b="0">
                          <a:solidFill>
                            <a:srgbClr val="F5F8FC"/>
                          </a:solidFill>
                          <a:latin typeface="Noto Sans CJK KR"/>
                        </a:defRPr>
                      </a:pPr>
                      <a:r>
                        <a:t>7.31</a:t>
                      </a:r>
                    </a:p>
                  </a:txBody>
                  <a:tcPr marL="45720" marR="45720" marT="36576" marB="36576">
                    <a:solidFill>
                      <a:srgbClr val="102038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F5F8FC"/>
                          </a:solidFill>
                          <a:latin typeface="Noto Sans CJK KR"/>
                        </a:defRPr>
                      </a:pPr>
                      <a:r>
                        <a:t>14B AWQ · 0.50</a:t>
                      </a:r>
                    </a:p>
                  </a:txBody>
                  <a:tcPr marL="45720" marR="45720" marT="36576" marB="36576">
                    <a:solidFill>
                      <a:srgbClr val="10203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 b="0">
                          <a:solidFill>
                            <a:srgbClr val="F5F8FC"/>
                          </a:solidFill>
                          <a:latin typeface="Noto Sans CJK KR"/>
                        </a:defRPr>
                      </a:pPr>
                      <a:r>
                        <a:t>97.667</a:t>
                      </a:r>
                    </a:p>
                  </a:txBody>
                  <a:tcPr marL="45720" marR="45720" marT="36576" marB="36576">
                    <a:solidFill>
                      <a:srgbClr val="10203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 b="0">
                          <a:solidFill>
                            <a:srgbClr val="F5F8FC"/>
                          </a:solidFill>
                          <a:latin typeface="Noto Sans CJK KR"/>
                        </a:defRPr>
                      </a:pPr>
                      <a:r>
                        <a:t>129.828ms</a:t>
                      </a:r>
                    </a:p>
                  </a:txBody>
                  <a:tcPr marL="45720" marR="45720" marT="36576" marB="36576">
                    <a:solidFill>
                      <a:srgbClr val="10203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 b="0">
                          <a:solidFill>
                            <a:srgbClr val="F5F8FC"/>
                          </a:solidFill>
                          <a:latin typeface="Noto Sans CJK KR"/>
                        </a:defRPr>
                      </a:pPr>
                      <a:r>
                        <a:t>1,310.587ms</a:t>
                      </a:r>
                    </a:p>
                  </a:txBody>
                  <a:tcPr marL="45720" marR="45720" marT="36576" marB="36576">
                    <a:solidFill>
                      <a:srgbClr val="10203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 b="0">
                          <a:solidFill>
                            <a:srgbClr val="F5F8FC"/>
                          </a:solidFill>
                          <a:latin typeface="Noto Sans CJK KR"/>
                        </a:defRPr>
                      </a:pPr>
                      <a:r>
                        <a:t>313.238</a:t>
                      </a:r>
                    </a:p>
                  </a:txBody>
                  <a:tcPr marL="45720" marR="45720" marT="36576" marB="36576">
                    <a:solidFill>
                      <a:srgbClr val="10203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 b="0">
                          <a:solidFill>
                            <a:srgbClr val="F5F8FC"/>
                          </a:solidFill>
                          <a:latin typeface="Noto Sans CJK KR"/>
                        </a:defRPr>
                      </a:pPr>
                      <a:r>
                        <a:t>23.836GiB</a:t>
                      </a:r>
                    </a:p>
                  </a:txBody>
                  <a:tcPr marL="45720" marR="45720" marT="36576" marB="36576">
                    <a:solidFill>
                      <a:srgbClr val="10203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 b="0">
                          <a:solidFill>
                            <a:srgbClr val="F5F8FC"/>
                          </a:solidFill>
                          <a:latin typeface="Noto Sans CJK KR"/>
                        </a:defRPr>
                      </a:pPr>
                      <a:r>
                        <a:t>11.05</a:t>
                      </a:r>
                    </a:p>
                  </a:txBody>
                  <a:tcPr marL="45720" marR="45720" marT="36576" marB="36576">
                    <a:solidFill>
                      <a:srgbClr val="102038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F5F8FC"/>
                          </a:solidFill>
                          <a:latin typeface="Noto Sans CJK KR"/>
                        </a:defRPr>
                      </a:pPr>
                      <a:r>
                        <a:t>14B AWQ · 0.46</a:t>
                      </a:r>
                    </a:p>
                  </a:txBody>
                  <a:tcPr marL="45720" marR="45720" marT="36576" marB="36576">
                    <a:solidFill>
                      <a:srgbClr val="14413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 b="1">
                          <a:solidFill>
                            <a:srgbClr val="F5F8FC"/>
                          </a:solidFill>
                          <a:latin typeface="Noto Sans CJK KR"/>
                        </a:defRPr>
                      </a:pPr>
                      <a:r>
                        <a:t>97.667</a:t>
                      </a:r>
                    </a:p>
                  </a:txBody>
                  <a:tcPr marL="45720" marR="45720" marT="36576" marB="36576">
                    <a:solidFill>
                      <a:srgbClr val="14413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 b="1">
                          <a:solidFill>
                            <a:srgbClr val="F5F8FC"/>
                          </a:solidFill>
                          <a:latin typeface="Noto Sans CJK KR"/>
                        </a:defRPr>
                      </a:pPr>
                      <a:r>
                        <a:t>129.995ms</a:t>
                      </a:r>
                    </a:p>
                  </a:txBody>
                  <a:tcPr marL="45720" marR="45720" marT="36576" marB="36576">
                    <a:solidFill>
                      <a:srgbClr val="14413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 b="1">
                          <a:solidFill>
                            <a:srgbClr val="F5F8FC"/>
                          </a:solidFill>
                          <a:latin typeface="Noto Sans CJK KR"/>
                        </a:defRPr>
                      </a:pPr>
                      <a:r>
                        <a:t>1,273.402ms</a:t>
                      </a:r>
                    </a:p>
                  </a:txBody>
                  <a:tcPr marL="45720" marR="45720" marT="36576" marB="36576">
                    <a:solidFill>
                      <a:srgbClr val="14413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 b="1">
                          <a:solidFill>
                            <a:srgbClr val="F5F8FC"/>
                          </a:solidFill>
                          <a:latin typeface="Noto Sans CJK KR"/>
                        </a:defRPr>
                      </a:pPr>
                      <a:r>
                        <a:t>315.331</a:t>
                      </a:r>
                    </a:p>
                  </a:txBody>
                  <a:tcPr marL="45720" marR="45720" marT="36576" marB="36576">
                    <a:solidFill>
                      <a:srgbClr val="14413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 b="1">
                          <a:solidFill>
                            <a:srgbClr val="F5F8FC"/>
                          </a:solidFill>
                          <a:latin typeface="Noto Sans CJK KR"/>
                        </a:defRPr>
                      </a:pPr>
                      <a:r>
                        <a:t>21.961GiB</a:t>
                      </a:r>
                    </a:p>
                  </a:txBody>
                  <a:tcPr marL="45720" marR="45720" marT="36576" marB="36576">
                    <a:solidFill>
                      <a:srgbClr val="14413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 b="1">
                          <a:solidFill>
                            <a:srgbClr val="F5F8FC"/>
                          </a:solidFill>
                          <a:latin typeface="Noto Sans CJK KR"/>
                        </a:defRPr>
                      </a:pPr>
                      <a:r>
                        <a:t>9.53</a:t>
                      </a:r>
                    </a:p>
                  </a:txBody>
                  <a:tcPr marL="45720" marR="45720" marT="36576" marB="36576">
                    <a:solidFill>
                      <a:srgbClr val="14413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13232" y="4187952"/>
            <a:ext cx="106984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850" b="0">
                <a:solidFill>
                  <a:srgbClr val="A4B5CA"/>
                </a:solidFill>
                <a:latin typeface="Noto Sans CJK KR"/>
              </a:defRPr>
            </a:pPr>
            <a:r>
              <a:t>A6000 · memory-budget-emulation · concurrency 10 · 30 requests · n=3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4590288"/>
            <a:ext cx="10881360" cy="777240"/>
          </a:xfrm>
          <a:prstGeom prst="roundRect">
            <a:avLst/>
          </a:prstGeom>
          <a:solidFill>
            <a:srgbClr val="15324B"/>
          </a:solidFill>
          <a:ln w="12700">
            <a:solidFill>
              <a:srgbClr val="F6B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773168"/>
            <a:ext cx="1042416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1050" b="0">
                <a:solidFill>
                  <a:srgbClr val="F5F8FC"/>
                </a:solidFill>
                <a:latin typeface="Noto Sans CJK KR"/>
              </a:defRPr>
            </a:pPr>
            <a:r>
              <a:t>같은 host/workload에서 quality와 memory observation이 유리했다. 실제 24GB native fit은 NOT_EXECUTED.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9D6C1"/>
          </a:solidFill>
          <a:ln w="12700">
            <a:solidFill>
              <a:srgbClr val="39D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97840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850" b="1">
                <a:solidFill>
                  <a:srgbClr val="39D6C1"/>
                </a:solidFill>
                <a:latin typeface="Noto Sans CJK KR"/>
              </a:defRPr>
            </a:pPr>
            <a:r>
              <a:t>05 · DEBUGGING / SCIENTIFIC REASONING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83464"/>
            <a:ext cx="5029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  <a:defRPr sz="1600" b="1">
                <a:solidFill>
                  <a:srgbClr val="53708F"/>
                </a:solidFill>
                <a:latin typeface="Noto Sans CJK KR"/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21792"/>
            <a:ext cx="10698480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F5F8FC"/>
                </a:solidFill>
                <a:latin typeface="Noto Sans CJK KR"/>
              </a:defRPr>
            </a:pPr>
            <a:r>
              <a:t>“AWQ라서 느리다”는 초기 해석을 통제 실험으로 수정했다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18520" cy="10972"/>
          </a:xfrm>
          <a:prstGeom prst="rect">
            <a:avLst/>
          </a:prstGeom>
          <a:solidFill>
            <a:srgbClr val="2B456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6446520"/>
            <a:ext cx="11018520" cy="10972"/>
          </a:xfrm>
          <a:prstGeom prst="rect">
            <a:avLst/>
          </a:prstGeom>
          <a:solidFill>
            <a:srgbClr val="2B4565"/>
          </a:solidFill>
          <a:ln w="12700">
            <a:solidFill>
              <a:srgbClr val="2B4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510528"/>
            <a:ext cx="59436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720" b="0">
                <a:solidFill>
                  <a:srgbClr val="A4B5CA"/>
                </a:solidFill>
                <a:latin typeface="Noto Sans CJK KR"/>
              </a:defRPr>
            </a:pPr>
            <a:r>
              <a:t>Unexpected result → controlled experiment → bounded conclusion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6510528"/>
            <a:ext cx="49834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  <a:defRPr sz="720" b="0">
                <a:solidFill>
                  <a:srgbClr val="A4B5CA"/>
                </a:solidFill>
                <a:latin typeface="Noto Sans CJK KR"/>
              </a:defRPr>
            </a:pPr>
            <a:r>
              <a:t>EVIDENCE · decisions/0004-profile-a-model-revised.md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481328"/>
            <a:ext cx="2423160" cy="1856231"/>
          </a:xfrm>
          <a:prstGeom prst="roundRect">
            <a:avLst/>
          </a:prstGeom>
          <a:solidFill>
            <a:srgbClr val="102038"/>
          </a:solidFill>
          <a:ln w="12700">
            <a:solidFill>
              <a:srgbClr val="2B4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1627632"/>
            <a:ext cx="214884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800" b="1">
                <a:solidFill>
                  <a:srgbClr val="39D6C1"/>
                </a:solidFill>
                <a:latin typeface="Noto Sans CJK KR"/>
              </a:defRPr>
            </a:pPr>
            <a:r>
              <a:t>OBSERVE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1920240"/>
            <a:ext cx="21488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1150" b="1">
                <a:solidFill>
                  <a:srgbClr val="F5F8FC"/>
                </a:solidFill>
                <a:latin typeface="Noto Sans CJK KR"/>
              </a:defRPr>
            </a:pPr>
            <a:r>
              <a:t>graph-enabled AWQ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2331720"/>
            <a:ext cx="21488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F6BA57"/>
                </a:solidFill>
                <a:latin typeface="Noto Sans CJK KR"/>
              </a:defRPr>
            </a:pPr>
            <a:r>
              <a:t>≈57.2 tok/s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" y="2788920"/>
            <a:ext cx="21488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850" b="0">
                <a:solidFill>
                  <a:srgbClr val="A4B5CA"/>
                </a:solidFill>
                <a:latin typeface="Noto Sans CJK KR"/>
              </a:defRPr>
            </a:pPr>
            <a:r>
              <a:t>8B BF16보다 크게 느림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91256" y="2194560"/>
            <a:ext cx="2286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39D6C1"/>
                </a:solidFill>
                <a:latin typeface="Noto Sans CJK KR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29000" y="1481328"/>
            <a:ext cx="2423160" cy="1856231"/>
          </a:xfrm>
          <a:prstGeom prst="roundRect">
            <a:avLst/>
          </a:prstGeom>
          <a:solidFill>
            <a:srgbClr val="102038"/>
          </a:solidFill>
          <a:ln w="12700">
            <a:solidFill>
              <a:srgbClr val="2B4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66160" y="1627632"/>
            <a:ext cx="214884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800" b="1">
                <a:solidFill>
                  <a:srgbClr val="39D6C1"/>
                </a:solidFill>
                <a:latin typeface="Noto Sans CJK KR"/>
              </a:defRPr>
            </a:pPr>
            <a:r>
              <a:t>HYPOTHESIS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1920240"/>
            <a:ext cx="21488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1150" b="1">
                <a:solidFill>
                  <a:srgbClr val="F5F8FC"/>
                </a:solidFill>
                <a:latin typeface="Noto Sans CJK KR"/>
              </a:defRPr>
            </a:pPr>
            <a:r>
              <a:t>초기 의심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2331720"/>
            <a:ext cx="21488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F6BA57"/>
                </a:solidFill>
                <a:latin typeface="Noto Sans CJK KR"/>
              </a:defRPr>
            </a:pPr>
            <a:r>
              <a:t>dequant?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788920"/>
            <a:ext cx="21488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850" b="0">
                <a:solidFill>
                  <a:srgbClr val="A4B5CA"/>
                </a:solidFill>
                <a:latin typeface="Noto Sans CJK KR"/>
              </a:defRPr>
            </a:pPr>
            <a:r>
              <a:t>weight format을 원인으로 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61888" y="2194560"/>
            <a:ext cx="2286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39D6C1"/>
                </a:solidFill>
                <a:latin typeface="Noto Sans CJK KR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1" y="1481328"/>
            <a:ext cx="2423160" cy="1856231"/>
          </a:xfrm>
          <a:prstGeom prst="roundRect">
            <a:avLst/>
          </a:prstGeom>
          <a:solidFill>
            <a:srgbClr val="102038"/>
          </a:solidFill>
          <a:ln w="12700">
            <a:solidFill>
              <a:srgbClr val="2B4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6792" y="1627632"/>
            <a:ext cx="214884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800" b="1">
                <a:solidFill>
                  <a:srgbClr val="39D6C1"/>
                </a:solidFill>
                <a:latin typeface="Noto Sans CJK KR"/>
              </a:defRPr>
            </a:pPr>
            <a:r>
              <a:t>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36792" y="1920240"/>
            <a:ext cx="21488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1150" b="1">
                <a:solidFill>
                  <a:srgbClr val="F5F8FC"/>
                </a:solidFill>
                <a:latin typeface="Noto Sans CJK KR"/>
              </a:defRPr>
            </a:pPr>
            <a:r>
              <a:t>변수 하나 변경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36792" y="2331720"/>
            <a:ext cx="21488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F6BA57"/>
                </a:solidFill>
                <a:latin typeface="Noto Sans CJK KR"/>
              </a:defRPr>
            </a:pPr>
            <a:r>
              <a:t>--enforce-eager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36792" y="2788920"/>
            <a:ext cx="21488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850" b="0">
                <a:solidFill>
                  <a:srgbClr val="A4B5CA"/>
                </a:solidFill>
                <a:latin typeface="Noto Sans CJK KR"/>
              </a:defRPr>
            </a:pPr>
            <a:r>
              <a:t>model/revision/eval 고정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32519" y="2194560"/>
            <a:ext cx="2286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39D6C1"/>
                </a:solidFill>
                <a:latin typeface="Noto Sans CJK KR"/>
              </a:defRPr>
            </a:pPr>
            <a: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70264" y="1481328"/>
            <a:ext cx="2423160" cy="1856231"/>
          </a:xfrm>
          <a:prstGeom prst="roundRect">
            <a:avLst/>
          </a:prstGeom>
          <a:solidFill>
            <a:srgbClr val="102038"/>
          </a:solidFill>
          <a:ln w="12700">
            <a:solidFill>
              <a:srgbClr val="2B4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07424" y="1627632"/>
            <a:ext cx="214884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800" b="1">
                <a:solidFill>
                  <a:srgbClr val="39D6C1"/>
                </a:solidFill>
                <a:latin typeface="Noto Sans CJK KR"/>
              </a:defRPr>
            </a:pPr>
            <a:r>
              <a:t>EVIDENCE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07424" y="1920240"/>
            <a:ext cx="21488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1150" b="1">
                <a:solidFill>
                  <a:srgbClr val="F5F8FC"/>
                </a:solidFill>
                <a:latin typeface="Noto Sans CJK KR"/>
              </a:defRPr>
            </a:pPr>
            <a:r>
              <a:t>eager AWQ · n=3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07424" y="2331720"/>
            <a:ext cx="21488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F6BA57"/>
                </a:solidFill>
                <a:latin typeface="Noto Sans CJK KR"/>
              </a:defRPr>
            </a:pPr>
            <a:r>
              <a:t>313.238 tok/s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07424" y="2788920"/>
            <a:ext cx="21488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850" b="0">
                <a:solidFill>
                  <a:srgbClr val="A4B5CA"/>
                </a:solidFill>
                <a:latin typeface="Noto Sans CJK KR"/>
              </a:defRPr>
            </a:pPr>
            <a:r>
              <a:t>저성능 현상 소멸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3639312"/>
            <a:ext cx="10881360" cy="777240"/>
          </a:xfrm>
          <a:prstGeom prst="roundRect">
            <a:avLst/>
          </a:prstGeom>
          <a:solidFill>
            <a:srgbClr val="15324B"/>
          </a:solidFill>
          <a:ln w="12700">
            <a:solidFill>
              <a:srgbClr val="F6B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8680" y="3822191"/>
            <a:ext cx="1042416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F5F8FC"/>
                </a:solidFill>
                <a:latin typeface="Noto Sans CJK KR"/>
              </a:defRPr>
            </a:pPr>
            <a:r>
              <a:t>수정된 결론: 이 환경의 저성능은 graph-enabled path와 함께 나타났다. 정확한 kernel root cause는 NOT_MEASURED.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4773168"/>
            <a:ext cx="103327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F6BA57"/>
                </a:solidFill>
                <a:latin typeface="Noto Sans CJK KR"/>
              </a:defRPr>
            </a:pPr>
            <a:r>
              <a:t>예상과 다른 결과를 설명으로 덮지 않고 변수를 통제해 다시 측정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9D6C1"/>
          </a:solidFill>
          <a:ln w="12700">
            <a:solidFill>
              <a:srgbClr val="39D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97840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850" b="1">
                <a:solidFill>
                  <a:srgbClr val="39D6C1"/>
                </a:solidFill>
                <a:latin typeface="Noto Sans CJK KR"/>
              </a:defRPr>
            </a:pPr>
            <a:r>
              <a:t>06 · PRODUCTION LLMOPS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83464"/>
            <a:ext cx="5029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  <a:defRPr sz="1600" b="1">
                <a:solidFill>
                  <a:srgbClr val="53708F"/>
                </a:solidFill>
                <a:latin typeface="Noto Sans CJK KR"/>
              </a:defRPr>
            </a:pPr>
            <a: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21792"/>
            <a:ext cx="10698480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F5F8FC"/>
                </a:solidFill>
                <a:latin typeface="Noto Sans CJK KR"/>
              </a:defRPr>
            </a:pPr>
            <a:r>
              <a:t>v0.1 measurement stack을 실제 운영 closed loop로 확장했다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18520" cy="10972"/>
          </a:xfrm>
          <a:prstGeom prst="rect">
            <a:avLst/>
          </a:prstGeom>
          <a:solidFill>
            <a:srgbClr val="2B456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6446520"/>
            <a:ext cx="11018520" cy="10972"/>
          </a:xfrm>
          <a:prstGeom prst="rect">
            <a:avLst/>
          </a:prstGeom>
          <a:solidFill>
            <a:srgbClr val="2B4565"/>
          </a:solidFill>
          <a:ln w="12700">
            <a:solidFill>
              <a:srgbClr val="2B4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510528"/>
            <a:ext cx="59436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720" b="0">
                <a:solidFill>
                  <a:srgbClr val="A4B5CA"/>
                </a:solidFill>
                <a:latin typeface="Noto Sans CJK KR"/>
              </a:defRPr>
            </a:pPr>
            <a:r>
              <a:t>Requirement → Build → Deploy → Observe → Alert → Diagnose → Test → Rollback → 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6510528"/>
            <a:ext cx="49834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  <a:defRPr sz="720" b="0">
                <a:solidFill>
                  <a:srgbClr val="A4B5CA"/>
                </a:solidFill>
                <a:latin typeface="Noto Sans CJK KR"/>
              </a:defRPr>
            </a:pPr>
            <a:r>
              <a:t>EVIDENCE · ops/evidence/final-rehearsal/gate-all.json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463040"/>
            <a:ext cx="5166360" cy="1920240"/>
          </a:xfrm>
          <a:prstGeom prst="roundRect">
            <a:avLst/>
          </a:prstGeom>
          <a:solidFill>
            <a:srgbClr val="102038"/>
          </a:solidFill>
          <a:ln w="12700">
            <a:solidFill>
              <a:srgbClr val="2B4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1645920"/>
            <a:ext cx="18288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800" b="1">
                <a:solidFill>
                  <a:srgbClr val="39D6C1"/>
                </a:solidFill>
                <a:latin typeface="Noto Sans CJK KR"/>
              </a:defRPr>
            </a:pPr>
            <a:r>
              <a:t>v0.1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1965960"/>
            <a:ext cx="46634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F5F8FC"/>
                </a:solidFill>
                <a:latin typeface="Noto Sans CJK KR"/>
              </a:defRPr>
            </a:pPr>
            <a:r>
              <a:t>Inference + Evaluation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2423160"/>
            <a:ext cx="4572000" cy="658368"/>
          </a:xfrm>
          <a:prstGeom prst="rect">
            <a:avLst/>
          </a:prstGeom>
          <a:noFill/>
        </p:spPr>
        <p:txBody>
          <a:bodyPr wrap="square" lIns="45720" rIns="18288">
            <a:spAutoFit/>
          </a:bodyPr>
          <a:lstStyle/>
          <a:p>
            <a:pPr>
              <a:spcAft>
                <a:spcPts val="400"/>
              </a:spcAft>
              <a:defRPr sz="900">
                <a:solidFill>
                  <a:srgbClr val="A4B5CA"/>
                </a:solidFill>
                <a:latin typeface="Noto Sans CJK KR"/>
              </a:defRPr>
            </a:pPr>
            <a:r>
              <a:t>• RAG / ACL</a:t>
            </a:r>
          </a:p>
          <a:p>
            <a:pPr>
              <a:spcAft>
                <a:spcPts val="400"/>
              </a:spcAft>
              <a:defRPr sz="900">
                <a:solidFill>
                  <a:srgbClr val="A4B5CA"/>
                </a:solidFill>
                <a:latin typeface="Noto Sans CJK KR"/>
              </a:defRPr>
            </a:pPr>
            <a:r>
              <a:t>• 60-case evaluation</a:t>
            </a:r>
          </a:p>
          <a:p>
            <a:pPr>
              <a:spcAft>
                <a:spcPts val="400"/>
              </a:spcAft>
              <a:defRPr sz="900">
                <a:solidFill>
                  <a:srgbClr val="A4B5CA"/>
                </a:solidFill>
                <a:latin typeface="Noto Sans CJK KR"/>
              </a:defRPr>
            </a:pPr>
            <a:r>
              <a:t>• Load test</a:t>
            </a:r>
          </a:p>
          <a:p>
            <a:pPr>
              <a:spcAft>
                <a:spcPts val="400"/>
              </a:spcAft>
              <a:defRPr sz="900">
                <a:solidFill>
                  <a:srgbClr val="A4B5CA"/>
                </a:solidFill>
                <a:latin typeface="Noto Sans CJK KR"/>
              </a:defRPr>
            </a:pPr>
            <a:r>
              <a:t>• GPU profiling</a:t>
            </a:r>
          </a:p>
          <a:p>
            <a:pPr>
              <a:spcAft>
                <a:spcPts val="400"/>
              </a:spcAft>
              <a:defRPr sz="900">
                <a:solidFill>
                  <a:srgbClr val="A4B5CA"/>
                </a:solidFill>
                <a:latin typeface="Noto Sans CJK KR"/>
              </a:defRPr>
            </a:pPr>
            <a:r>
              <a:t>• Result schema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73368" y="1463040"/>
            <a:ext cx="5166360" cy="1920240"/>
          </a:xfrm>
          <a:prstGeom prst="roundRect">
            <a:avLst/>
          </a:prstGeom>
          <a:solidFill>
            <a:srgbClr val="102038"/>
          </a:solidFill>
          <a:ln w="12700">
            <a:solidFill>
              <a:srgbClr val="2B4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74536" y="1645920"/>
            <a:ext cx="18288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800" b="1">
                <a:solidFill>
                  <a:srgbClr val="39D6C1"/>
                </a:solidFill>
                <a:latin typeface="Noto Sans CJK KR"/>
              </a:defRPr>
            </a:pPr>
            <a:r>
              <a:t>v0.2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74536" y="1965960"/>
            <a:ext cx="46634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F5F8FC"/>
                </a:solidFill>
                <a:latin typeface="Noto Sans CJK KR"/>
              </a:defRPr>
            </a:pPr>
            <a:r>
              <a:t>Serving + Reliability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74536" y="2423160"/>
            <a:ext cx="4572000" cy="658368"/>
          </a:xfrm>
          <a:prstGeom prst="rect">
            <a:avLst/>
          </a:prstGeom>
          <a:noFill/>
        </p:spPr>
        <p:txBody>
          <a:bodyPr wrap="square" lIns="45720" rIns="18288">
            <a:spAutoFit/>
          </a:bodyPr>
          <a:lstStyle/>
          <a:p>
            <a:pPr>
              <a:spcAft>
                <a:spcPts val="400"/>
              </a:spcAft>
              <a:defRPr sz="900">
                <a:solidFill>
                  <a:srgbClr val="A4B5CA"/>
                </a:solidFill>
                <a:latin typeface="Noto Sans CJK KR"/>
              </a:defRPr>
            </a:pPr>
            <a:r>
              <a:t>• Pinned containers</a:t>
            </a:r>
          </a:p>
          <a:p>
            <a:pPr>
              <a:spcAft>
                <a:spcPts val="400"/>
              </a:spcAft>
              <a:defRPr sz="900">
                <a:solidFill>
                  <a:srgbClr val="A4B5CA"/>
                </a:solidFill>
                <a:latin typeface="Noto Sans CJK KR"/>
              </a:defRPr>
            </a:pPr>
            <a:r>
              <a:t>• Health / readiness / metrics</a:t>
            </a:r>
          </a:p>
          <a:p>
            <a:pPr>
              <a:spcAft>
                <a:spcPts val="400"/>
              </a:spcAft>
              <a:defRPr sz="900">
                <a:solidFill>
                  <a:srgbClr val="A4B5CA"/>
                </a:solidFill>
                <a:latin typeface="Noto Sans CJK KR"/>
              </a:defRPr>
            </a:pPr>
            <a:r>
              <a:t>• Prometheus / Grafana</a:t>
            </a:r>
          </a:p>
          <a:p>
            <a:pPr>
              <a:spcAft>
                <a:spcPts val="400"/>
              </a:spcAft>
              <a:defRPr sz="900">
                <a:solidFill>
                  <a:srgbClr val="A4B5CA"/>
                </a:solidFill>
                <a:latin typeface="Noto Sans CJK KR"/>
              </a:defRPr>
            </a:pPr>
            <a:r>
              <a:t>• Regression gate</a:t>
            </a:r>
          </a:p>
          <a:p>
            <a:pPr>
              <a:spcAft>
                <a:spcPts val="400"/>
              </a:spcAft>
              <a:defRPr sz="900">
                <a:solidFill>
                  <a:srgbClr val="A4B5CA"/>
                </a:solidFill>
                <a:latin typeface="Noto Sans CJK KR"/>
              </a:defRPr>
            </a:pPr>
            <a:r>
              <a:t>• Incident / rollback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50992" y="2148840"/>
            <a:ext cx="45720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  <a:defRPr sz="2500" b="1">
                <a:solidFill>
                  <a:srgbClr val="39D6C1"/>
                </a:solidFill>
                <a:latin typeface="Noto Sans CJK KR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703320"/>
            <a:ext cx="3502152" cy="1188720"/>
          </a:xfrm>
          <a:prstGeom prst="roundRect">
            <a:avLst/>
          </a:prstGeom>
          <a:solidFill>
            <a:srgbClr val="142B49"/>
          </a:solidFill>
          <a:ln w="12700">
            <a:solidFill>
              <a:srgbClr val="2B4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8" y="3840480"/>
            <a:ext cx="685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6EE7A8"/>
                </a:solidFill>
                <a:latin typeface="Noto Sans CJK KR"/>
              </a:defRPr>
            </a:pPr>
            <a:r>
              <a:t>PASS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7048" y="3840480"/>
            <a:ext cx="23317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F5F8FC"/>
                </a:solidFill>
                <a:latin typeface="Noto Sans CJK KR"/>
              </a:defRPr>
            </a:pPr>
            <a:r>
              <a:t>Deterministic suite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8" y="4160520"/>
            <a:ext cx="32004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39D6C1"/>
                </a:solidFill>
                <a:latin typeface="Noto Sans CJK KR"/>
              </a:defRPr>
            </a:pPr>
            <a:r>
              <a:t>153 tests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8" y="4526280"/>
            <a:ext cx="32004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750" b="0">
                <a:solidFill>
                  <a:srgbClr val="A4B5CA"/>
                </a:solidFill>
                <a:latin typeface="Noto Sans CJK KR"/>
              </a:defRPr>
            </a:pPr>
            <a:r>
              <a:t>GPU opt-in 3개는 별도 actual run PASS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43400" y="3703320"/>
            <a:ext cx="3502152" cy="1188720"/>
          </a:xfrm>
          <a:prstGeom prst="roundRect">
            <a:avLst/>
          </a:prstGeom>
          <a:solidFill>
            <a:srgbClr val="142B49"/>
          </a:solidFill>
          <a:ln w="12700">
            <a:solidFill>
              <a:srgbClr val="2B4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80560" y="3840480"/>
            <a:ext cx="685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6EE7A8"/>
                </a:solidFill>
                <a:latin typeface="Noto Sans CJK KR"/>
              </a:defRPr>
            </a:pPr>
            <a:r>
              <a:t>PASS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2080" y="3840480"/>
            <a:ext cx="23317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F5F8FC"/>
                </a:solidFill>
                <a:latin typeface="Noto Sans CJK KR"/>
              </a:defRPr>
            </a:pPr>
            <a:r>
              <a:t>Regression gate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4160520"/>
            <a:ext cx="32004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39D6C1"/>
                </a:solidFill>
                <a:latin typeface="Noto Sans CJK KR"/>
              </a:defRPr>
            </a:pPr>
            <a:r>
              <a:t>11 / 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4526280"/>
            <a:ext cx="32004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750" b="0">
                <a:solidFill>
                  <a:srgbClr val="A4B5CA"/>
                </a:solidFill>
                <a:latin typeface="Noto Sans CJK KR"/>
              </a:defRPr>
            </a:pPr>
            <a:r>
              <a:t>60문항 · skipped 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28432" y="3703320"/>
            <a:ext cx="3502152" cy="1188720"/>
          </a:xfrm>
          <a:prstGeom prst="roundRect">
            <a:avLst/>
          </a:prstGeom>
          <a:solidFill>
            <a:srgbClr val="142B49"/>
          </a:solidFill>
          <a:ln w="12700">
            <a:solidFill>
              <a:srgbClr val="2B4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65592" y="3840480"/>
            <a:ext cx="685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6EE7A8"/>
                </a:solidFill>
                <a:latin typeface="Noto Sans CJK KR"/>
              </a:defRPr>
            </a:pPr>
            <a:r>
              <a:t>PASS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97112" y="3840480"/>
            <a:ext cx="23317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F5F8FC"/>
                </a:solidFill>
                <a:latin typeface="Noto Sans CJK KR"/>
              </a:defRPr>
            </a:pPr>
            <a:r>
              <a:t>A6000 Compose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65592" y="4160520"/>
            <a:ext cx="32004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39D6C1"/>
                </a:solidFill>
                <a:latin typeface="Noto Sans CJK KR"/>
              </a:defRPr>
            </a:pPr>
            <a:r>
              <a:t>API + vLLM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65592" y="4526280"/>
            <a:ext cx="32004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750" b="0">
                <a:solidFill>
                  <a:srgbClr val="A4B5CA"/>
                </a:solidFill>
                <a:latin typeface="Noto Sans CJK KR"/>
              </a:defRPr>
            </a:pPr>
            <a:r>
              <a:t>health/ready/metrics/RAG actual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9D6C1"/>
          </a:solidFill>
          <a:ln w="12700">
            <a:solidFill>
              <a:srgbClr val="39D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97840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850" b="1">
                <a:solidFill>
                  <a:srgbClr val="39D6C1"/>
                </a:solidFill>
                <a:latin typeface="Noto Sans CJK KR"/>
              </a:defRPr>
            </a:pPr>
            <a:r>
              <a:t>07 · OBSERVABILITY &amp; INCIDENT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83464"/>
            <a:ext cx="5029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  <a:defRPr sz="1600" b="1">
                <a:solidFill>
                  <a:srgbClr val="53708F"/>
                </a:solidFill>
                <a:latin typeface="Noto Sans CJK KR"/>
              </a:defRPr>
            </a:pPr>
            <a: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21792"/>
            <a:ext cx="10698480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F5F8FC"/>
                </a:solidFill>
                <a:latin typeface="Noto Sans CJK KR"/>
              </a:defRPr>
            </a:pPr>
            <a:r>
              <a:t>API 중단을 탐지하고 immutable image로 복구했다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18520" cy="10972"/>
          </a:xfrm>
          <a:prstGeom prst="rect">
            <a:avLst/>
          </a:prstGeom>
          <a:solidFill>
            <a:srgbClr val="2B456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6446520"/>
            <a:ext cx="11018520" cy="10972"/>
          </a:xfrm>
          <a:prstGeom prst="rect">
            <a:avLst/>
          </a:prstGeom>
          <a:solidFill>
            <a:srgbClr val="2B4565"/>
          </a:solidFill>
          <a:ln w="12700">
            <a:solidFill>
              <a:srgbClr val="2B4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510528"/>
            <a:ext cx="59436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720" b="0">
                <a:solidFill>
                  <a:srgbClr val="A4B5CA"/>
                </a:solidFill>
                <a:latin typeface="Noto Sans CJK KR"/>
              </a:defRPr>
            </a:pPr>
            <a:r>
              <a:t>INC-003 · intentional experiment · actual RTX A6000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6510528"/>
            <a:ext cx="49834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  <a:defRPr sz="720" b="0">
                <a:solidFill>
                  <a:srgbClr val="A4B5CA"/>
                </a:solidFill>
                <a:latin typeface="Noto Sans CJK KR"/>
              </a:defRPr>
            </a:pPr>
            <a:r>
              <a:t>EVIDENCE · ops/incidents/INC-003-api-outage-container-rollback.md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444752"/>
            <a:ext cx="1682496" cy="2057400"/>
          </a:xfrm>
          <a:prstGeom prst="roundRect">
            <a:avLst/>
          </a:prstGeom>
          <a:solidFill>
            <a:srgbClr val="102038"/>
          </a:solidFill>
          <a:ln w="12700">
            <a:solidFill>
              <a:srgbClr val="2B4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444752"/>
            <a:ext cx="1682496" cy="36576"/>
          </a:xfrm>
          <a:prstGeom prst="rect">
            <a:avLst/>
          </a:prstGeom>
          <a:solidFill>
            <a:srgbClr val="39D6C1"/>
          </a:solidFill>
          <a:ln w="12700">
            <a:solidFill>
              <a:srgbClr val="39D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1627632"/>
            <a:ext cx="146304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39D6C1"/>
                </a:solidFill>
                <a:latin typeface="Noto Sans CJK KR"/>
              </a:defRPr>
            </a:pPr>
            <a:r>
              <a:t>BASELINE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1938528"/>
            <a:ext cx="146304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F8FC"/>
                </a:solidFill>
                <a:latin typeface="Noto Sans CJK KR"/>
              </a:defRPr>
            </a:pPr>
            <a:r>
              <a:t>4 targets 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423160"/>
            <a:ext cx="14630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F6BA57"/>
                </a:solidFill>
                <a:latin typeface="Noto Sans CJK KR"/>
              </a:defRPr>
            </a:pPr>
            <a:r>
              <a:t>ready=200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2898648"/>
            <a:ext cx="14630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750" b="0">
                <a:solidFill>
                  <a:srgbClr val="A4B5CA"/>
                </a:solidFill>
                <a:latin typeface="Noto Sans CJK KR"/>
              </a:defRPr>
            </a:pPr>
            <a:r>
              <a:t>API · vLLM · DCGM · Prometheus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68880" y="1444752"/>
            <a:ext cx="1682496" cy="2057400"/>
          </a:xfrm>
          <a:prstGeom prst="roundRect">
            <a:avLst/>
          </a:prstGeom>
          <a:solidFill>
            <a:srgbClr val="102038"/>
          </a:solidFill>
          <a:ln w="12700">
            <a:solidFill>
              <a:srgbClr val="2B4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468880" y="1444752"/>
            <a:ext cx="1682496" cy="36576"/>
          </a:xfrm>
          <a:prstGeom prst="rect">
            <a:avLst/>
          </a:prstGeom>
          <a:solidFill>
            <a:srgbClr val="39D6C1"/>
          </a:solidFill>
          <a:ln w="12700">
            <a:solidFill>
              <a:srgbClr val="39D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78608" y="1627632"/>
            <a:ext cx="146304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39D6C1"/>
                </a:solidFill>
                <a:latin typeface="Noto Sans CJK KR"/>
              </a:defRPr>
            </a:pPr>
            <a:r>
              <a:t>DRAIN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78608" y="1938528"/>
            <a:ext cx="146304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F8FC"/>
                </a:solidFill>
                <a:latin typeface="Noto Sans CJK KR"/>
              </a:defRPr>
            </a:pPr>
            <a:r>
              <a:t>SIGTERM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78608" y="2423160"/>
            <a:ext cx="14630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F6BA57"/>
                </a:solidFill>
                <a:latin typeface="Noto Sans CJK KR"/>
              </a:defRPr>
            </a:pPr>
            <a:r>
              <a:t>20 / 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78608" y="2898648"/>
            <a:ext cx="14630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750" b="0">
                <a:solidFill>
                  <a:srgbClr val="A4B5CA"/>
                </a:solidFill>
                <a:latin typeface="Noto Sans CJK KR"/>
              </a:defRPr>
            </a:pPr>
            <a:r>
              <a:t>in-flight body 완주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79392" y="1444752"/>
            <a:ext cx="1682496" cy="2057400"/>
          </a:xfrm>
          <a:prstGeom prst="roundRect">
            <a:avLst/>
          </a:prstGeom>
          <a:solidFill>
            <a:srgbClr val="102038"/>
          </a:solidFill>
          <a:ln w="12700">
            <a:solidFill>
              <a:srgbClr val="2B4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79392" y="1444752"/>
            <a:ext cx="1682496" cy="36576"/>
          </a:xfrm>
          <a:prstGeom prst="rect">
            <a:avLst/>
          </a:prstGeom>
          <a:solidFill>
            <a:srgbClr val="39D6C1"/>
          </a:solidFill>
          <a:ln w="12700">
            <a:solidFill>
              <a:srgbClr val="39D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89120" y="1627632"/>
            <a:ext cx="146304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39D6C1"/>
                </a:solidFill>
                <a:latin typeface="Noto Sans CJK KR"/>
              </a:defRPr>
            </a:pPr>
            <a:r>
              <a:t>ALERT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1938528"/>
            <a:ext cx="146304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F8FC"/>
                </a:solidFill>
                <a:latin typeface="Noto Sans CJK KR"/>
              </a:defRPr>
            </a:pPr>
            <a:r>
              <a:t>GatewayDown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2423160"/>
            <a:ext cx="14630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F6BA57"/>
                </a:solidFill>
                <a:latin typeface="Noto Sans CJK KR"/>
              </a:defRPr>
            </a:pPr>
            <a:r>
              <a:t>43.765s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2898648"/>
            <a:ext cx="14630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750" b="0">
                <a:solidFill>
                  <a:srgbClr val="A4B5CA"/>
                </a:solidFill>
                <a:latin typeface="Noto Sans CJK KR"/>
              </a:defRPr>
            </a:pPr>
            <a:r>
              <a:t>state=firing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089903" y="1444752"/>
            <a:ext cx="1682496" cy="2057400"/>
          </a:xfrm>
          <a:prstGeom prst="roundRect">
            <a:avLst/>
          </a:prstGeom>
          <a:solidFill>
            <a:srgbClr val="102038"/>
          </a:solidFill>
          <a:ln w="12700">
            <a:solidFill>
              <a:srgbClr val="2B4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089903" y="1444752"/>
            <a:ext cx="1682496" cy="36576"/>
          </a:xfrm>
          <a:prstGeom prst="rect">
            <a:avLst/>
          </a:prstGeom>
          <a:solidFill>
            <a:srgbClr val="39D6C1"/>
          </a:solidFill>
          <a:ln w="12700">
            <a:solidFill>
              <a:srgbClr val="39D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99631" y="1627632"/>
            <a:ext cx="146304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39D6C1"/>
                </a:solidFill>
                <a:latin typeface="Noto Sans CJK KR"/>
              </a:defRPr>
            </a:pPr>
            <a:r>
              <a:t>FAIL CLOSED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99631" y="1938528"/>
            <a:ext cx="146304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F8FC"/>
                </a:solidFill>
                <a:latin typeface="Noto Sans CJK KR"/>
              </a:defRPr>
            </a:pPr>
            <a:r>
              <a:t>SHA mismatch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99631" y="2423160"/>
            <a:ext cx="14630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F6BA57"/>
                </a:solidFill>
                <a:latin typeface="Noto Sans CJK KR"/>
              </a:defRPr>
            </a:pPr>
            <a:r>
              <a:t>state 유지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99631" y="2898648"/>
            <a:ext cx="14630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750" b="0">
                <a:solidFill>
                  <a:srgbClr val="A4B5CA"/>
                </a:solidFill>
                <a:latin typeface="Noto Sans CJK KR"/>
              </a:defRPr>
            </a:pPr>
            <a:r>
              <a:t>첫 rollback 차단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900416" y="1444752"/>
            <a:ext cx="1682496" cy="2057400"/>
          </a:xfrm>
          <a:prstGeom prst="roundRect">
            <a:avLst/>
          </a:prstGeom>
          <a:solidFill>
            <a:srgbClr val="102038"/>
          </a:solidFill>
          <a:ln w="12700">
            <a:solidFill>
              <a:srgbClr val="2B4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900416" y="1444752"/>
            <a:ext cx="1682496" cy="36576"/>
          </a:xfrm>
          <a:prstGeom prst="rect">
            <a:avLst/>
          </a:prstGeom>
          <a:solidFill>
            <a:srgbClr val="39D6C1"/>
          </a:solidFill>
          <a:ln w="12700">
            <a:solidFill>
              <a:srgbClr val="39D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10144" y="1627632"/>
            <a:ext cx="146304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39D6C1"/>
                </a:solidFill>
                <a:latin typeface="Noto Sans CJK KR"/>
              </a:defRPr>
            </a:pPr>
            <a:r>
              <a:t>ROLLBACK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10144" y="1938528"/>
            <a:ext cx="146304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F8FC"/>
                </a:solidFill>
                <a:latin typeface="Noto Sans CJK KR"/>
              </a:defRPr>
            </a:pPr>
            <a:r>
              <a:t>known-good digest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10144" y="2423160"/>
            <a:ext cx="14630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F6BA57"/>
                </a:solidFill>
                <a:latin typeface="Noto Sans CJK KR"/>
              </a:defRPr>
            </a:pPr>
            <a:r>
              <a:t>6.332s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10144" y="2898648"/>
            <a:ext cx="14630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750" b="0">
                <a:solidFill>
                  <a:srgbClr val="A4B5CA"/>
                </a:solidFill>
                <a:latin typeface="Noto Sans CJK KR"/>
              </a:defRPr>
            </a:pPr>
            <a:r>
              <a:t>restart + verify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710928" y="1444752"/>
            <a:ext cx="1682496" cy="2057400"/>
          </a:xfrm>
          <a:prstGeom prst="roundRect">
            <a:avLst/>
          </a:prstGeom>
          <a:solidFill>
            <a:srgbClr val="102038"/>
          </a:solidFill>
          <a:ln w="12700">
            <a:solidFill>
              <a:srgbClr val="2B4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710928" y="1444752"/>
            <a:ext cx="1682496" cy="36576"/>
          </a:xfrm>
          <a:prstGeom prst="rect">
            <a:avLst/>
          </a:prstGeom>
          <a:solidFill>
            <a:srgbClr val="39D6C1"/>
          </a:solidFill>
          <a:ln w="12700">
            <a:solidFill>
              <a:srgbClr val="39D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820656" y="1627632"/>
            <a:ext cx="146304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39D6C1"/>
                </a:solidFill>
                <a:latin typeface="Noto Sans CJK KR"/>
              </a:defRPr>
            </a:pPr>
            <a:r>
              <a:t>RECOVER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20656" y="1938528"/>
            <a:ext cx="146304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5F8FC"/>
                </a:solidFill>
                <a:latin typeface="Noto Sans CJK KR"/>
              </a:defRPr>
            </a:pPr>
            <a:r>
              <a:t>ready + build_info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20656" y="2423160"/>
            <a:ext cx="14630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F6BA57"/>
                </a:solidFill>
                <a:latin typeface="Noto Sans CJK KR"/>
              </a:defRPr>
            </a:pPr>
            <a:r>
              <a:t>VERIFY OK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20656" y="2898648"/>
            <a:ext cx="14630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750" b="0">
                <a:solidFill>
                  <a:srgbClr val="A4B5CA"/>
                </a:solidFill>
                <a:latin typeface="Noto Sans CJK KR"/>
              </a:defRPr>
            </a:pPr>
            <a:r>
              <a:t>active alert 없음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58368" y="3840480"/>
            <a:ext cx="10881360" cy="621792"/>
          </a:xfrm>
          <a:prstGeom prst="roundRect">
            <a:avLst/>
          </a:prstGeom>
          <a:solidFill>
            <a:srgbClr val="15324B"/>
          </a:solidFill>
          <a:ln w="12700">
            <a:solidFill>
              <a:srgbClr val="F6B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68680" y="3995928"/>
            <a:ext cx="104241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F5F8FC"/>
                </a:solidFill>
                <a:latin typeface="Noto Sans CJK KR"/>
              </a:defRPr>
            </a:pPr>
            <a:r>
              <a:t>graceful drain, symptom alert, immutable provenance, readiness verification이 한 incident에서 연결됐다.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1520" y="4709160"/>
            <a:ext cx="10698480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  <a:defRPr sz="850" b="0">
                <a:solidFill>
                  <a:srgbClr val="A4B5CA"/>
                </a:solidFill>
                <a:latin typeface="Noto Sans CJK KR"/>
              </a:defRPr>
            </a:pPr>
            <a:r>
              <a:t>의도적 loopback 실험이며 실제 고객 downtime은 NOT_MEASURED.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9D6C1"/>
          </a:solidFill>
          <a:ln w="12700">
            <a:solidFill>
              <a:srgbClr val="39D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97840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850" b="1">
                <a:solidFill>
                  <a:srgbClr val="39D6C1"/>
                </a:solidFill>
                <a:latin typeface="Noto Sans CJK KR"/>
              </a:defRPr>
            </a:pPr>
            <a:r>
              <a:t>08 · AI-ASSISTED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83464"/>
            <a:ext cx="5029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  <a:defRPr sz="1600" b="1">
                <a:solidFill>
                  <a:srgbClr val="53708F"/>
                </a:solidFill>
                <a:latin typeface="Noto Sans CJK KR"/>
              </a:defRPr>
            </a:pPr>
            <a: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21792"/>
            <a:ext cx="10698480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F5F8FC"/>
                </a:solidFill>
                <a:latin typeface="Noto Sans CJK KR"/>
              </a:defRPr>
            </a:pPr>
            <a:r>
              <a:t>LLM을 구현자와 검토자로 쓰되 최종 판정권은 주지 않았다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18520" cy="10972"/>
          </a:xfrm>
          <a:prstGeom prst="rect">
            <a:avLst/>
          </a:prstGeom>
          <a:solidFill>
            <a:srgbClr val="2B456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6446520"/>
            <a:ext cx="11018520" cy="10972"/>
          </a:xfrm>
          <a:prstGeom prst="rect">
            <a:avLst/>
          </a:prstGeom>
          <a:solidFill>
            <a:srgbClr val="2B4565"/>
          </a:solidFill>
          <a:ln w="12700">
            <a:solidFill>
              <a:srgbClr val="2B4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510528"/>
            <a:ext cx="59436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720" b="0">
                <a:solidFill>
                  <a:srgbClr val="A4B5CA"/>
                </a:solidFill>
                <a:latin typeface="Noto Sans CJK KR"/>
              </a:defRPr>
            </a:pPr>
            <a:r>
              <a:t>AI output를 신뢰한 것이 아니라 evidence로 통제했다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6510528"/>
            <a:ext cx="49834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  <a:defRPr sz="720" b="0">
                <a:solidFill>
                  <a:srgbClr val="A4B5CA"/>
                </a:solidFill>
                <a:latin typeface="Noto Sans CJK KR"/>
              </a:defRPr>
            </a:pPr>
            <a:r>
              <a:t>EVIDENCE · docs/cross-review/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444752"/>
            <a:ext cx="5349240" cy="1353312"/>
          </a:xfrm>
          <a:prstGeom prst="roundRect">
            <a:avLst/>
          </a:prstGeom>
          <a:solidFill>
            <a:srgbClr val="102038"/>
          </a:solidFill>
          <a:ln w="12700">
            <a:solidFill>
              <a:srgbClr val="2B4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1609344"/>
            <a:ext cx="22860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800" b="1">
                <a:solidFill>
                  <a:srgbClr val="39D6C1"/>
                </a:solidFill>
                <a:latin typeface="Noto Sans CJK KR"/>
              </a:defRPr>
            </a:pPr>
            <a:r>
              <a:t>Codex · 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1901952"/>
            <a:ext cx="49377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F5F8FC"/>
                </a:solidFill>
                <a:latin typeface="Noto Sans CJK KR"/>
              </a:defRPr>
            </a:pPr>
            <a:r>
              <a:t>Serving / Deployment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2267712"/>
            <a:ext cx="4754880" cy="301752"/>
          </a:xfrm>
          <a:prstGeom prst="rect">
            <a:avLst/>
          </a:prstGeom>
          <a:noFill/>
        </p:spPr>
        <p:txBody>
          <a:bodyPr wrap="square" lIns="45720" rIns="18288">
            <a:spAutoFit/>
          </a:bodyPr>
          <a:lstStyle/>
          <a:p>
            <a:pPr>
              <a:spcAft>
                <a:spcPts val="400"/>
              </a:spcAft>
              <a:defRPr sz="850">
                <a:solidFill>
                  <a:srgbClr val="A4B5CA"/>
                </a:solidFill>
                <a:latin typeface="Noto Sans CJK KR"/>
              </a:defRPr>
            </a:pPr>
            <a:r>
              <a:t>• service/</a:t>
            </a:r>
          </a:p>
          <a:p>
            <a:pPr>
              <a:spcAft>
                <a:spcPts val="400"/>
              </a:spcAft>
              <a:defRPr sz="850">
                <a:solidFill>
                  <a:srgbClr val="A4B5CA"/>
                </a:solidFill>
                <a:latin typeface="Noto Sans CJK KR"/>
              </a:defRPr>
            </a:pPr>
            <a:r>
              <a:t>• deploy/</a:t>
            </a:r>
          </a:p>
          <a:p>
            <a:pPr>
              <a:spcAft>
                <a:spcPts val="400"/>
              </a:spcAft>
              <a:defRPr sz="850">
                <a:solidFill>
                  <a:srgbClr val="A4B5CA"/>
                </a:solidFill>
                <a:latin typeface="Noto Sans CJK KR"/>
              </a:defRPr>
            </a:pPr>
            <a:r>
              <a:t>• service tests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0488" y="1444752"/>
            <a:ext cx="5349240" cy="1353312"/>
          </a:xfrm>
          <a:prstGeom prst="roundRect">
            <a:avLst/>
          </a:prstGeom>
          <a:solidFill>
            <a:srgbClr val="102038"/>
          </a:solidFill>
          <a:ln w="12700">
            <a:solidFill>
              <a:srgbClr val="2B4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79" y="1609344"/>
            <a:ext cx="22860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800" b="1">
                <a:solidFill>
                  <a:srgbClr val="39D6C1"/>
                </a:solidFill>
                <a:latin typeface="Noto Sans CJK KR"/>
              </a:defRPr>
            </a:pPr>
            <a:r>
              <a:t>Claude · 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79" y="1901952"/>
            <a:ext cx="49377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F5F8FC"/>
                </a:solidFill>
                <a:latin typeface="Noto Sans CJK KR"/>
              </a:defRPr>
            </a:pPr>
            <a:r>
              <a:t>Observability / Reliability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79" y="2267712"/>
            <a:ext cx="4754880" cy="301752"/>
          </a:xfrm>
          <a:prstGeom prst="rect">
            <a:avLst/>
          </a:prstGeom>
          <a:noFill/>
        </p:spPr>
        <p:txBody>
          <a:bodyPr wrap="square" lIns="45720" rIns="18288">
            <a:spAutoFit/>
          </a:bodyPr>
          <a:lstStyle/>
          <a:p>
            <a:pPr>
              <a:spcAft>
                <a:spcPts val="400"/>
              </a:spcAft>
              <a:defRPr sz="850">
                <a:solidFill>
                  <a:srgbClr val="A4B5CA"/>
                </a:solidFill>
                <a:latin typeface="Noto Sans CJK KR"/>
              </a:defRPr>
            </a:pPr>
            <a:r>
              <a:t>• monitoring/</a:t>
            </a:r>
          </a:p>
          <a:p>
            <a:pPr>
              <a:spcAft>
                <a:spcPts val="400"/>
              </a:spcAft>
              <a:defRPr sz="850">
                <a:solidFill>
                  <a:srgbClr val="A4B5CA"/>
                </a:solidFill>
                <a:latin typeface="Noto Sans CJK KR"/>
              </a:defRPr>
            </a:pPr>
            <a:r>
              <a:t>• ops/</a:t>
            </a:r>
          </a:p>
          <a:p>
            <a:pPr>
              <a:spcAft>
                <a:spcPts val="400"/>
              </a:spcAft>
              <a:defRPr sz="850">
                <a:solidFill>
                  <a:srgbClr val="A4B5CA"/>
                </a:solidFill>
                <a:latin typeface="Noto Sans CJK KR"/>
              </a:defRPr>
            </a:pPr>
            <a:r>
              <a:t>• regression / CI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090672"/>
            <a:ext cx="1508760" cy="438912"/>
          </a:xfrm>
          <a:prstGeom prst="roundRect">
            <a:avLst/>
          </a:prstGeom>
          <a:solidFill>
            <a:srgbClr val="173B50"/>
          </a:solidFill>
          <a:ln w="12700">
            <a:solidFill>
              <a:srgbClr val="2B4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3227832"/>
            <a:ext cx="1508760" cy="1371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  <a:defRPr sz="730" b="1">
                <a:solidFill>
                  <a:srgbClr val="F5F8FC"/>
                </a:solidFill>
                <a:latin typeface="Noto Sans CJK KR"/>
              </a:defRPr>
            </a:pPr>
            <a:r>
              <a:t>Interface Contract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03703" y="3182112"/>
            <a:ext cx="219456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39D6C1"/>
                </a:solidFill>
                <a:latin typeface="Noto Sans CJK KR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450591" y="3090672"/>
            <a:ext cx="1508760" cy="438912"/>
          </a:xfrm>
          <a:prstGeom prst="roundRect">
            <a:avLst/>
          </a:prstGeom>
          <a:solidFill>
            <a:srgbClr val="173B50"/>
          </a:solidFill>
          <a:ln w="12700">
            <a:solidFill>
              <a:srgbClr val="2B4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450591" y="3227832"/>
            <a:ext cx="1508760" cy="1371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  <a:defRPr sz="730" b="1">
                <a:solidFill>
                  <a:srgbClr val="F5F8FC"/>
                </a:solidFill>
                <a:latin typeface="Noto Sans CJK KR"/>
              </a:defRPr>
            </a:pPr>
            <a:r>
              <a:t>Independent Build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95927" y="3182112"/>
            <a:ext cx="219456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39D6C1"/>
                </a:solidFill>
                <a:latin typeface="Noto Sans CJK KR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42816" y="3090672"/>
            <a:ext cx="1508760" cy="438912"/>
          </a:xfrm>
          <a:prstGeom prst="roundRect">
            <a:avLst/>
          </a:prstGeom>
          <a:solidFill>
            <a:srgbClr val="173B50"/>
          </a:solidFill>
          <a:ln w="12700">
            <a:solidFill>
              <a:srgbClr val="2B4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42816" y="3227832"/>
            <a:ext cx="1508760" cy="1371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  <a:defRPr sz="730" b="1">
                <a:solidFill>
                  <a:srgbClr val="F5F8FC"/>
                </a:solidFill>
                <a:latin typeface="Noto Sans CJK KR"/>
              </a:defRPr>
            </a:pPr>
            <a:r>
              <a:t>Cross 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88152" y="3182112"/>
            <a:ext cx="219456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39D6C1"/>
                </a:solidFill>
                <a:latin typeface="Noto Sans CJK KR"/>
              </a:defRPr>
            </a:pPr>
            <a: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35040" y="3090672"/>
            <a:ext cx="1508760" cy="438912"/>
          </a:xfrm>
          <a:prstGeom prst="roundRect">
            <a:avLst/>
          </a:prstGeom>
          <a:solidFill>
            <a:srgbClr val="173B50"/>
          </a:solidFill>
          <a:ln w="12700">
            <a:solidFill>
              <a:srgbClr val="2B4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35040" y="3227832"/>
            <a:ext cx="1508760" cy="1371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  <a:defRPr sz="730" b="1">
                <a:solidFill>
                  <a:srgbClr val="F5F8FC"/>
                </a:solidFill>
                <a:latin typeface="Noto Sans CJK KR"/>
              </a:defRPr>
            </a:pPr>
            <a:r>
              <a:t>Reproduction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0375" y="3182112"/>
            <a:ext cx="219456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39D6C1"/>
                </a:solidFill>
                <a:latin typeface="Noto Sans CJK KR"/>
              </a:defRPr>
            </a:pPr>
            <a: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27263" y="3090672"/>
            <a:ext cx="1508760" cy="438912"/>
          </a:xfrm>
          <a:prstGeom prst="roundRect">
            <a:avLst/>
          </a:prstGeom>
          <a:solidFill>
            <a:srgbClr val="173B50"/>
          </a:solidFill>
          <a:ln w="12700">
            <a:solidFill>
              <a:srgbClr val="2B4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27263" y="3227832"/>
            <a:ext cx="1508760" cy="1371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  <a:defRPr sz="730" b="1">
                <a:solidFill>
                  <a:srgbClr val="F5F8FC"/>
                </a:solidFill>
                <a:latin typeface="Noto Sans CJK KR"/>
              </a:defRPr>
            </a:pPr>
            <a:r>
              <a:t>Deterministic Fix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72600" y="3182112"/>
            <a:ext cx="219456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39D6C1"/>
                </a:solidFill>
                <a:latin typeface="Noto Sans CJK KR"/>
              </a:defRPr>
            </a:pPr>
            <a: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619488" y="3090672"/>
            <a:ext cx="1508760" cy="438912"/>
          </a:xfrm>
          <a:prstGeom prst="roundRect">
            <a:avLst/>
          </a:prstGeom>
          <a:solidFill>
            <a:srgbClr val="173B50"/>
          </a:solidFill>
          <a:ln w="12700">
            <a:solidFill>
              <a:srgbClr val="2B4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19488" y="3227832"/>
            <a:ext cx="1508760" cy="1371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  <a:defRPr sz="730" b="1">
                <a:solidFill>
                  <a:srgbClr val="F5F8FC"/>
                </a:solidFill>
                <a:latin typeface="Noto Sans CJK KR"/>
              </a:defRPr>
            </a:pPr>
            <a:r>
              <a:t>Actual A6000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" y="3822191"/>
            <a:ext cx="6995160" cy="1143000"/>
          </a:xfrm>
          <a:prstGeom prst="roundRect">
            <a:avLst/>
          </a:prstGeom>
          <a:solidFill>
            <a:srgbClr val="142B49"/>
          </a:solidFill>
          <a:ln w="12700">
            <a:solidFill>
              <a:srgbClr val="2B4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1248" y="4023360"/>
            <a:ext cx="6583680" cy="685800"/>
          </a:xfrm>
          <a:prstGeom prst="rect">
            <a:avLst/>
          </a:prstGeom>
          <a:noFill/>
        </p:spPr>
        <p:txBody>
          <a:bodyPr wrap="square" lIns="45720" rIns="18288">
            <a:spAutoFit/>
          </a:bodyPr>
          <a:lstStyle/>
          <a:p>
            <a:pPr>
              <a:spcAft>
                <a:spcPts val="400"/>
              </a:spcAft>
              <a:defRPr sz="850">
                <a:solidFill>
                  <a:srgbClr val="A4B5CA"/>
                </a:solidFill>
                <a:latin typeface="Noto Sans CJK KR"/>
              </a:defRPr>
            </a:pPr>
            <a:r>
              <a:t>• generation failure인데 readiness=200</a:t>
            </a:r>
          </a:p>
          <a:p>
            <a:pPr>
              <a:spcAft>
                <a:spcPts val="400"/>
              </a:spcAft>
              <a:defRPr sz="850">
                <a:solidFill>
                  <a:srgbClr val="A4B5CA"/>
                </a:solidFill>
                <a:latin typeface="Noto Sans CJK KR"/>
              </a:defRPr>
            </a:pPr>
            <a:r>
              <a:t>• HTTP body 전에 in-flight 감소</a:t>
            </a:r>
          </a:p>
          <a:p>
            <a:pPr>
              <a:spcAft>
                <a:spcPts val="400"/>
              </a:spcAft>
              <a:defRPr sz="850">
                <a:solidFill>
                  <a:srgbClr val="A4B5CA"/>
                </a:solidFill>
                <a:latin typeface="Noto Sans CJK KR"/>
              </a:defRPr>
            </a:pPr>
            <a:r>
              <a:t>• stale/skip gate fail-open</a:t>
            </a:r>
          </a:p>
          <a:p>
            <a:pPr>
              <a:spcAft>
                <a:spcPts val="400"/>
              </a:spcAft>
              <a:defRPr sz="850">
                <a:solidFill>
                  <a:srgbClr val="A4B5CA"/>
                </a:solidFill>
                <a:latin typeface="Noto Sans CJK KR"/>
              </a:defRPr>
            </a:pPr>
            <a:r>
              <a:t>• failed restart state mutation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882127" y="3822191"/>
            <a:ext cx="3657600" cy="1143000"/>
          </a:xfrm>
          <a:prstGeom prst="roundRect">
            <a:avLst/>
          </a:prstGeom>
          <a:solidFill>
            <a:srgbClr val="2D2A1A"/>
          </a:solidFill>
          <a:ln w="12700">
            <a:solidFill>
              <a:srgbClr val="F6B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19872" y="4096512"/>
            <a:ext cx="3200400" cy="5029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F6BA57"/>
                </a:solidFill>
                <a:latin typeface="Noto Sans CJK KR"/>
              </a:defRPr>
            </a:pPr>
            <a:r>
              <a:t>LLM opinion &lt; test · schema · command output · actual GPU evidence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9D6C1"/>
          </a:solidFill>
          <a:ln w="12700">
            <a:solidFill>
              <a:srgbClr val="39D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97840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850" b="1">
                <a:solidFill>
                  <a:srgbClr val="39D6C1"/>
                </a:solidFill>
                <a:latin typeface="Noto Sans CJK KR"/>
              </a:defRPr>
            </a:pPr>
            <a:r>
              <a:t>09 · WHAT I ACTUALLY LEARNED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83464"/>
            <a:ext cx="5029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  <a:defRPr sz="1600" b="1">
                <a:solidFill>
                  <a:srgbClr val="53708F"/>
                </a:solidFill>
                <a:latin typeface="Noto Sans CJK KR"/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21792"/>
            <a:ext cx="10698480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F5F8FC"/>
                </a:solidFill>
                <a:latin typeface="Noto Sans CJK KR"/>
              </a:defRPr>
            </a:pPr>
            <a:r>
              <a:t>도구보다 중요한 것은 경계와 실패 판정이었다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18520" cy="10972"/>
          </a:xfrm>
          <a:prstGeom prst="rect">
            <a:avLst/>
          </a:prstGeom>
          <a:solidFill>
            <a:srgbClr val="2B456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6446520"/>
            <a:ext cx="11018520" cy="10972"/>
          </a:xfrm>
          <a:prstGeom prst="rect">
            <a:avLst/>
          </a:prstGeom>
          <a:solidFill>
            <a:srgbClr val="2B4565"/>
          </a:solidFill>
          <a:ln w="12700">
            <a:solidFill>
              <a:srgbClr val="2B4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510528"/>
            <a:ext cx="59436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720" b="0">
                <a:solidFill>
                  <a:srgbClr val="A4B5CA"/>
                </a:solidFill>
                <a:latin typeface="Noto Sans CJK KR"/>
              </a:defRPr>
            </a:pPr>
            <a:r>
              <a:t>측정 가능한 질문과 반증 가능한 가설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6510528"/>
            <a:ext cx="49834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  <a:defRPr sz="720" b="0">
                <a:solidFill>
                  <a:srgbClr val="A4B5CA"/>
                </a:solidFill>
                <a:latin typeface="Noto Sans CJK KR"/>
              </a:defRPr>
            </a:pPr>
            <a:r>
              <a:t>EVIDENCE · docs/final-report/final-report.md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444752"/>
            <a:ext cx="3547872" cy="1335024"/>
          </a:xfrm>
          <a:prstGeom prst="roundRect">
            <a:avLst/>
          </a:prstGeom>
          <a:solidFill>
            <a:srgbClr val="102038"/>
          </a:solidFill>
          <a:ln w="12700">
            <a:solidFill>
              <a:srgbClr val="2B4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1563624"/>
            <a:ext cx="327355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39D6C1"/>
                </a:solidFill>
                <a:latin typeface="Noto Sans CJK KR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795528" y="1801368"/>
            <a:ext cx="3273552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F5F8FC"/>
                </a:solidFill>
                <a:latin typeface="Noto Sans CJK KR"/>
              </a:defRPr>
            </a:pPr>
            <a:r>
              <a:t>GPU memory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2130552"/>
            <a:ext cx="3273552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A4B5CA"/>
                </a:solidFill>
                <a:latin typeface="Noto Sans CJK KR"/>
              </a:defRPr>
            </a:pPr>
            <a:r>
              <a:t>executor budget ≠ process peak ≠ native card fit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25112" y="1444752"/>
            <a:ext cx="3547872" cy="1335024"/>
          </a:xfrm>
          <a:prstGeom prst="roundRect">
            <a:avLst/>
          </a:prstGeom>
          <a:solidFill>
            <a:srgbClr val="102038"/>
          </a:solidFill>
          <a:ln w="12700">
            <a:solidFill>
              <a:srgbClr val="2B4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62272" y="1563624"/>
            <a:ext cx="327355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39D6C1"/>
                </a:solidFill>
                <a:latin typeface="Noto Sans CJK KR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4462272" y="1801368"/>
            <a:ext cx="3273552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F5F8FC"/>
                </a:solidFill>
                <a:latin typeface="Noto Sans CJK KR"/>
              </a:defRPr>
            </a:pPr>
            <a:r>
              <a:t>Latency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62272" y="2130552"/>
            <a:ext cx="3273552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A4B5CA"/>
                </a:solidFill>
                <a:latin typeface="Noto Sans CJK KR"/>
              </a:defRPr>
            </a:pPr>
            <a:r>
              <a:t>server TTFT ≠ queue wait ≠ user TTFT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91856" y="1444752"/>
            <a:ext cx="3547872" cy="1335024"/>
          </a:xfrm>
          <a:prstGeom prst="roundRect">
            <a:avLst/>
          </a:prstGeom>
          <a:solidFill>
            <a:srgbClr val="102038"/>
          </a:solidFill>
          <a:ln w="12700">
            <a:solidFill>
              <a:srgbClr val="2B4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29016" y="1563624"/>
            <a:ext cx="327355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39D6C1"/>
                </a:solidFill>
                <a:latin typeface="Noto Sans CJK KR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8129016" y="1801368"/>
            <a:ext cx="3273552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F5F8FC"/>
                </a:solidFill>
                <a:latin typeface="Noto Sans CJK KR"/>
              </a:defRPr>
            </a:pPr>
            <a:r>
              <a:t>Quantization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29016" y="2130552"/>
            <a:ext cx="3273552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A4B5CA"/>
                </a:solidFill>
                <a:latin typeface="Noto Sans CJK KR"/>
              </a:defRPr>
            </a:pPr>
            <a:r>
              <a:t>weight format과 execution path를 분리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898648"/>
            <a:ext cx="3547872" cy="1335024"/>
          </a:xfrm>
          <a:prstGeom prst="roundRect">
            <a:avLst/>
          </a:prstGeom>
          <a:solidFill>
            <a:srgbClr val="102038"/>
          </a:solidFill>
          <a:ln w="12700">
            <a:solidFill>
              <a:srgbClr val="2B4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5528" y="3017520"/>
            <a:ext cx="327355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39D6C1"/>
                </a:solidFill>
                <a:latin typeface="Noto Sans CJK KR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795528" y="3255264"/>
            <a:ext cx="3273552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F5F8FC"/>
                </a:solidFill>
                <a:latin typeface="Noto Sans CJK KR"/>
              </a:defRPr>
            </a:pPr>
            <a:r>
              <a:t>Readiness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8" y="3584448"/>
            <a:ext cx="3273552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A4B5CA"/>
                </a:solidFill>
                <a:latin typeface="Noto Sans CJK KR"/>
              </a:defRPr>
            </a:pPr>
            <a:r>
              <a:t>liveness, dependency, admission을 분리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25112" y="2898648"/>
            <a:ext cx="3547872" cy="1335024"/>
          </a:xfrm>
          <a:prstGeom prst="roundRect">
            <a:avLst/>
          </a:prstGeom>
          <a:solidFill>
            <a:srgbClr val="102038"/>
          </a:solidFill>
          <a:ln w="12700">
            <a:solidFill>
              <a:srgbClr val="2B4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62272" y="3017520"/>
            <a:ext cx="327355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39D6C1"/>
                </a:solidFill>
                <a:latin typeface="Noto Sans CJK KR"/>
              </a:defRPr>
            </a:pPr>
          </a:p>
        </p:txBody>
      </p:sp>
      <p:sp>
        <p:nvSpPr>
          <p:cNvPr id="28" name="TextBox 27"/>
          <p:cNvSpPr txBox="1"/>
          <p:nvPr/>
        </p:nvSpPr>
        <p:spPr>
          <a:xfrm>
            <a:off x="4462272" y="3255264"/>
            <a:ext cx="3273552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F5F8FC"/>
                </a:solidFill>
                <a:latin typeface="Noto Sans CJK KR"/>
              </a:defRPr>
            </a:pPr>
            <a:r>
              <a:t>Prometheus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62272" y="3584448"/>
            <a:ext cx="3273552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A4B5CA"/>
                </a:solidFill>
                <a:latin typeface="Noto Sans CJK KR"/>
              </a:defRPr>
            </a:pPr>
            <a:r>
              <a:t>name뿐 아니라 type · labels · buckets가 contract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991856" y="2898648"/>
            <a:ext cx="3547872" cy="1335024"/>
          </a:xfrm>
          <a:prstGeom prst="roundRect">
            <a:avLst/>
          </a:prstGeom>
          <a:solidFill>
            <a:srgbClr val="102038"/>
          </a:solidFill>
          <a:ln w="12700">
            <a:solidFill>
              <a:srgbClr val="2B4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29016" y="3017520"/>
            <a:ext cx="327355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39D6C1"/>
                </a:solidFill>
                <a:latin typeface="Noto Sans CJK KR"/>
              </a:defRPr>
            </a:pPr>
          </a:p>
        </p:txBody>
      </p:sp>
      <p:sp>
        <p:nvSpPr>
          <p:cNvPr id="32" name="TextBox 31"/>
          <p:cNvSpPr txBox="1"/>
          <p:nvPr/>
        </p:nvSpPr>
        <p:spPr>
          <a:xfrm>
            <a:off x="8129016" y="3255264"/>
            <a:ext cx="3273552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F5F8FC"/>
                </a:solidFill>
                <a:latin typeface="Noto Sans CJK KR"/>
              </a:defRPr>
            </a:pPr>
            <a:r>
              <a:t>Regression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29016" y="3584448"/>
            <a:ext cx="3273552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A4B5CA"/>
                </a:solidFill>
                <a:latin typeface="Noto Sans CJK KR"/>
              </a:defRPr>
            </a:pPr>
            <a:r>
              <a:t>stale · skip · crash가 fail closed인지 확인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" y="4352544"/>
            <a:ext cx="3547872" cy="1335024"/>
          </a:xfrm>
          <a:prstGeom prst="roundRect">
            <a:avLst/>
          </a:prstGeom>
          <a:solidFill>
            <a:srgbClr val="102038"/>
          </a:solidFill>
          <a:ln w="12700">
            <a:solidFill>
              <a:srgbClr val="2B4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5528" y="4471416"/>
            <a:ext cx="327355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39D6C1"/>
                </a:solidFill>
                <a:latin typeface="Noto Sans CJK KR"/>
              </a:defRPr>
            </a:pPr>
          </a:p>
        </p:txBody>
      </p:sp>
      <p:sp>
        <p:nvSpPr>
          <p:cNvPr id="36" name="TextBox 35"/>
          <p:cNvSpPr txBox="1"/>
          <p:nvPr/>
        </p:nvSpPr>
        <p:spPr>
          <a:xfrm>
            <a:off x="795528" y="4709159"/>
            <a:ext cx="3273552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F5F8FC"/>
                </a:solidFill>
                <a:latin typeface="Noto Sans CJK KR"/>
              </a:defRPr>
            </a:pPr>
            <a:r>
              <a:t>Rollback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5528" y="5038344"/>
            <a:ext cx="3273552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A4B5CA"/>
                </a:solidFill>
                <a:latin typeface="Noto Sans CJK KR"/>
              </a:defRPr>
            </a:pPr>
            <a:r>
              <a:t>immutable target → restart → ready → state commit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325112" y="4352544"/>
            <a:ext cx="3547872" cy="1335024"/>
          </a:xfrm>
          <a:prstGeom prst="roundRect">
            <a:avLst/>
          </a:prstGeom>
          <a:solidFill>
            <a:srgbClr val="102038"/>
          </a:solidFill>
          <a:ln w="12700">
            <a:solidFill>
              <a:srgbClr val="2B4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62272" y="4471416"/>
            <a:ext cx="327355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39D6C1"/>
                </a:solidFill>
                <a:latin typeface="Noto Sans CJK KR"/>
              </a:defRPr>
            </a:pPr>
          </a:p>
        </p:txBody>
      </p:sp>
      <p:sp>
        <p:nvSpPr>
          <p:cNvPr id="40" name="TextBox 39"/>
          <p:cNvSpPr txBox="1"/>
          <p:nvPr/>
        </p:nvSpPr>
        <p:spPr>
          <a:xfrm>
            <a:off x="4462272" y="4709159"/>
            <a:ext cx="3273552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F5F8FC"/>
                </a:solidFill>
                <a:latin typeface="Noto Sans CJK KR"/>
              </a:defRPr>
            </a:pPr>
            <a:r>
              <a:t>Provenance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62272" y="5038344"/>
            <a:ext cx="3273552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A4B5CA"/>
                </a:solidFill>
                <a:latin typeface="Noto Sans CJK KR"/>
              </a:defRPr>
            </a:pPr>
            <a:r>
              <a:t>source 없는 숫자는 재사용 가능한 evidence가 아님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9D6C1"/>
          </a:solidFill>
          <a:ln w="12700">
            <a:solidFill>
              <a:srgbClr val="39D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97840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850" b="1">
                <a:solidFill>
                  <a:srgbClr val="39D6C1"/>
                </a:solidFill>
                <a:latin typeface="Noto Sans CJK KR"/>
              </a:defRPr>
            </a:pPr>
            <a:r>
              <a:t>10 · REMAINING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83464"/>
            <a:ext cx="5029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  <a:defRPr sz="1600" b="1">
                <a:solidFill>
                  <a:srgbClr val="53708F"/>
                </a:solidFill>
                <a:latin typeface="Noto Sans CJK KR"/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21792"/>
            <a:ext cx="10698480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F5F8FC"/>
                </a:solidFill>
                <a:latin typeface="Noto Sans CJK KR"/>
              </a:defRPr>
            </a:pPr>
            <a:r>
              <a:t>완료 범위와 아직 주장할 수 없는 것을 분리했다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18520" cy="10972"/>
          </a:xfrm>
          <a:prstGeom prst="rect">
            <a:avLst/>
          </a:prstGeom>
          <a:solidFill>
            <a:srgbClr val="2B456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6446520"/>
            <a:ext cx="11018520" cy="10972"/>
          </a:xfrm>
          <a:prstGeom prst="rect">
            <a:avLst/>
          </a:prstGeom>
          <a:solidFill>
            <a:srgbClr val="2B4565"/>
          </a:solidFill>
          <a:ln w="12700">
            <a:solidFill>
              <a:srgbClr val="2B4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510528"/>
            <a:ext cx="59436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720" b="0">
                <a:solidFill>
                  <a:srgbClr val="A4B5CA"/>
                </a:solidFill>
                <a:latin typeface="Noto Sans CJK KR"/>
              </a:defRPr>
            </a:pPr>
            <a:r>
              <a:t>Known limitation은 숨기는 결함이 아니라 다음 실험의 입력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6510528"/>
            <a:ext cx="49834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  <a:defRPr sz="720" b="0">
                <a:solidFill>
                  <a:srgbClr val="A4B5CA"/>
                </a:solidFill>
                <a:latin typeface="Noto Sans CJK KR"/>
              </a:defRPr>
            </a:pPr>
            <a:r>
              <a:t>EVIDENCE · docs/final-review/final-release-review.json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444752"/>
            <a:ext cx="3547872" cy="1600200"/>
          </a:xfrm>
          <a:prstGeom prst="roundRect">
            <a:avLst/>
          </a:prstGeom>
          <a:solidFill>
            <a:srgbClr val="102038"/>
          </a:solidFill>
          <a:ln w="12700">
            <a:solidFill>
              <a:srgbClr val="2B4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1563624"/>
            <a:ext cx="327355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39D6C1"/>
                </a:solidFill>
                <a:latin typeface="Noto Sans CJK KR"/>
              </a:defRPr>
            </a:pPr>
            <a:r>
              <a:t>KNOWN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1801368"/>
            <a:ext cx="3273552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1150" b="1">
                <a:solidFill>
                  <a:srgbClr val="F5F8FC"/>
                </a:solidFill>
                <a:latin typeface="Noto Sans CJK KR"/>
              </a:defRPr>
            </a:pPr>
            <a:r>
              <a:t>Prompt injection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2130552"/>
            <a:ext cx="3273552" cy="7955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830" b="0">
                <a:solidFill>
                  <a:srgbClr val="A4B5CA"/>
                </a:solidFill>
                <a:latin typeface="Noto Sans CJK KR"/>
              </a:defRPr>
            </a:pPr>
            <a:r>
              <a:t>1 / 5 success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" y="2770632"/>
            <a:ext cx="3273552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720" b="0">
                <a:solidFill>
                  <a:srgbClr val="F6BA57"/>
                </a:solidFill>
                <a:latin typeface="Noto Sans CJK KR"/>
              </a:defRPr>
            </a:pPr>
            <a:r>
              <a:t>Next · defence experiment; threshold 임의 변경 금지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25112" y="1444752"/>
            <a:ext cx="3547872" cy="1600200"/>
          </a:xfrm>
          <a:prstGeom prst="roundRect">
            <a:avLst/>
          </a:prstGeom>
          <a:solidFill>
            <a:srgbClr val="102038"/>
          </a:solidFill>
          <a:ln w="12700">
            <a:solidFill>
              <a:srgbClr val="2B4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62272" y="1563624"/>
            <a:ext cx="327355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39D6C1"/>
                </a:solidFill>
                <a:latin typeface="Noto Sans CJK KR"/>
              </a:defRPr>
            </a:pPr>
            <a:r>
              <a:t>PENDING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62272" y="1801368"/>
            <a:ext cx="3273552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1150" b="1">
                <a:solidFill>
                  <a:srgbClr val="F5F8FC"/>
                </a:solidFill>
                <a:latin typeface="Noto Sans CJK KR"/>
              </a:defRPr>
            </a:pPr>
            <a:r>
              <a:t>Alert windows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62272" y="2130552"/>
            <a:ext cx="3273552" cy="7955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830" b="0">
                <a:solidFill>
                  <a:srgbClr val="A4B5CA"/>
                </a:solidFill>
                <a:latin typeface="Noto Sans CJK KR"/>
              </a:defRPr>
            </a:pPr>
            <a:r>
              <a:t>PENDING_THRESHOLD_VALIDATION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62272" y="2770632"/>
            <a:ext cx="3273552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720" b="0">
                <a:solidFill>
                  <a:srgbClr val="F6BA57"/>
                </a:solidFill>
                <a:latin typeface="Noto Sans CJK KR"/>
              </a:defRPr>
            </a:pPr>
            <a:r>
              <a:t>Next · 실제 traffic distribution으로 재측정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91856" y="1444752"/>
            <a:ext cx="3547872" cy="1600200"/>
          </a:xfrm>
          <a:prstGeom prst="roundRect">
            <a:avLst/>
          </a:prstGeom>
          <a:solidFill>
            <a:srgbClr val="102038"/>
          </a:solidFill>
          <a:ln w="12700">
            <a:solidFill>
              <a:srgbClr val="2B4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29016" y="1563624"/>
            <a:ext cx="327355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39D6C1"/>
                </a:solidFill>
                <a:latin typeface="Noto Sans CJK KR"/>
              </a:defRPr>
            </a:pPr>
            <a:r>
              <a:t>PENDING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29016" y="1801368"/>
            <a:ext cx="3273552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1150" b="1">
                <a:solidFill>
                  <a:srgbClr val="F5F8FC"/>
                </a:solidFill>
                <a:latin typeface="Noto Sans CJK KR"/>
              </a:defRPr>
            </a:pPr>
            <a:r>
              <a:t>Native 24GB GPU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29016" y="2130552"/>
            <a:ext cx="3273552" cy="7955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830" b="0">
                <a:solidFill>
                  <a:srgbClr val="A4B5CA"/>
                </a:solidFill>
                <a:latin typeface="Noto Sans CJK KR"/>
              </a:defRPr>
            </a:pPr>
            <a:r>
              <a:t>NOT_EXECUTED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29016" y="2770632"/>
            <a:ext cx="3273552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720" b="0">
                <a:solidFill>
                  <a:srgbClr val="F6BA57"/>
                </a:solidFill>
                <a:latin typeface="Noto Sans CJK KR"/>
              </a:defRPr>
            </a:pPr>
            <a:r>
              <a:t>Next · 같은 revision/config native validation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163824"/>
            <a:ext cx="3547872" cy="1600200"/>
          </a:xfrm>
          <a:prstGeom prst="roundRect">
            <a:avLst/>
          </a:prstGeom>
          <a:solidFill>
            <a:srgbClr val="102038"/>
          </a:solidFill>
          <a:ln w="12700">
            <a:solidFill>
              <a:srgbClr val="2B4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8" y="3282696"/>
            <a:ext cx="327355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39D6C1"/>
                </a:solidFill>
                <a:latin typeface="Noto Sans CJK KR"/>
              </a:defRPr>
            </a:pPr>
            <a:r>
              <a:t>SCOPE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8" y="3520440"/>
            <a:ext cx="3273552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1150" b="1">
                <a:solidFill>
                  <a:srgbClr val="F5F8FC"/>
                </a:solidFill>
                <a:latin typeface="Noto Sans CJK KR"/>
              </a:defRPr>
            </a:pPr>
            <a:r>
              <a:t>High availability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8" y="3849624"/>
            <a:ext cx="3273552" cy="7955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830" b="0">
                <a:solidFill>
                  <a:srgbClr val="A4B5CA"/>
                </a:solidFill>
                <a:latin typeface="Noto Sans CJK KR"/>
              </a:defRPr>
            </a:pPr>
            <a:r>
              <a:t>single-host only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8" y="4489704"/>
            <a:ext cx="3273552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720" b="0">
                <a:solidFill>
                  <a:srgbClr val="F6BA57"/>
                </a:solidFill>
                <a:latin typeface="Noto Sans CJK KR"/>
              </a:defRPr>
            </a:pPr>
            <a:r>
              <a:t>Next · 현재 프로젝트 범위 밖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25112" y="3163824"/>
            <a:ext cx="3547872" cy="1600200"/>
          </a:xfrm>
          <a:prstGeom prst="roundRect">
            <a:avLst/>
          </a:prstGeom>
          <a:solidFill>
            <a:srgbClr val="102038"/>
          </a:solidFill>
          <a:ln w="12700">
            <a:solidFill>
              <a:srgbClr val="2B4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62272" y="3282696"/>
            <a:ext cx="327355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39D6C1"/>
                </a:solidFill>
                <a:latin typeface="Noto Sans CJK KR"/>
              </a:defRPr>
            </a:pPr>
            <a:r>
              <a:t>SCOPE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62272" y="3520440"/>
            <a:ext cx="3273552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1150" b="1">
                <a:solidFill>
                  <a:srgbClr val="F5F8FC"/>
                </a:solidFill>
                <a:latin typeface="Noto Sans CJK KR"/>
              </a:defRPr>
            </a:pPr>
            <a:r>
              <a:t>Production corpus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62272" y="3849624"/>
            <a:ext cx="3273552" cy="7955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830" b="0">
                <a:solidFill>
                  <a:srgbClr val="A4B5CA"/>
                </a:solidFill>
                <a:latin typeface="Noto Sans CJK KR"/>
              </a:defRPr>
            </a:pPr>
            <a:r>
              <a:t>synthetic 16 docs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62272" y="4489704"/>
            <a:ext cx="3273552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720" b="0">
                <a:solidFill>
                  <a:srgbClr val="F6BA57"/>
                </a:solidFill>
                <a:latin typeface="Noto Sans CJK KR"/>
              </a:defRPr>
            </a:pPr>
            <a:r>
              <a:t>Next · 보안 승인된 별도 평가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991856" y="3163824"/>
            <a:ext cx="3547872" cy="1600200"/>
          </a:xfrm>
          <a:prstGeom prst="roundRect">
            <a:avLst/>
          </a:prstGeom>
          <a:solidFill>
            <a:srgbClr val="102038"/>
          </a:solidFill>
          <a:ln w="12700">
            <a:solidFill>
              <a:srgbClr val="2B4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29016" y="3282696"/>
            <a:ext cx="327355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39D6C1"/>
                </a:solidFill>
                <a:latin typeface="Noto Sans CJK KR"/>
              </a:defRPr>
            </a:pPr>
            <a:r>
              <a:t>PENDING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29016" y="3520440"/>
            <a:ext cx="3273552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1150" b="1">
                <a:solidFill>
                  <a:srgbClr val="F5F8FC"/>
                </a:solidFill>
                <a:latin typeface="Noto Sans CJK KR"/>
              </a:defRPr>
            </a:pPr>
            <a:r>
              <a:t>Remote GPU CI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29016" y="3849624"/>
            <a:ext cx="3273552" cy="7955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830" b="0">
                <a:solidFill>
                  <a:srgbClr val="A4B5CA"/>
                </a:solidFill>
                <a:latin typeface="Noto Sans CJK KR"/>
              </a:defRPr>
            </a:pPr>
            <a:r>
              <a:t>NOT_EXECUTED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29016" y="4489704"/>
            <a:ext cx="3273552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720" b="0">
                <a:solidFill>
                  <a:srgbClr val="F6BA57"/>
                </a:solidFill>
                <a:latin typeface="Noto Sans CJK KR"/>
              </a:defRPr>
            </a:pPr>
            <a:r>
              <a:t>Next · self-hosted A6000 runner 연결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" y="5943600"/>
            <a:ext cx="10881360" cy="347472"/>
          </a:xfrm>
          <a:prstGeom prst="roundRect">
            <a:avLst/>
          </a:prstGeom>
          <a:solidFill>
            <a:srgbClr val="12433E"/>
          </a:solidFill>
          <a:ln w="12700">
            <a:solidFill>
              <a:srgbClr val="6EE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60" y="6035040"/>
            <a:ext cx="22860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6EE7A8"/>
                </a:solidFill>
                <a:latin typeface="Noto Sans CJK KR"/>
              </a:defRPr>
            </a:pPr>
            <a:r>
              <a:t>PASS · v0.2 single-A6000 scope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834640" y="6025896"/>
            <a:ext cx="841248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760" b="0">
                <a:solidFill>
                  <a:srgbClr val="F5F8FC"/>
                </a:solidFill>
                <a:latin typeface="Noto Sans CJK KR"/>
              </a:defRPr>
            </a:pPr>
            <a:r>
              <a:t>통합 운영 rehearsal 통과는 native 24GB/실사용 traffic 검증을 의미하지 않는다.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9D6C1"/>
          </a:solidFill>
          <a:ln w="12700">
            <a:solidFill>
              <a:srgbClr val="39D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97840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850" b="1">
                <a:solidFill>
                  <a:srgbClr val="39D6C1"/>
                </a:solidFill>
                <a:latin typeface="Noto Sans CJK KR"/>
              </a:defRPr>
            </a:pPr>
            <a:r>
              <a:t>11 · RESUME / INTERVIEW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83464"/>
            <a:ext cx="5029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  <a:defRPr sz="1600" b="1">
                <a:solidFill>
                  <a:srgbClr val="53708F"/>
                </a:solidFill>
                <a:latin typeface="Noto Sans CJK KR"/>
              </a:defRPr>
            </a:pPr>
            <a: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21792"/>
            <a:ext cx="10698480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F5F8FC"/>
                </a:solidFill>
                <a:latin typeface="Noto Sans CJK KR"/>
              </a:defRPr>
            </a:pPr>
            <a:r>
              <a:t>모델 비교를 운영 가능한 증거 체계까지 확장했다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18520" cy="10972"/>
          </a:xfrm>
          <a:prstGeom prst="rect">
            <a:avLst/>
          </a:prstGeom>
          <a:solidFill>
            <a:srgbClr val="2B456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6446520"/>
            <a:ext cx="11018520" cy="10972"/>
          </a:xfrm>
          <a:prstGeom prst="rect">
            <a:avLst/>
          </a:prstGeom>
          <a:solidFill>
            <a:srgbClr val="2B4565"/>
          </a:solidFill>
          <a:ln w="12700">
            <a:solidFill>
              <a:srgbClr val="2B4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510528"/>
            <a:ext cx="59436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720" b="0">
                <a:solidFill>
                  <a:srgbClr val="A4B5CA"/>
                </a:solidFill>
                <a:latin typeface="Noto Sans CJK KR"/>
              </a:defRPr>
            </a:pPr>
            <a:r>
              <a:t>Full evidence map · docs/final-report/final-report.md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6510528"/>
            <a:ext cx="49834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  <a:defRPr sz="720" b="0">
                <a:solidFill>
                  <a:srgbClr val="A4B5CA"/>
                </a:solidFill>
                <a:latin typeface="Noto Sans CJK KR"/>
              </a:defRPr>
            </a:pPr>
            <a:r>
              <a:t>EVIDENCE · docs/final-report/resume-interview-summary.md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417320"/>
            <a:ext cx="10881360" cy="1261872"/>
          </a:xfrm>
          <a:prstGeom prst="roundRect">
            <a:avLst/>
          </a:prstGeom>
          <a:solidFill>
            <a:srgbClr val="102038"/>
          </a:solidFill>
          <a:ln w="12700">
            <a:solidFill>
              <a:srgbClr val="39D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664208"/>
            <a:ext cx="10332720" cy="7315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F5F8FC"/>
                </a:solidFill>
                <a:latin typeface="Noto Sans CJK KR"/>
              </a:defRPr>
            </a:pPr>
            <a:r>
              <a:t>단일 RTX A6000 금융 RAG에서 품질·TTFT·처리량·VRAM·ACL을 동일 provenance로 비교했습니다. AWQ 저성능 해석을 eager 통제 실험으로 수정하고, pinned Compose·Prometheus·회귀 gate·incident·immutable rollback까지 실제 실행으로 닫았습니다.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944368"/>
            <a:ext cx="7040880" cy="1554480"/>
          </a:xfrm>
          <a:prstGeom prst="roundRect">
            <a:avLst/>
          </a:prstGeom>
          <a:solidFill>
            <a:srgbClr val="102038"/>
          </a:solidFill>
          <a:ln w="12700">
            <a:solidFill>
              <a:srgbClr val="2B4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154680"/>
            <a:ext cx="18288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800" b="1">
                <a:solidFill>
                  <a:srgbClr val="39D6C1"/>
                </a:solidFill>
                <a:latin typeface="Noto Sans CJK KR"/>
              </a:defRPr>
            </a:pPr>
            <a:r>
              <a:t>CORE STACK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3520440"/>
            <a:ext cx="640080" cy="283464"/>
          </a:xfrm>
          <a:prstGeom prst="roundRect">
            <a:avLst/>
          </a:prstGeom>
          <a:solidFill>
            <a:srgbClr val="142B49"/>
          </a:solidFill>
          <a:ln w="12700">
            <a:solidFill>
              <a:srgbClr val="2B4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593592"/>
            <a:ext cx="640080" cy="12801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  <a:defRPr sz="700" b="0">
                <a:solidFill>
                  <a:srgbClr val="F5F8FC"/>
                </a:solidFill>
                <a:latin typeface="Noto Sans CJK KR"/>
              </a:defRPr>
            </a:pPr>
            <a:r>
              <a:t>Python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581912" y="3520440"/>
            <a:ext cx="708660" cy="283464"/>
          </a:xfrm>
          <a:prstGeom prst="roundRect">
            <a:avLst/>
          </a:prstGeom>
          <a:solidFill>
            <a:srgbClr val="142B49"/>
          </a:solidFill>
          <a:ln w="12700">
            <a:solidFill>
              <a:srgbClr val="2B4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81912" y="3593592"/>
            <a:ext cx="708660" cy="12801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  <a:defRPr sz="700" b="0">
                <a:solidFill>
                  <a:srgbClr val="F5F8FC"/>
                </a:solidFill>
                <a:latin typeface="Noto Sans CJK KR"/>
              </a:defRPr>
            </a:pPr>
            <a:r>
              <a:t>PyTorch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363724" y="3520440"/>
            <a:ext cx="914400" cy="283464"/>
          </a:xfrm>
          <a:prstGeom prst="roundRect">
            <a:avLst/>
          </a:prstGeom>
          <a:solidFill>
            <a:srgbClr val="142B49"/>
          </a:solidFill>
          <a:ln w="12700">
            <a:solidFill>
              <a:srgbClr val="2B4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63724" y="3593592"/>
            <a:ext cx="914400" cy="12801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  <a:defRPr sz="700" b="0">
                <a:solidFill>
                  <a:srgbClr val="F5F8FC"/>
                </a:solidFill>
                <a:latin typeface="Noto Sans CJK KR"/>
              </a:defRPr>
            </a:pPr>
            <a:r>
              <a:t>vLLM 0.9.2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51276" y="3520440"/>
            <a:ext cx="640080" cy="283464"/>
          </a:xfrm>
          <a:prstGeom prst="roundRect">
            <a:avLst/>
          </a:prstGeom>
          <a:solidFill>
            <a:srgbClr val="142B49"/>
          </a:solidFill>
          <a:ln w="12700">
            <a:solidFill>
              <a:srgbClr val="2B4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51276" y="3593592"/>
            <a:ext cx="640080" cy="12801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  <a:defRPr sz="700" b="0">
                <a:solidFill>
                  <a:srgbClr val="F5F8FC"/>
                </a:solidFill>
                <a:latin typeface="Noto Sans CJK KR"/>
              </a:defRPr>
            </a:pPr>
            <a:r>
              <a:t>Qwen3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64508" y="3520440"/>
            <a:ext cx="640080" cy="283464"/>
          </a:xfrm>
          <a:prstGeom prst="roundRect">
            <a:avLst/>
          </a:prstGeom>
          <a:solidFill>
            <a:srgbClr val="142B49"/>
          </a:solidFill>
          <a:ln w="12700">
            <a:solidFill>
              <a:srgbClr val="2B4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64508" y="3593592"/>
            <a:ext cx="640080" cy="12801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  <a:defRPr sz="700" b="0">
                <a:solidFill>
                  <a:srgbClr val="F5F8FC"/>
                </a:solidFill>
                <a:latin typeface="Noto Sans CJK KR"/>
              </a:defRPr>
            </a:pPr>
            <a:r>
              <a:t>AWQ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77740" y="3520440"/>
            <a:ext cx="1188720" cy="283464"/>
          </a:xfrm>
          <a:prstGeom prst="roundRect">
            <a:avLst/>
          </a:prstGeom>
          <a:solidFill>
            <a:srgbClr val="142B49"/>
          </a:solidFill>
          <a:ln w="12700">
            <a:solidFill>
              <a:srgbClr val="2B4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77740" y="3593592"/>
            <a:ext cx="1188720" cy="12801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  <a:defRPr sz="700" b="0">
                <a:solidFill>
                  <a:srgbClr val="F5F8FC"/>
                </a:solidFill>
                <a:latin typeface="Noto Sans CJK KR"/>
              </a:defRPr>
            </a:pPr>
            <a:r>
              <a:t>Docker Compose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39612" y="3520440"/>
            <a:ext cx="914400" cy="283464"/>
          </a:xfrm>
          <a:prstGeom prst="roundRect">
            <a:avLst/>
          </a:prstGeom>
          <a:solidFill>
            <a:srgbClr val="142B49"/>
          </a:solidFill>
          <a:ln w="12700">
            <a:solidFill>
              <a:srgbClr val="2B4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9612" y="3593592"/>
            <a:ext cx="914400" cy="12801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  <a:defRPr sz="700" b="0">
                <a:solidFill>
                  <a:srgbClr val="F5F8FC"/>
                </a:solidFill>
                <a:latin typeface="Noto Sans CJK KR"/>
              </a:defRPr>
            </a:pPr>
            <a:r>
              <a:t>Prometheus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8680" y="3904488"/>
            <a:ext cx="708660" cy="283464"/>
          </a:xfrm>
          <a:prstGeom prst="roundRect">
            <a:avLst/>
          </a:prstGeom>
          <a:solidFill>
            <a:srgbClr val="142B49"/>
          </a:solidFill>
          <a:ln w="12700">
            <a:solidFill>
              <a:srgbClr val="2B4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3977640"/>
            <a:ext cx="708660" cy="12801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  <a:defRPr sz="700" b="0">
                <a:solidFill>
                  <a:srgbClr val="F5F8FC"/>
                </a:solidFill>
                <a:latin typeface="Noto Sans CJK KR"/>
              </a:defRPr>
            </a:pPr>
            <a:r>
              <a:t>Grafana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650492" y="3904488"/>
            <a:ext cx="1188720" cy="283464"/>
          </a:xfrm>
          <a:prstGeom prst="roundRect">
            <a:avLst/>
          </a:prstGeom>
          <a:solidFill>
            <a:srgbClr val="142B49"/>
          </a:solidFill>
          <a:ln w="12700">
            <a:solidFill>
              <a:srgbClr val="2B4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50492" y="3977640"/>
            <a:ext cx="1188720" cy="12801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  <a:defRPr sz="700" b="0">
                <a:solidFill>
                  <a:srgbClr val="F5F8FC"/>
                </a:solidFill>
                <a:latin typeface="Noto Sans CJK KR"/>
              </a:defRPr>
            </a:pPr>
            <a:r>
              <a:t>GitHub Actions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09560" y="2944368"/>
            <a:ext cx="3630168" cy="1554480"/>
          </a:xfrm>
          <a:prstGeom prst="roundRect">
            <a:avLst/>
          </a:prstGeom>
          <a:solidFill>
            <a:srgbClr val="102038"/>
          </a:solidFill>
          <a:ln w="12700">
            <a:solidFill>
              <a:srgbClr val="2B4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38160" y="3154680"/>
            <a:ext cx="9144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  <a:defRPr sz="800" b="1">
                <a:solidFill>
                  <a:srgbClr val="39D6C1"/>
                </a:solidFill>
                <a:latin typeface="Noto Sans CJK KR"/>
              </a:defRPr>
            </a:pPr>
            <a:r>
              <a:t>NEXT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38160" y="3493008"/>
            <a:ext cx="3063240" cy="658368"/>
          </a:xfrm>
          <a:prstGeom prst="rect">
            <a:avLst/>
          </a:prstGeom>
          <a:noFill/>
        </p:spPr>
        <p:txBody>
          <a:bodyPr wrap="square" lIns="45720" rIns="18288">
            <a:spAutoFit/>
          </a:bodyPr>
          <a:lstStyle/>
          <a:p>
            <a:pPr>
              <a:spcAft>
                <a:spcPts val="400"/>
              </a:spcAft>
              <a:defRPr sz="900">
                <a:solidFill>
                  <a:srgbClr val="A4B5CA"/>
                </a:solidFill>
                <a:latin typeface="Noto Sans CJK KR"/>
              </a:defRPr>
            </a:pPr>
            <a:r>
              <a:t>• Quantization Autopsy</a:t>
            </a:r>
          </a:p>
          <a:p>
            <a:pPr>
              <a:spcAft>
                <a:spcPts val="400"/>
              </a:spcAft>
              <a:defRPr sz="900">
                <a:solidFill>
                  <a:srgbClr val="A4B5CA"/>
                </a:solidFill>
                <a:latin typeface="Noto Sans CJK KR"/>
              </a:defRPr>
            </a:pPr>
            <a:r>
              <a:t>• Whisper / K-Voice</a:t>
            </a:r>
          </a:p>
          <a:p>
            <a:pPr>
              <a:spcAft>
                <a:spcPts val="400"/>
              </a:spcAft>
              <a:defRPr sz="900">
                <a:solidFill>
                  <a:srgbClr val="A4B5CA"/>
                </a:solidFill>
                <a:latin typeface="Noto Sans CJK KR"/>
              </a:defRPr>
            </a:pPr>
            <a:r>
              <a:t>• Master's Thesis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4892040"/>
            <a:ext cx="105156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  <a:defRPr sz="1050" b="1">
                <a:solidFill>
                  <a:srgbClr val="F6BA57"/>
                </a:solidFill>
                <a:latin typeface="Noto Sans CJK KR"/>
              </a:defRPr>
            </a:pPr>
            <a:r>
              <a:t>AI agents implemented and reviewed. Contracts, tests, schema and measurements judged.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