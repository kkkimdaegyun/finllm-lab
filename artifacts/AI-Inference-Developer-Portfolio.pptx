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749808"/>
            <a:ext cx="106984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lang="ko-KR">
                <a:solidFill>
                  <a:srgbClr val="38D6FF"/>
                </a:solidFill>
                <a:latin typeface="Noto Sans KR"/>
                <a:ea typeface="Noto Sans KR"/>
              </a:rPr>
              <a:t>AI DEVELOPER · LLMOPS · AGENT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417320"/>
            <a:ext cx="10789920" cy="20116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300" b="1" lang="ko-KR">
                <a:solidFill>
                  <a:srgbClr val="F3F7FD"/>
                </a:solidFill>
                <a:latin typeface="Noto Sans KR"/>
                <a:ea typeface="Noto Sans KR"/>
              </a:rPr>
              <a:t>Evidence-Driven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300" b="1" lang="ko-KR">
                <a:solidFill>
                  <a:srgbClr val="F3F7FD"/>
                </a:solidFill>
                <a:latin typeface="Noto Sans KR"/>
                <a:ea typeface="Noto Sans KR"/>
              </a:rPr>
              <a:t>AI Inference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858768"/>
            <a:ext cx="9966960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lang="ko-KR">
                <a:solidFill>
                  <a:srgbClr val="9DB0C7"/>
                </a:solidFill>
                <a:latin typeface="Noto Sans KR"/>
                <a:ea typeface="Noto Sans KR"/>
              </a:rPr>
              <a:t>김대균 · AI 추론을 만들고, 측정하고, 운영하며, 증거 기반 Agent로 자동화했습니다.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4919472"/>
            <a:ext cx="1645920" cy="393192"/>
          </a:xfrm>
          <a:prstGeom prst="roundRect">
            <a:avLst/>
          </a:prstGeom>
          <a:solidFill>
            <a:srgbClr val="07111F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5038344"/>
            <a:ext cx="1444752" cy="1554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lang="ko-KR">
                <a:solidFill>
                  <a:srgbClr val="9AF56D"/>
                </a:solidFill>
                <a:latin typeface="Noto Sans KR"/>
                <a:ea typeface="Noto Sans KR"/>
              </a:rPr>
              <a:t>Production LLMOps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4919472"/>
            <a:ext cx="2112264" cy="393192"/>
          </a:xfrm>
          <a:prstGeom prst="roundRect">
            <a:avLst/>
          </a:prstGeom>
          <a:solidFill>
            <a:srgbClr val="07111F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42615" y="5038344"/>
            <a:ext cx="1911095" cy="1554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lang="ko-KR">
                <a:solidFill>
                  <a:srgbClr val="9AF56D"/>
                </a:solidFill>
                <a:latin typeface="Noto Sans KR"/>
                <a:ea typeface="Noto Sans KR"/>
              </a:rPr>
              <a:t>Quantization Debugging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4919472"/>
            <a:ext cx="1645920" cy="393192"/>
          </a:xfrm>
          <a:prstGeom prst="roundRect">
            <a:avLst/>
          </a:prstGeom>
          <a:solidFill>
            <a:srgbClr val="07111F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01184" y="5038344"/>
            <a:ext cx="1444752" cy="1554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lang="ko-KR">
                <a:solidFill>
                  <a:srgbClr val="9AF56D"/>
                </a:solidFill>
                <a:latin typeface="Noto Sans KR"/>
                <a:ea typeface="Noto Sans KR"/>
              </a:rPr>
              <a:t>Korean ASR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92824" y="4919472"/>
            <a:ext cx="1824228" cy="393192"/>
          </a:xfrm>
          <a:prstGeom prst="roundRect">
            <a:avLst/>
          </a:prstGeom>
          <a:solidFill>
            <a:srgbClr val="07111F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93408" y="5038344"/>
            <a:ext cx="1623060" cy="1554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lang="ko-KR">
                <a:solidFill>
                  <a:srgbClr val="9AF56D"/>
                </a:solidFill>
                <a:latin typeface="Noto Sans KR"/>
                <a:ea typeface="Noto Sans KR"/>
              </a:rPr>
              <a:t>FinCompliance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614476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lang="ko-KR">
                <a:solidFill>
                  <a:srgbClr val="9DB0C7"/>
                </a:solidFill>
                <a:latin typeface="DejaVu Sans Mono"/>
                <a:ea typeface="DejaVu Sans Mono"/>
              </a:rPr>
              <a:t>2026 · Developer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lang="ko-KR">
                <a:solidFill>
                  <a:srgbClr val="38D6FF"/>
                </a:solidFill>
                <a:latin typeface="Noto Sans KR"/>
                <a:ea typeface="Noto Sans KR"/>
              </a:rPr>
              <a:t>PORTFOLIO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8136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 lang="ko-KR">
                <a:solidFill>
                  <a:srgbClr val="F3F7FD"/>
                </a:solidFill>
                <a:latin typeface="Noto Sans KR"/>
                <a:ea typeface="Noto Sans KR"/>
              </a:rPr>
              <a:t>네 프로젝트가 답하는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88136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lang="ko-KR">
                <a:solidFill>
                  <a:srgbClr val="9DB0C7"/>
                </a:solidFill>
                <a:latin typeface="Noto Sans KR"/>
                <a:ea typeface="Noto Sans KR"/>
              </a:rPr>
              <a:t>모델 데모보다 요구사항 → 측정 → 선택 → 운영 → 자동화의 닫힌 고리를 만들었습니다.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47472"/>
            <a:ext cx="7315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DejaVu Sans Mono"/>
                <a:ea typeface="DejaVu Sans Mono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01952"/>
            <a:ext cx="5349240" cy="1572768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92861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lang="ko-KR">
                <a:solidFill>
                  <a:srgbClr val="38D6FF"/>
                </a:solidFill>
                <a:latin typeface="Noto Sans KR"/>
                <a:ea typeface="Noto Sans KR"/>
              </a:rPr>
              <a:t>01 FinLLM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32304"/>
            <a:ext cx="13716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lang="ko-KR">
                <a:solidFill>
                  <a:srgbClr val="F3F7FD"/>
                </a:solidFill>
                <a:latin typeface="Noto Sans KR"/>
                <a:ea typeface="Noto Sans KR"/>
              </a:rPr>
              <a:t>운영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2386584"/>
            <a:ext cx="3538727" cy="7315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lang="ko-KR">
                <a:solidFill>
                  <a:srgbClr val="9DB0C7"/>
                </a:solidFill>
                <a:latin typeface="Noto Sans KR"/>
                <a:ea typeface="Noto Sans KR"/>
              </a:rPr>
              <a:t>금융 Private RAG를 단일 GPU에서 어떻게 배포·관측·회귀·롤백할까?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246120"/>
            <a:ext cx="786384" cy="36576"/>
          </a:xfrm>
          <a:prstGeom prst="rect">
            <a:avLst/>
          </a:prstGeom>
          <a:solidFill>
            <a:srgbClr val="38D6FF"/>
          </a:solidFill>
          <a:ln>
            <a:solidFill>
              <a:srgbClr val="38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0488" y="1901952"/>
            <a:ext cx="5349240" cy="1572768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492861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lang="ko-KR">
                <a:solidFill>
                  <a:srgbClr val="9AF56D"/>
                </a:solidFill>
                <a:latin typeface="Noto Sans KR"/>
                <a:ea typeface="Noto Sans KR"/>
              </a:rPr>
              <a:t>02 Quantization Autopsy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32304"/>
            <a:ext cx="13716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lang="ko-KR">
                <a:solidFill>
                  <a:srgbClr val="F3F7FD"/>
                </a:solidFill>
                <a:latin typeface="Noto Sans KR"/>
                <a:ea typeface="Noto Sans KR"/>
              </a:rPr>
              <a:t>원인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2386584"/>
            <a:ext cx="3538727" cy="7315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lang="ko-KR">
                <a:solidFill>
                  <a:srgbClr val="9DB0C7"/>
                </a:solidFill>
                <a:latin typeface="Noto Sans KR"/>
                <a:ea typeface="Noto Sans KR"/>
              </a:rPr>
              <a:t>양자화 모델의 성능 저하를 정밀도가 아닌 실행 경로까지 어떻게 분해할까?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246120"/>
            <a:ext cx="786384" cy="36576"/>
          </a:xfrm>
          <a:prstGeom prst="rect">
            <a:avLst/>
          </a:prstGeom>
          <a:solidFill>
            <a:srgbClr val="9AF56D"/>
          </a:solidFill>
          <a:ln>
            <a:solidFill>
              <a:srgbClr val="9AF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3730752"/>
            <a:ext cx="5349240" cy="1572768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31920"/>
            <a:ext cx="492861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lang="ko-KR">
                <a:solidFill>
                  <a:srgbClr val="FFC857"/>
                </a:solidFill>
                <a:latin typeface="Noto Sans KR"/>
                <a:ea typeface="Noto Sans KR"/>
              </a:rPr>
              <a:t>03 K-VoiceBench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61104"/>
            <a:ext cx="13716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lang="ko-KR">
                <a:solidFill>
                  <a:srgbClr val="F3F7FD"/>
                </a:solidFill>
                <a:latin typeface="Noto Sans KR"/>
                <a:ea typeface="Noto Sans KR"/>
              </a:rPr>
              <a:t>평가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8568" y="4215384"/>
            <a:ext cx="3538727" cy="7315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lang="ko-KR">
                <a:solidFill>
                  <a:srgbClr val="9DB0C7"/>
                </a:solidFill>
                <a:latin typeface="Noto Sans KR"/>
                <a:ea typeface="Noto Sans KR"/>
              </a:rPr>
              <a:t>한국어 ASR을 정확도·엔티티·RTF·VRAM의 같은 계약으로 어떻게 비교할까?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5074920"/>
            <a:ext cx="786384" cy="36576"/>
          </a:xfrm>
          <a:prstGeom prst="rect">
            <a:avLst/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90488" y="3730752"/>
            <a:ext cx="5349240" cy="1572768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931920"/>
            <a:ext cx="492861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lang="ko-KR">
                <a:solidFill>
                  <a:srgbClr val="38D6FF"/>
                </a:solidFill>
                <a:latin typeface="Noto Sans KR"/>
                <a:ea typeface="Noto Sans KR"/>
              </a:rPr>
              <a:t>04 FinCompliance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61104"/>
            <a:ext cx="13716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lang="ko-KR">
                <a:solidFill>
                  <a:srgbClr val="F3F7FD"/>
                </a:solidFill>
                <a:latin typeface="Noto Sans KR"/>
                <a:ea typeface="Noto Sans KR"/>
              </a:rPr>
              <a:t>행동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4215384"/>
            <a:ext cx="3538727" cy="7315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lang="ko-KR">
                <a:solidFill>
                  <a:srgbClr val="9DB0C7"/>
                </a:solidFill>
                <a:latin typeface="Noto Sans KR"/>
                <a:ea typeface="Noto Sans KR"/>
              </a:rPr>
              <a:t>금융 준법 검토에서 모델이 도구를 선택하되 권한과 근거를 코드로 어떻게 강제할까?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5074920"/>
            <a:ext cx="786384" cy="36576"/>
          </a:xfrm>
          <a:prstGeom prst="rect">
            <a:avLst/>
          </a:prstGeom>
          <a:solidFill>
            <a:srgbClr val="38D6FF"/>
          </a:solidFill>
          <a:ln>
            <a:solidFill>
              <a:srgbClr val="38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510528"/>
            <a:ext cx="47548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lang="ko-KR">
                <a:solidFill>
                  <a:srgbClr val="9DB0C7"/>
                </a:solidFill>
                <a:latin typeface="Noto Sans KR"/>
                <a:ea typeface="Noto Sans KR"/>
              </a:rPr>
              <a:t>김대균 · AI Inference Portfolio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10528"/>
            <a:ext cx="5486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 lang="ko-KR">
                <a:solidFill>
                  <a:srgbClr val="9DB0C7"/>
                </a:solidFill>
                <a:latin typeface="DejaVu Sans Mono"/>
                <a:ea typeface="DejaVu Sans Mon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lang="ko-KR">
                <a:solidFill>
                  <a:srgbClr val="38D6FF"/>
                </a:solidFill>
                <a:latin typeface="Noto Sans KR"/>
                <a:ea typeface="Noto Sans KR"/>
              </a:rPr>
              <a:t>PROJECT 01 · FINLLM LAB V0.2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8136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 lang="ko-KR">
                <a:solidFill>
                  <a:srgbClr val="F3F7FD"/>
                </a:solidFill>
                <a:latin typeface="Noto Sans KR"/>
                <a:ea typeface="Noto Sans KR"/>
              </a:rPr>
              <a:t>금융 RAG를 ‘운영 루프’로 완성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88136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lang="ko-KR">
                <a:solidFill>
                  <a:srgbClr val="9DB0C7"/>
                </a:solidFill>
                <a:latin typeface="Noto Sans KR"/>
                <a:ea typeface="Noto Sans KR"/>
              </a:rPr>
              <a:t>ACL을 모델 앞에서 강제하고, 실제 장애와 회귀를 release gate까지 연결했습니다.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47472"/>
            <a:ext cx="7315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DejaVu Sans Mono"/>
                <a:ea typeface="DejaVu Sans Mono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75104"/>
            <a:ext cx="1714500" cy="1078992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2249424"/>
            <a:ext cx="1568196" cy="53035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4579" y="2386584"/>
            <a:ext cx="15544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lang="ko-KR">
                <a:solidFill>
                  <a:srgbClr val="38D6FF"/>
                </a:solidFill>
                <a:latin typeface="Noto Sans KR"/>
                <a:ea typeface="Noto Sans KR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91739" y="1975104"/>
            <a:ext cx="1714500" cy="1078992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4891" y="2249424"/>
            <a:ext cx="1568196" cy="53035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ACL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87952" y="2386584"/>
            <a:ext cx="15544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lang="ko-KR">
                <a:solidFill>
                  <a:srgbClr val="38D6FF"/>
                </a:solidFill>
                <a:latin typeface="Noto Sans KR"/>
                <a:ea typeface="Noto Sans KR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975104"/>
            <a:ext cx="1714500" cy="1078992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2249424"/>
            <a:ext cx="1568196" cy="53035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vLLM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21324" y="2386584"/>
            <a:ext cx="15544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lang="ko-KR">
                <a:solidFill>
                  <a:srgbClr val="38D6FF"/>
                </a:solidFill>
                <a:latin typeface="Noto Sans KR"/>
                <a:ea typeface="Noto Sans KR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8483" y="1975104"/>
            <a:ext cx="1714500" cy="1078992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1636" y="2249424"/>
            <a:ext cx="1568196" cy="53035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54696" y="2386584"/>
            <a:ext cx="15544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lang="ko-KR">
                <a:solidFill>
                  <a:srgbClr val="38D6FF"/>
                </a:solidFill>
                <a:latin typeface="Noto Sans KR"/>
                <a:ea typeface="Noto Sans KR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1856" y="1975104"/>
            <a:ext cx="1714500" cy="1078992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5008" y="2249424"/>
            <a:ext cx="1568196" cy="53035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Regression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8068" y="2386584"/>
            <a:ext cx="15544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lang="ko-KR">
                <a:solidFill>
                  <a:srgbClr val="38D6FF"/>
                </a:solidFill>
                <a:latin typeface="Noto Sans KR"/>
                <a:ea typeface="Noto Sans KR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5228" y="1975104"/>
            <a:ext cx="1714500" cy="1078992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98380" y="2249424"/>
            <a:ext cx="1568196" cy="53035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Rollback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712463"/>
            <a:ext cx="2631186" cy="914400"/>
          </a:xfrm>
          <a:prstGeom prst="roundRect">
            <a:avLst/>
          </a:prstGeom>
          <a:solidFill>
            <a:srgbClr val="0E1D30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840479"/>
            <a:ext cx="233857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Noto Sans KR"/>
                <a:ea typeface="Noto Sans KR"/>
              </a:rPr>
              <a:t>Final release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105655"/>
            <a:ext cx="2338578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lang="ko-KR">
                <a:solidFill>
                  <a:srgbClr val="9AF56D"/>
                </a:solidFill>
                <a:latin typeface="DejaVu Sans Mono"/>
                <a:ea typeface="DejaVu Sans Mono"/>
              </a:rPr>
              <a:t>PASS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8426" y="3712463"/>
            <a:ext cx="2631186" cy="914400"/>
          </a:xfrm>
          <a:prstGeom prst="roundRect">
            <a:avLst/>
          </a:prstGeom>
          <a:solidFill>
            <a:srgbClr val="0E1D30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54730" y="3840479"/>
            <a:ext cx="233857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Noto Sans KR"/>
                <a:ea typeface="Noto Sans KR"/>
              </a:rPr>
              <a:t>Deterministic 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4730" y="4105655"/>
            <a:ext cx="2338578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lang="ko-KR">
                <a:solidFill>
                  <a:srgbClr val="9AF56D"/>
                </a:solidFill>
                <a:latin typeface="DejaVu Sans Mono"/>
                <a:ea typeface="DejaVu Sans Mono"/>
              </a:rPr>
              <a:t>153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8483" y="3712463"/>
            <a:ext cx="2631186" cy="914400"/>
          </a:xfrm>
          <a:prstGeom prst="roundRect">
            <a:avLst/>
          </a:prstGeom>
          <a:solidFill>
            <a:srgbClr val="0E1D30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4788" y="3840479"/>
            <a:ext cx="233857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Noto Sans KR"/>
                <a:ea typeface="Noto Sans KR"/>
              </a:rPr>
              <a:t>Actual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4788" y="4105655"/>
            <a:ext cx="2338578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lang="ko-KR">
                <a:solidFill>
                  <a:srgbClr val="9AF56D"/>
                </a:solidFill>
                <a:latin typeface="DejaVu Sans Mono"/>
                <a:ea typeface="DejaVu Sans Mono"/>
              </a:rPr>
              <a:t>11 / 11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08542" y="3712463"/>
            <a:ext cx="2631186" cy="914400"/>
          </a:xfrm>
          <a:prstGeom prst="roundRect">
            <a:avLst/>
          </a:prstGeom>
          <a:solidFill>
            <a:srgbClr val="0E1D30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4846" y="3840479"/>
            <a:ext cx="233857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Noto Sans KR"/>
                <a:ea typeface="Noto Sans KR"/>
              </a:rPr>
              <a:t>Result records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4846" y="4105655"/>
            <a:ext cx="2338578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lang="ko-KR">
                <a:solidFill>
                  <a:srgbClr val="9AF56D"/>
                </a:solidFill>
                <a:latin typeface="DejaVu Sans Mono"/>
                <a:ea typeface="DejaVu Sans Mono"/>
              </a:rPr>
              <a:t>27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779008"/>
            <a:ext cx="10881360" cy="502920"/>
          </a:xfrm>
          <a:prstGeom prst="roundRect">
            <a:avLst/>
          </a:prstGeom>
          <a:solidFill>
            <a:srgbClr val="07111F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" y="5907024"/>
            <a:ext cx="1046988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lang="ko-KR">
                <a:solidFill>
                  <a:srgbClr val="FFC857"/>
                </a:solidFill>
                <a:latin typeface="Noto Sans KR"/>
                <a:ea typeface="Noto Sans KR"/>
              </a:rPr>
              <a:t>Deployment → Observability → Alert → Incident → Rollback을 Compose rehearsal로 검증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510528"/>
            <a:ext cx="47548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lang="ko-KR">
                <a:solidFill>
                  <a:srgbClr val="9DB0C7"/>
                </a:solidFill>
                <a:latin typeface="Noto Sans KR"/>
                <a:ea typeface="Noto Sans KR"/>
              </a:rPr>
              <a:t>김대균 · AI Inference Portfolio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10528"/>
            <a:ext cx="5486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 lang="ko-KR">
                <a:solidFill>
                  <a:srgbClr val="9DB0C7"/>
                </a:solidFill>
                <a:latin typeface="DejaVu Sans Mono"/>
                <a:ea typeface="DejaVu Sans Mon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lang="ko-KR">
                <a:solidFill>
                  <a:srgbClr val="38D6FF"/>
                </a:solidFill>
                <a:latin typeface="Noto Sans KR"/>
                <a:ea typeface="Noto Sans KR"/>
              </a:rPr>
              <a:t>FINLLM · DEPLOYMENT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8136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 lang="ko-KR">
                <a:solidFill>
                  <a:srgbClr val="F3F7FD"/>
                </a:solidFill>
                <a:latin typeface="Noto Sans KR"/>
                <a:ea typeface="Noto Sans KR"/>
              </a:rPr>
              <a:t>더 큰 14B가 더 적은 메모리로 합격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88136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lang="ko-KR">
                <a:solidFill>
                  <a:srgbClr val="9DB0C7"/>
                </a:solidFill>
                <a:latin typeface="Noto Sans KR"/>
                <a:ea typeface="Noto Sans KR"/>
              </a:rPr>
              <a:t>4-bit 가중치 절감분을 KV cache로 돌려 품질과 동시성 여유를 확보했습니다.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47472"/>
            <a:ext cx="7315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DejaVu Sans Mono"/>
                <a:ea typeface="DejaVu Sans Mono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01952"/>
            <a:ext cx="4754880" cy="3547872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42519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lang="ko-KR">
                <a:solidFill>
                  <a:srgbClr val="38D6FF"/>
                </a:solidFill>
                <a:latin typeface="Noto Sans KR"/>
                <a:ea typeface="Noto Sans KR"/>
              </a:rPr>
              <a:t>채택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61488"/>
            <a:ext cx="425196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 lang="ko-KR">
                <a:solidFill>
                  <a:srgbClr val="F3F7FD"/>
                </a:solidFill>
                <a:latin typeface="Noto Sans KR"/>
                <a:ea typeface="Noto Sans KR"/>
              </a:rPr>
              <a:t>Qwen3-14B-AWQ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75887"/>
            <a:ext cx="4251960" cy="10058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lang="ko-KR">
                <a:solidFill>
                  <a:srgbClr val="9DB0C7"/>
                </a:solidFill>
                <a:latin typeface="DejaVu Sans Mono"/>
                <a:ea typeface="DejaVu Sans Mono"/>
              </a:rPr>
              <a:t>gpu_memory_utilization 0.46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lang="ko-KR">
                <a:solidFill>
                  <a:srgbClr val="9DB0C7"/>
                </a:solidFill>
                <a:latin typeface="DejaVu Sans Mono"/>
                <a:ea typeface="DejaVu Sans Mono"/>
              </a:rPr>
              <a:t>--enforce-eager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lang="ko-KR">
                <a:solidFill>
                  <a:srgbClr val="9DB0C7"/>
                </a:solidFill>
                <a:latin typeface="DejaVu Sans Mono"/>
                <a:ea typeface="DejaVu Sans Mono"/>
              </a:rPr>
              <a:t>동시성 10 · 8,192 tokens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50992" y="1901952"/>
            <a:ext cx="2743200" cy="914400"/>
          </a:xfrm>
          <a:prstGeom prst="roundRect">
            <a:avLst/>
          </a:prstGeom>
          <a:solidFill>
            <a:srgbClr val="0E1D30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7296" y="2029968"/>
            <a:ext cx="245059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Noto Sans KR"/>
                <a:ea typeface="Noto Sans KR"/>
              </a:rPr>
              <a:t>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7296" y="2295144"/>
            <a:ext cx="2450592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lang="ko-KR">
                <a:solidFill>
                  <a:srgbClr val="9AF56D"/>
                </a:solidFill>
                <a:latin typeface="DejaVu Sans Mono"/>
                <a:ea typeface="DejaVu Sans Mono"/>
              </a:rPr>
              <a:t>97.667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58784" y="1901952"/>
            <a:ext cx="2743200" cy="914400"/>
          </a:xfrm>
          <a:prstGeom prst="roundRect">
            <a:avLst/>
          </a:prstGeom>
          <a:solidFill>
            <a:srgbClr val="0E1D30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2029968"/>
            <a:ext cx="245059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Noto Sans KR"/>
                <a:ea typeface="Noto Sans KR"/>
              </a:rPr>
              <a:t>User P95 TTFT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2295144"/>
            <a:ext cx="2450592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lang="ko-KR">
                <a:solidFill>
                  <a:srgbClr val="9AF56D"/>
                </a:solidFill>
                <a:latin typeface="DejaVu Sans Mono"/>
                <a:ea typeface="DejaVu Sans Mono"/>
              </a:rPr>
              <a:t>1,273 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0992" y="3291840"/>
            <a:ext cx="2743200" cy="914400"/>
          </a:xfrm>
          <a:prstGeom prst="roundRect">
            <a:avLst/>
          </a:prstGeom>
          <a:solidFill>
            <a:srgbClr val="0E1D30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97296" y="3419856"/>
            <a:ext cx="245059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Noto Sans KR"/>
                <a:ea typeface="Noto Sans KR"/>
              </a:rPr>
              <a:t>Throughput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7296" y="3685032"/>
            <a:ext cx="2450592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lang="ko-KR">
                <a:solidFill>
                  <a:srgbClr val="9AF56D"/>
                </a:solidFill>
                <a:latin typeface="DejaVu Sans Mono"/>
                <a:ea typeface="DejaVu Sans Mono"/>
              </a:rPr>
              <a:t>315.3 tok/s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58784" y="3291840"/>
            <a:ext cx="2743200" cy="914400"/>
          </a:xfrm>
          <a:prstGeom prst="roundRect">
            <a:avLst/>
          </a:prstGeom>
          <a:solidFill>
            <a:srgbClr val="0E1D30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05088" y="3419856"/>
            <a:ext cx="245059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Noto Sans KR"/>
                <a:ea typeface="Noto Sans KR"/>
              </a:rPr>
              <a:t>Peak VRAM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3685032"/>
            <a:ext cx="2450592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lang="ko-KR">
                <a:solidFill>
                  <a:srgbClr val="9AF56D"/>
                </a:solidFill>
                <a:latin typeface="DejaVu Sans Mono"/>
                <a:ea typeface="DejaVu Sans Mono"/>
              </a:rPr>
              <a:t>21.96 GiB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779008"/>
            <a:ext cx="10881360" cy="502920"/>
          </a:xfrm>
          <a:prstGeom prst="roundRect">
            <a:avLst/>
          </a:prstGeom>
          <a:solidFill>
            <a:srgbClr val="07111F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5907024"/>
            <a:ext cx="1046988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lang="ko-KR">
                <a:solidFill>
                  <a:srgbClr val="FFC857"/>
                </a:solidFill>
                <a:latin typeface="Noto Sans KR"/>
                <a:ea typeface="Noto Sans KR"/>
              </a:rPr>
              <a:t>A6000 memory-budget-emulation이며 실제 24GB 카드 성능은 NOT_EXECUTED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510528"/>
            <a:ext cx="47548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lang="ko-KR">
                <a:solidFill>
                  <a:srgbClr val="9DB0C7"/>
                </a:solidFill>
                <a:latin typeface="Noto Sans KR"/>
                <a:ea typeface="Noto Sans KR"/>
              </a:rPr>
              <a:t>김대균 · AI Inference Portfolio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0528"/>
            <a:ext cx="5486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 lang="ko-KR">
                <a:solidFill>
                  <a:srgbClr val="9DB0C7"/>
                </a:solidFill>
                <a:latin typeface="DejaVu Sans Mono"/>
                <a:ea typeface="DejaVu Sans Mon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lang="ko-KR">
                <a:solidFill>
                  <a:srgbClr val="38D6FF"/>
                </a:solidFill>
                <a:latin typeface="Noto Sans KR"/>
                <a:ea typeface="Noto Sans KR"/>
              </a:rPr>
              <a:t>PROJECT 02 · QUANTIZATION AUTOPSY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8136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 lang="ko-KR">
                <a:solidFill>
                  <a:srgbClr val="F3F7FD"/>
                </a:solidFill>
                <a:latin typeface="Noto Sans KR"/>
                <a:ea typeface="Noto Sans KR"/>
              </a:rPr>
              <a:t>‘4-bit라서 느리다’는 설명을 반증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88136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lang="ko-KR">
                <a:solidFill>
                  <a:srgbClr val="9DB0C7"/>
                </a:solidFill>
                <a:latin typeface="Noto Sans KR"/>
                <a:ea typeface="Noto Sans KR"/>
              </a:rPr>
              <a:t>같은 모델·예산에서 실행 경로만 바꾸자 AWQ 처리량이 5.47배 회복됐습니다.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47472"/>
            <a:ext cx="7315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DejaVu Sans Mono"/>
                <a:ea typeface="DejaVu Sans Mono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75104"/>
            <a:ext cx="283464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lang="ko-KR">
                <a:solidFill>
                  <a:srgbClr val="9DB0C7"/>
                </a:solidFill>
                <a:latin typeface="Noto Sans KR"/>
                <a:ea typeface="Noto Sans KR"/>
              </a:rPr>
              <a:t>8B BF16 · CUDA 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39312" y="1901952"/>
            <a:ext cx="4663440" cy="365760"/>
          </a:xfrm>
          <a:prstGeom prst="roundRect">
            <a:avLst/>
          </a:prstGeom>
          <a:solidFill>
            <a:srgbClr val="07111F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1920240"/>
            <a:ext cx="4371916" cy="329184"/>
          </a:xfrm>
          <a:prstGeom prst="roundRect">
            <a:avLst/>
          </a:prstGeom>
          <a:solidFill>
            <a:srgbClr val="38D6FF"/>
          </a:solidFill>
          <a:ln>
            <a:solidFill>
              <a:srgbClr val="38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85632" y="1965960"/>
            <a:ext cx="9601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 lang="ko-KR">
                <a:solidFill>
                  <a:srgbClr val="F3F7FD"/>
                </a:solidFill>
                <a:latin typeface="DejaVu Sans Mono"/>
                <a:ea typeface="DejaVu Sans Mono"/>
              </a:rPr>
              <a:t>295.98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587752"/>
            <a:ext cx="283464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lang="ko-KR">
                <a:solidFill>
                  <a:srgbClr val="9DB0C7"/>
                </a:solidFill>
                <a:latin typeface="Noto Sans KR"/>
                <a:ea typeface="Noto Sans KR"/>
              </a:rPr>
              <a:t>8B BF16 · eager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39312" y="2514600"/>
            <a:ext cx="4663440" cy="365760"/>
          </a:xfrm>
          <a:prstGeom prst="roundRect">
            <a:avLst/>
          </a:prstGeom>
          <a:solidFill>
            <a:srgbClr val="07111F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0" y="2532888"/>
            <a:ext cx="4238534" cy="329184"/>
          </a:xfrm>
          <a:prstGeom prst="roundRect">
            <a:avLst/>
          </a:prstGeom>
          <a:solidFill>
            <a:srgbClr val="38D6FF"/>
          </a:solidFill>
          <a:ln>
            <a:solidFill>
              <a:srgbClr val="38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2578608"/>
            <a:ext cx="9601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 lang="ko-KR">
                <a:solidFill>
                  <a:srgbClr val="F3F7FD"/>
                </a:solidFill>
                <a:latin typeface="DejaVu Sans Mono"/>
                <a:ea typeface="DejaVu Sans Mono"/>
              </a:rPr>
              <a:t>286.95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200400"/>
            <a:ext cx="283464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lang="ko-KR">
                <a:solidFill>
                  <a:srgbClr val="9DB0C7"/>
                </a:solidFill>
                <a:latin typeface="Noto Sans KR"/>
                <a:ea typeface="Noto Sans KR"/>
              </a:rPr>
              <a:t>14B AWQ · CUDA graph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9312" y="3127248"/>
            <a:ext cx="4663440" cy="365760"/>
          </a:xfrm>
          <a:prstGeom prst="roundRect">
            <a:avLst/>
          </a:prstGeom>
          <a:solidFill>
            <a:srgbClr val="07111F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0" y="3145536"/>
            <a:ext cx="845048" cy="329184"/>
          </a:xfrm>
          <a:prstGeom prst="roundRect">
            <a:avLst/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3191256"/>
            <a:ext cx="9601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 lang="ko-KR">
                <a:solidFill>
                  <a:srgbClr val="F3F7FD"/>
                </a:solidFill>
                <a:latin typeface="DejaVu Sans Mono"/>
                <a:ea typeface="DejaVu Sans Mono"/>
              </a:rPr>
              <a:t>57.21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813048"/>
            <a:ext cx="283464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lang="ko-KR">
                <a:solidFill>
                  <a:srgbClr val="9DB0C7"/>
                </a:solidFill>
                <a:latin typeface="Noto Sans KR"/>
                <a:ea typeface="Noto Sans KR"/>
              </a:rPr>
              <a:t>14B AWQ · eager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39312" y="3739896"/>
            <a:ext cx="4663440" cy="365760"/>
          </a:xfrm>
          <a:prstGeom prst="roundRect">
            <a:avLst/>
          </a:prstGeom>
          <a:solidFill>
            <a:srgbClr val="07111F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0" y="3758183"/>
            <a:ext cx="4626864" cy="329184"/>
          </a:xfrm>
          <a:prstGeom prst="roundRect">
            <a:avLst/>
          </a:prstGeom>
          <a:solidFill>
            <a:srgbClr val="9AF56D"/>
          </a:solidFill>
          <a:ln>
            <a:solidFill>
              <a:srgbClr val="9AF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3803904"/>
            <a:ext cx="9601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 lang="ko-KR">
                <a:solidFill>
                  <a:srgbClr val="F3F7FD"/>
                </a:solidFill>
                <a:latin typeface="DejaVu Sans Mono"/>
                <a:ea typeface="DejaVu Sans Mono"/>
              </a:rPr>
              <a:t>313.24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19488" y="1901952"/>
            <a:ext cx="1920240" cy="914400"/>
          </a:xfrm>
          <a:prstGeom prst="roundRect">
            <a:avLst/>
          </a:prstGeom>
          <a:solidFill>
            <a:srgbClr val="0E1D30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65792" y="2029968"/>
            <a:ext cx="162763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Noto Sans KR"/>
                <a:ea typeface="Noto Sans KR"/>
              </a:rPr>
              <a:t>Immutable runs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2" y="2295144"/>
            <a:ext cx="1627632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lang="ko-KR">
                <a:solidFill>
                  <a:srgbClr val="38D6FF"/>
                </a:solidFill>
                <a:latin typeface="DejaVu Sans Mono"/>
                <a:ea typeface="DejaVu Sans Mono"/>
              </a:rPr>
              <a:t>18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19488" y="2743200"/>
            <a:ext cx="1920240" cy="914400"/>
          </a:xfrm>
          <a:prstGeom prst="roundRect">
            <a:avLst/>
          </a:prstGeom>
          <a:solidFill>
            <a:srgbClr val="0E1D30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65792" y="2871216"/>
            <a:ext cx="162763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Noto Sans KR"/>
                <a:ea typeface="Noto Sans KR"/>
              </a:rPr>
              <a:t>Configurations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3136392"/>
            <a:ext cx="1627632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lang="ko-KR">
                <a:solidFill>
                  <a:srgbClr val="38D6FF"/>
                </a:solidFill>
                <a:latin typeface="DejaVu Sans Mono"/>
                <a:ea typeface="DejaVu Sans Mono"/>
              </a:rPr>
              <a:t>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19488" y="3584448"/>
            <a:ext cx="1920240" cy="914400"/>
          </a:xfrm>
          <a:prstGeom prst="roundRect">
            <a:avLst/>
          </a:prstGeom>
          <a:solidFill>
            <a:srgbClr val="0E1D30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65792" y="3712463"/>
            <a:ext cx="162763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Noto Sans KR"/>
                <a:ea typeface="Noto Sans KR"/>
              </a:rPr>
              <a:t>Repeats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5792" y="3977639"/>
            <a:ext cx="1627632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lang="ko-KR">
                <a:solidFill>
                  <a:srgbClr val="38D6FF"/>
                </a:solidFill>
                <a:latin typeface="DejaVu Sans Mono"/>
                <a:ea typeface="DejaVu Sans Mono"/>
              </a:rPr>
              <a:t>3×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19488" y="4425696"/>
            <a:ext cx="1920240" cy="914400"/>
          </a:xfrm>
          <a:prstGeom prst="roundRect">
            <a:avLst/>
          </a:prstGeom>
          <a:solidFill>
            <a:srgbClr val="0E1D30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65792" y="4553712"/>
            <a:ext cx="162763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Noto Sans KR"/>
                <a:ea typeface="Noto Sans KR"/>
              </a:rPr>
              <a:t>AWQ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65792" y="4818888"/>
            <a:ext cx="1627632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lang="ko-KR">
                <a:solidFill>
                  <a:srgbClr val="38D6FF"/>
                </a:solidFill>
                <a:latin typeface="DejaVu Sans Mono"/>
                <a:ea typeface="DejaVu Sans Mono"/>
              </a:rPr>
              <a:t>5.47×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779008"/>
            <a:ext cx="10881360" cy="502920"/>
          </a:xfrm>
          <a:prstGeom prst="roundRect">
            <a:avLst/>
          </a:prstGeom>
          <a:solidFill>
            <a:srgbClr val="07111F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5907024"/>
            <a:ext cx="1046988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lang="ko-KR">
                <a:solidFill>
                  <a:srgbClr val="FFC857"/>
                </a:solidFill>
                <a:latin typeface="Noto Sans KR"/>
                <a:ea typeface="Noto Sans KR"/>
              </a:rPr>
              <a:t>정확한 kernel root cause는 프로파일러로 측정하지 않아 NOT_MEASURED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510528"/>
            <a:ext cx="47548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lang="ko-KR">
                <a:solidFill>
                  <a:srgbClr val="9DB0C7"/>
                </a:solidFill>
                <a:latin typeface="Noto Sans KR"/>
                <a:ea typeface="Noto Sans KR"/>
              </a:rPr>
              <a:t>김대균 · AI Inference Portfolio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10528"/>
            <a:ext cx="5486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 lang="ko-KR">
                <a:solidFill>
                  <a:srgbClr val="9DB0C7"/>
                </a:solidFill>
                <a:latin typeface="DejaVu Sans Mono"/>
                <a:ea typeface="DejaVu Sans Mon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lang="ko-KR">
                <a:solidFill>
                  <a:srgbClr val="38D6FF"/>
                </a:solidFill>
                <a:latin typeface="Noto Sans KR"/>
                <a:ea typeface="Noto Sans KR"/>
              </a:rPr>
              <a:t>QUANTIZATION · DEBUGGING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8136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 lang="ko-KR">
                <a:solidFill>
                  <a:srgbClr val="F3F7FD"/>
                </a:solidFill>
                <a:latin typeface="Noto Sans KR"/>
                <a:ea typeface="Noto Sans KR"/>
              </a:rPr>
              <a:t>그럴듯한 원인보다 반증 가능한 실험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88136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lang="ko-KR">
                <a:solidFill>
                  <a:srgbClr val="9DB0C7"/>
                </a:solidFill>
                <a:latin typeface="Noto Sans KR"/>
                <a:ea typeface="Noto Sans KR"/>
              </a:rPr>
              <a:t>비교 축을 고정하고 설명이 깨지는 조건을 찾았습니다.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47472"/>
            <a:ext cx="7315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DejaVu Sans Mono"/>
                <a:ea typeface="DejaVu Sans Mono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75104"/>
            <a:ext cx="2081174" cy="1078992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2249424"/>
            <a:ext cx="1934870" cy="53035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관측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AWQ 1/5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21254" y="2386584"/>
            <a:ext cx="15544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lang="ko-KR">
                <a:solidFill>
                  <a:srgbClr val="38D6FF"/>
                </a:solidFill>
                <a:latin typeface="Noto Sans KR"/>
                <a:ea typeface="Noto Sans KR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8414" y="1975104"/>
            <a:ext cx="2081174" cy="1078992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31566" y="2249424"/>
            <a:ext cx="1934870" cy="53035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가설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dequant 비용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1300" y="2386584"/>
            <a:ext cx="15544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lang="ko-KR">
                <a:solidFill>
                  <a:srgbClr val="38D6FF"/>
                </a:solidFill>
                <a:latin typeface="Noto Sans KR"/>
                <a:ea typeface="Noto Sans KR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58460" y="1975104"/>
            <a:ext cx="2081174" cy="1078992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1612" y="2249424"/>
            <a:ext cx="1934870" cy="53035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통제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같은 모델·예산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1347" y="2386584"/>
            <a:ext cx="15544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lang="ko-KR">
                <a:solidFill>
                  <a:srgbClr val="38D6FF"/>
                </a:solidFill>
                <a:latin typeface="Noto Sans KR"/>
                <a:ea typeface="Noto Sans KR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58507" y="1975104"/>
            <a:ext cx="2081174" cy="1078992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1659" y="2249424"/>
            <a:ext cx="1934870" cy="53035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반증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eager 회복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1393" y="2386584"/>
            <a:ext cx="15544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lang="ko-KR">
                <a:solidFill>
                  <a:srgbClr val="38D6FF"/>
                </a:solidFill>
                <a:latin typeface="Noto Sans KR"/>
                <a:ea typeface="Noto Sans KR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58553" y="1975104"/>
            <a:ext cx="2081174" cy="1078992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31705" y="2249424"/>
            <a:ext cx="1934870" cy="53035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제한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원인 범위 명시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712463"/>
            <a:ext cx="2631186" cy="914400"/>
          </a:xfrm>
          <a:prstGeom prst="roundRect">
            <a:avLst/>
          </a:prstGeom>
          <a:solidFill>
            <a:srgbClr val="0E1D30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840479"/>
            <a:ext cx="233857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Noto Sans KR"/>
                <a:ea typeface="Noto Sans KR"/>
              </a:rPr>
              <a:t>Weight saved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105655"/>
            <a:ext cx="2338578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lang="ko-KR">
                <a:solidFill>
                  <a:srgbClr val="9AF56D"/>
                </a:solidFill>
                <a:latin typeface="DejaVu Sans Mono"/>
                <a:ea typeface="DejaVu Sans Mono"/>
              </a:rPr>
              <a:t>5.90 GiB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08426" y="3712463"/>
            <a:ext cx="2631186" cy="914400"/>
          </a:xfrm>
          <a:prstGeom prst="roundRect">
            <a:avLst/>
          </a:prstGeom>
          <a:solidFill>
            <a:srgbClr val="0E1D30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54730" y="3840479"/>
            <a:ext cx="233857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Noto Sans KR"/>
                <a:ea typeface="Noto Sans KR"/>
              </a:rPr>
              <a:t>KV cache gain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4730" y="4105655"/>
            <a:ext cx="2338578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lang="ko-KR">
                <a:solidFill>
                  <a:srgbClr val="9AF56D"/>
                </a:solidFill>
                <a:latin typeface="DejaVu Sans Mono"/>
                <a:ea typeface="DejaVu Sans Mono"/>
              </a:rPr>
              <a:t>5.58 GiB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58483" y="3712463"/>
            <a:ext cx="2631186" cy="914400"/>
          </a:xfrm>
          <a:prstGeom prst="roundRect">
            <a:avLst/>
          </a:prstGeom>
          <a:solidFill>
            <a:srgbClr val="0E1D30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4788" y="3840479"/>
            <a:ext cx="233857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Noto Sans KR"/>
                <a:ea typeface="Noto Sans KR"/>
              </a:rPr>
              <a:t>User TTFT 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4788" y="4105655"/>
            <a:ext cx="2338578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lang="ko-KR">
                <a:solidFill>
                  <a:srgbClr val="9AF56D"/>
                </a:solidFill>
                <a:latin typeface="DejaVu Sans Mono"/>
                <a:ea typeface="DejaVu Sans Mono"/>
              </a:rPr>
              <a:t>80.6%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08542" y="3712463"/>
            <a:ext cx="2631186" cy="914400"/>
          </a:xfrm>
          <a:prstGeom prst="roundRect">
            <a:avLst/>
          </a:prstGeom>
          <a:solidFill>
            <a:srgbClr val="0E1D30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4846" y="3840479"/>
            <a:ext cx="233857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Noto Sans KR"/>
                <a:ea typeface="Noto Sans KR"/>
              </a:rPr>
              <a:t>24GB headroom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4846" y="4105655"/>
            <a:ext cx="2338578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lang="ko-KR">
                <a:solidFill>
                  <a:srgbClr val="9AF56D"/>
                </a:solidFill>
                <a:latin typeface="DejaVu Sans Mono"/>
                <a:ea typeface="DejaVu Sans Mono"/>
              </a:rPr>
              <a:t>2.04 GiB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779008"/>
            <a:ext cx="10881360" cy="502920"/>
          </a:xfrm>
          <a:prstGeom prst="roundRect">
            <a:avLst/>
          </a:prstGeom>
          <a:solidFill>
            <a:srgbClr val="07111F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5907024"/>
            <a:ext cx="1046988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lang="ko-KR">
                <a:solidFill>
                  <a:srgbClr val="FFC857"/>
                </a:solidFill>
                <a:latin typeface="Noto Sans KR"/>
                <a:ea typeface="Noto Sans KR"/>
              </a:rPr>
              <a:t>8B BF16과 14B AWQ는 크기가 달라 순수한 양자화 효과를 식별한 실험은 아님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510528"/>
            <a:ext cx="47548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lang="ko-KR">
                <a:solidFill>
                  <a:srgbClr val="9DB0C7"/>
                </a:solidFill>
                <a:latin typeface="Noto Sans KR"/>
                <a:ea typeface="Noto Sans KR"/>
              </a:rPr>
              <a:t>김대균 · AI Inference Portfolio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10528"/>
            <a:ext cx="5486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 lang="ko-KR">
                <a:solidFill>
                  <a:srgbClr val="9DB0C7"/>
                </a:solidFill>
                <a:latin typeface="DejaVu Sans Mono"/>
                <a:ea typeface="DejaVu Sans Mon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lang="ko-KR">
                <a:solidFill>
                  <a:srgbClr val="38D6FF"/>
                </a:solidFill>
                <a:latin typeface="Noto Sans KR"/>
                <a:ea typeface="Noto Sans KR"/>
              </a:rPr>
              <a:t>PROJECT 03 · K-VOICEBENCH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8136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 lang="ko-KR">
                <a:solidFill>
                  <a:srgbClr val="F3F7FD"/>
                </a:solidFill>
                <a:latin typeface="Noto Sans KR"/>
                <a:ea typeface="Noto Sans KR"/>
              </a:rPr>
              <a:t>한국어 ASR을 하나의 결과 계약으로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88136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lang="ko-KR">
                <a:solidFill>
                  <a:srgbClr val="9DB0C7"/>
                </a:solidFill>
                <a:latin typeface="Noto Sans KR"/>
                <a:ea typeface="Noto Sans KR"/>
              </a:rPr>
              <a:t>학습 없이 공개 Whisper 체크포인트의 추론 품질과 단일 GPU 운영성을 측정했습니다.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47472"/>
            <a:ext cx="7315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DejaVu Sans Mono"/>
                <a:ea typeface="DejaVu Sans Mono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75104"/>
            <a:ext cx="2081174" cy="1078992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2249424"/>
            <a:ext cx="1934870" cy="53035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JSONL Manifest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21254" y="2386584"/>
            <a:ext cx="15544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lang="ko-KR">
                <a:solidFill>
                  <a:srgbClr val="38D6FF"/>
                </a:solidFill>
                <a:latin typeface="Noto Sans KR"/>
                <a:ea typeface="Noto Sans KR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8414" y="1975104"/>
            <a:ext cx="2081174" cy="1078992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31566" y="2249424"/>
            <a:ext cx="1934870" cy="53035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Audio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1300" y="2386584"/>
            <a:ext cx="15544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lang="ko-KR">
                <a:solidFill>
                  <a:srgbClr val="38D6FF"/>
                </a:solidFill>
                <a:latin typeface="Noto Sans KR"/>
                <a:ea typeface="Noto Sans KR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58460" y="1975104"/>
            <a:ext cx="2081174" cy="1078992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1612" y="2249424"/>
            <a:ext cx="1934870" cy="53035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Whisper FP16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1347" y="2386584"/>
            <a:ext cx="15544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lang="ko-KR">
                <a:solidFill>
                  <a:srgbClr val="38D6FF"/>
                </a:solidFill>
                <a:latin typeface="Noto Sans KR"/>
                <a:ea typeface="Noto Sans KR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58507" y="1975104"/>
            <a:ext cx="2081174" cy="1078992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1659" y="2249424"/>
            <a:ext cx="1934870" cy="53035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WER·CER·Entity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1393" y="2386584"/>
            <a:ext cx="15544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lang="ko-KR">
                <a:solidFill>
                  <a:srgbClr val="38D6FF"/>
                </a:solidFill>
                <a:latin typeface="Noto Sans KR"/>
                <a:ea typeface="Noto Sans KR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58553" y="1975104"/>
            <a:ext cx="2081174" cy="1078992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31705" y="2249424"/>
            <a:ext cx="1934870" cy="53035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Latency·RTF·VRAM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712463"/>
            <a:ext cx="2631186" cy="914400"/>
          </a:xfrm>
          <a:prstGeom prst="roundRect">
            <a:avLst/>
          </a:prstGeom>
          <a:solidFill>
            <a:srgbClr val="0E1D30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840479"/>
            <a:ext cx="233857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Noto Sans KR"/>
                <a:ea typeface="Noto Sans KR"/>
              </a:rPr>
              <a:t>GPU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105655"/>
            <a:ext cx="2338578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lang="ko-KR">
                <a:solidFill>
                  <a:srgbClr val="9AF56D"/>
                </a:solidFill>
                <a:latin typeface="DejaVu Sans Mono"/>
                <a:ea typeface="DejaVu Sans Mono"/>
              </a:rPr>
              <a:t>GPU 1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08426" y="3712463"/>
            <a:ext cx="2631186" cy="914400"/>
          </a:xfrm>
          <a:prstGeom prst="roundRect">
            <a:avLst/>
          </a:prstGeom>
          <a:solidFill>
            <a:srgbClr val="0E1D30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54730" y="3840479"/>
            <a:ext cx="233857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Noto Sans KR"/>
                <a:ea typeface="Noto Sans KR"/>
              </a:rPr>
              <a:t>Execution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4730" y="4105655"/>
            <a:ext cx="2338578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lang="ko-KR">
                <a:solidFill>
                  <a:srgbClr val="9AF56D"/>
                </a:solidFill>
                <a:latin typeface="DejaVu Sans Mono"/>
                <a:ea typeface="DejaVu Sans Mono"/>
              </a:rPr>
              <a:t>Sequential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58483" y="3712463"/>
            <a:ext cx="2631186" cy="914400"/>
          </a:xfrm>
          <a:prstGeom prst="roundRect">
            <a:avLst/>
          </a:prstGeom>
          <a:solidFill>
            <a:srgbClr val="0E1D30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4788" y="3840479"/>
            <a:ext cx="233857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Noto Sans KR"/>
                <a:ea typeface="Noto Sans KR"/>
              </a:rPr>
              <a:t>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4788" y="4105655"/>
            <a:ext cx="2338578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lang="ko-KR">
                <a:solidFill>
                  <a:srgbClr val="9AF56D"/>
                </a:solidFill>
                <a:latin typeface="DejaVu Sans Mono"/>
                <a:ea typeface="DejaVu Sans Mono"/>
              </a:rPr>
              <a:t>None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08542" y="3712463"/>
            <a:ext cx="2631186" cy="914400"/>
          </a:xfrm>
          <a:prstGeom prst="roundRect">
            <a:avLst/>
          </a:prstGeom>
          <a:solidFill>
            <a:srgbClr val="0E1D30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4846" y="3840479"/>
            <a:ext cx="233857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Noto Sans KR"/>
                <a:ea typeface="Noto Sans KR"/>
              </a:rPr>
              <a:t>CI backend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4846" y="4105655"/>
            <a:ext cx="2338578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lang="ko-KR">
                <a:solidFill>
                  <a:srgbClr val="9AF56D"/>
                </a:solidFill>
                <a:latin typeface="DejaVu Sans Mono"/>
                <a:ea typeface="DejaVu Sans Mono"/>
              </a:rPr>
              <a:t>Mock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779008"/>
            <a:ext cx="10881360" cy="502920"/>
          </a:xfrm>
          <a:prstGeom prst="roundRect">
            <a:avLst/>
          </a:prstGeom>
          <a:solidFill>
            <a:srgbClr val="07111F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5907024"/>
            <a:ext cx="1046988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lang="ko-KR">
                <a:solidFill>
                  <a:srgbClr val="FFC857"/>
                </a:solidFill>
                <a:latin typeface="Noto Sans KR"/>
                <a:ea typeface="Noto Sans KR"/>
              </a:rPr>
              <a:t>원본 음성·모델 가중치·로컬 절대 경로를 결과 JSON과 Git에서 분리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510528"/>
            <a:ext cx="47548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lang="ko-KR">
                <a:solidFill>
                  <a:srgbClr val="9DB0C7"/>
                </a:solidFill>
                <a:latin typeface="Noto Sans KR"/>
                <a:ea typeface="Noto Sans KR"/>
              </a:rPr>
              <a:t>김대균 · AI Inference Portfolio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10528"/>
            <a:ext cx="5486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 lang="ko-KR">
                <a:solidFill>
                  <a:srgbClr val="9DB0C7"/>
                </a:solidFill>
                <a:latin typeface="DejaVu Sans Mono"/>
                <a:ea typeface="DejaVu Sans Mon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lang="ko-KR">
                <a:solidFill>
                  <a:srgbClr val="38D6FF"/>
                </a:solidFill>
                <a:latin typeface="Noto Sans KR"/>
                <a:ea typeface="Noto Sans KR"/>
              </a:rPr>
              <a:t>K-VOICEBENCH · VERIFIED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8136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 lang="ko-KR">
                <a:solidFill>
                  <a:srgbClr val="F3F7FD"/>
                </a:solidFill>
                <a:latin typeface="Noto Sans KR"/>
                <a:ea typeface="Noto Sans KR"/>
              </a:rPr>
              <a:t>Whisper large-v3 · A6000 한 장 실측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88136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lang="ko-KR">
                <a:solidFill>
                  <a:srgbClr val="9DB0C7"/>
                </a:solidFill>
                <a:latin typeface="Noto Sans KR"/>
                <a:ea typeface="Noto Sans KR"/>
              </a:rPr>
              <a:t>24개, 100.848초 금융 TTS 최소대립쌍 · clean 12 / telephony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47472"/>
            <a:ext cx="7315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DejaVu Sans Mono"/>
                <a:ea typeface="DejaVu Sans Mono"/>
              </a:rPr>
              <a:t>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901952"/>
          <a:ext cx="1088136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1" lang="ko-KR">
                          <a:solidFill>
                            <a:srgbClr val="F3F7FD"/>
                          </a:solidFill>
                          <a:latin typeface="Noto Sans KR"/>
                          <a:ea typeface="Noto Sans KR"/>
                        </a:rPr>
                        <a:t>지표</a:t>
                      </a:r>
                    </a:p>
                  </a:txBody>
                  <a:tcPr marL="82296" marR="82296" marT="45720" marB="45720">
                    <a:solidFill>
                      <a:srgbClr val="10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lang="ko-KR">
                          <a:solidFill>
                            <a:srgbClr val="F3F7FD"/>
                          </a:solidFill>
                          <a:latin typeface="DejaVu Sans Mono"/>
                          <a:ea typeface="DejaVu Sans Mono"/>
                        </a:rPr>
                        <a:t>전체</a:t>
                      </a:r>
                    </a:p>
                  </a:txBody>
                  <a:tcPr marL="82296" marR="82296" marT="45720" marB="45720">
                    <a:solidFill>
                      <a:srgbClr val="10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lang="ko-KR">
                          <a:solidFill>
                            <a:srgbClr val="F3F7FD"/>
                          </a:solidFill>
                          <a:latin typeface="DejaVu Sans Mono"/>
                          <a:ea typeface="DejaVu Sans Mono"/>
                        </a:rPr>
                        <a:t>Clean</a:t>
                      </a:r>
                    </a:p>
                  </a:txBody>
                  <a:tcPr marL="82296" marR="82296" marT="45720" marB="45720">
                    <a:solidFill>
                      <a:srgbClr val="10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lang="ko-KR">
                          <a:solidFill>
                            <a:srgbClr val="F3F7FD"/>
                          </a:solidFill>
                          <a:latin typeface="DejaVu Sans Mono"/>
                          <a:ea typeface="DejaVu Sans Mono"/>
                        </a:rPr>
                        <a:t>Telephony</a:t>
                      </a:r>
                    </a:p>
                  </a:txBody>
                  <a:tcPr marL="82296" marR="82296" marT="45720" marB="45720">
                    <a:solidFill>
                      <a:srgbClr val="1026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0" lang="ko-KR">
                          <a:solidFill>
                            <a:srgbClr val="F3F7FD"/>
                          </a:solidFill>
                          <a:latin typeface="Noto Sans KR"/>
                          <a:ea typeface="Noto Sans KR"/>
                        </a:rPr>
                        <a:t>ITN WER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6.897%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6.897%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6.897%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0" lang="ko-KR">
                          <a:solidFill>
                            <a:srgbClr val="F3F7FD"/>
                          </a:solidFill>
                          <a:latin typeface="Noto Sans KR"/>
                          <a:ea typeface="Noto Sans KR"/>
                        </a:rPr>
                        <a:t>띄어쓰기 비민감 ITN CER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0.000%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0.000%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0.000%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0" lang="ko-KR">
                          <a:solidFill>
                            <a:srgbClr val="F3F7FD"/>
                          </a:solidFill>
                          <a:latin typeface="Noto Sans KR"/>
                          <a:ea typeface="Noto Sans KR"/>
                        </a:rPr>
                        <a:t>금융 숫자 Entity 정확도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100.0%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100.0%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100.0%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0" lang="ko-KR">
                          <a:solidFill>
                            <a:srgbClr val="F3F7FD"/>
                          </a:solidFill>
                          <a:latin typeface="Noto Sans KR"/>
                          <a:ea typeface="Noto Sans KR"/>
                        </a:rPr>
                        <a:t>P95 warm latency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442.7ms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—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—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0" lang="ko-KR">
                          <a:solidFill>
                            <a:srgbClr val="F3F7FD"/>
                          </a:solidFill>
                          <a:latin typeface="Noto Sans KR"/>
                          <a:ea typeface="Noto Sans KR"/>
                        </a:rPr>
                        <a:t>Mean / P95 RTF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0.0918 / 0.1017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—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—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0" lang="ko-KR">
                          <a:solidFill>
                            <a:srgbClr val="F3F7FD"/>
                          </a:solidFill>
                          <a:latin typeface="Noto Sans KR"/>
                          <a:ea typeface="Noto Sans KR"/>
                        </a:rPr>
                        <a:t>Peak allocated VRAM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3,200.5MiB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—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—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5779008"/>
            <a:ext cx="10881360" cy="502920"/>
          </a:xfrm>
          <a:prstGeom prst="roundRect">
            <a:avLst/>
          </a:prstGeom>
          <a:solidFill>
            <a:srgbClr val="07111F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5907024"/>
            <a:ext cx="1046988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lang="ko-KR">
                <a:solidFill>
                  <a:srgbClr val="FFC857"/>
                </a:solidFill>
                <a:latin typeface="Noto Sans KR"/>
                <a:ea typeface="Noto Sans KR"/>
              </a:rPr>
              <a:t>TTS 진단값이며 사람 금융상담 음성 성능은 NOT_EVALUATED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510528"/>
            <a:ext cx="47548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lang="ko-KR">
                <a:solidFill>
                  <a:srgbClr val="9DB0C7"/>
                </a:solidFill>
                <a:latin typeface="Noto Sans KR"/>
                <a:ea typeface="Noto Sans KR"/>
              </a:rPr>
              <a:t>김대균 · AI Inference 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5486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 lang="ko-KR">
                <a:solidFill>
                  <a:srgbClr val="9DB0C7"/>
                </a:solidFill>
                <a:latin typeface="DejaVu Sans Mono"/>
                <a:ea typeface="DejaVu Sans Mon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lang="ko-KR">
                <a:solidFill>
                  <a:srgbClr val="38D6FF"/>
                </a:solidFill>
                <a:latin typeface="Noto Sans KR"/>
                <a:ea typeface="Noto Sans KR"/>
              </a:rPr>
              <a:t>PROJECT 04 · FINCOMPLIANCE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8136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 lang="ko-KR">
                <a:solidFill>
                  <a:srgbClr val="F3F7FD"/>
                </a:solidFill>
                <a:latin typeface="Noto Sans KR"/>
                <a:ea typeface="Noto Sans KR"/>
              </a:rPr>
              <a:t>모델이 선택하고 애플리케이션이 통제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88136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lang="ko-KR">
                <a:solidFill>
                  <a:srgbClr val="9DB0C7"/>
                </a:solidFill>
                <a:latin typeface="Noto Sans KR"/>
                <a:ea typeface="Noto Sans KR"/>
              </a:rPr>
              <a:t>LLM이 도구 결과를 관찰해 다음 행동을 고르지만 실행 권한은 policy engine이 강제합니다.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47472"/>
            <a:ext cx="7315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DejaVu Sans Mono"/>
                <a:ea typeface="DejaVu Sans Mono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75104"/>
            <a:ext cx="1714500" cy="1078992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2249424"/>
            <a:ext cx="1568196" cy="53035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4579" y="2386584"/>
            <a:ext cx="15544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lang="ko-KR">
                <a:solidFill>
                  <a:srgbClr val="38D6FF"/>
                </a:solidFill>
                <a:latin typeface="Noto Sans KR"/>
                <a:ea typeface="Noto Sans KR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91739" y="1975104"/>
            <a:ext cx="1714500" cy="1078992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4891" y="2249424"/>
            <a:ext cx="1568196" cy="53035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LLM Chooses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87952" y="2386584"/>
            <a:ext cx="15544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lang="ko-KR">
                <a:solidFill>
                  <a:srgbClr val="38D6FF"/>
                </a:solidFill>
                <a:latin typeface="Noto Sans KR"/>
                <a:ea typeface="Noto Sans KR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975104"/>
            <a:ext cx="1714500" cy="1078992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2249424"/>
            <a:ext cx="1568196" cy="53035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Strict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21324" y="2386584"/>
            <a:ext cx="15544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lang="ko-KR">
                <a:solidFill>
                  <a:srgbClr val="38D6FF"/>
                </a:solidFill>
                <a:latin typeface="Noto Sans KR"/>
                <a:ea typeface="Noto Sans KR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8483" y="1975104"/>
            <a:ext cx="1714500" cy="1078992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1636" y="2249424"/>
            <a:ext cx="1568196" cy="53035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54696" y="2386584"/>
            <a:ext cx="15544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lang="ko-KR">
                <a:solidFill>
                  <a:srgbClr val="38D6FF"/>
                </a:solidFill>
                <a:latin typeface="Noto Sans KR"/>
                <a:ea typeface="Noto Sans KR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1856" y="1975104"/>
            <a:ext cx="1714500" cy="1078992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5008" y="2249424"/>
            <a:ext cx="1568196" cy="53035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Observe·Replan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8068" y="2386584"/>
            <a:ext cx="15544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lang="ko-KR">
                <a:solidFill>
                  <a:srgbClr val="38D6FF"/>
                </a:solidFill>
                <a:latin typeface="Noto Sans KR"/>
                <a:ea typeface="Noto Sans KR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5228" y="1975104"/>
            <a:ext cx="1714500" cy="1078992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98380" y="2249424"/>
            <a:ext cx="1568196" cy="53035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lang="ko-KR">
                <a:solidFill>
                  <a:srgbClr val="F3F7FD"/>
                </a:solidFill>
                <a:latin typeface="Noto Sans KR"/>
                <a:ea typeface="Noto Sans KR"/>
              </a:rPr>
              <a:t>HITL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712463"/>
            <a:ext cx="2631186" cy="914400"/>
          </a:xfrm>
          <a:prstGeom prst="roundRect">
            <a:avLst/>
          </a:prstGeom>
          <a:solidFill>
            <a:srgbClr val="0E1D30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840479"/>
            <a:ext cx="233857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Noto Sans KR"/>
                <a:ea typeface="Noto Sans KR"/>
              </a:rPr>
              <a:t>Strict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105655"/>
            <a:ext cx="2338578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lang="ko-KR">
                <a:solidFill>
                  <a:srgbClr val="9AF56D"/>
                </a:solidFill>
                <a:latin typeface="DejaVu Sans Mono"/>
                <a:ea typeface="DejaVu Sans Mono"/>
              </a:rPr>
              <a:t>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8426" y="3712463"/>
            <a:ext cx="2631186" cy="914400"/>
          </a:xfrm>
          <a:prstGeom prst="roundRect">
            <a:avLst/>
          </a:prstGeom>
          <a:solidFill>
            <a:srgbClr val="0E1D30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54730" y="3840479"/>
            <a:ext cx="233857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Noto Sans KR"/>
                <a:ea typeface="Noto Sans KR"/>
              </a:rPr>
              <a:t>Policy eval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4730" y="4105655"/>
            <a:ext cx="2338578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lang="ko-KR">
                <a:solidFill>
                  <a:srgbClr val="9AF56D"/>
                </a:solidFill>
                <a:latin typeface="DejaVu Sans Mono"/>
                <a:ea typeface="DejaVu Sans Mono"/>
              </a:rPr>
              <a:t>12 / 12 PASS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8483" y="3712463"/>
            <a:ext cx="2631186" cy="914400"/>
          </a:xfrm>
          <a:prstGeom prst="roundRect">
            <a:avLst/>
          </a:prstGeom>
          <a:solidFill>
            <a:srgbClr val="0E1D30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4788" y="3840479"/>
            <a:ext cx="233857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Noto Sans KR"/>
                <a:ea typeface="Noto Sans KR"/>
              </a:rPr>
              <a:t>Automated 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4788" y="4105655"/>
            <a:ext cx="2338578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lang="ko-KR">
                <a:solidFill>
                  <a:srgbClr val="9AF56D"/>
                </a:solidFill>
                <a:latin typeface="DejaVu Sans Mono"/>
                <a:ea typeface="DejaVu Sans Mono"/>
              </a:rPr>
              <a:t>12 / 12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08542" y="3712463"/>
            <a:ext cx="2631186" cy="914400"/>
          </a:xfrm>
          <a:prstGeom prst="roundRect">
            <a:avLst/>
          </a:prstGeom>
          <a:solidFill>
            <a:srgbClr val="0E1D30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4846" y="3840479"/>
            <a:ext cx="233857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Noto Sans KR"/>
                <a:ea typeface="Noto Sans KR"/>
              </a:rPr>
              <a:t>Unauthorized finalize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4846" y="4105655"/>
            <a:ext cx="2338578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lang="ko-KR">
                <a:solidFill>
                  <a:srgbClr val="9AF56D"/>
                </a:solidFill>
                <a:latin typeface="DejaVu Sans Mono"/>
                <a:ea typeface="DejaVu Sans Mono"/>
              </a:rPr>
              <a:t>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779008"/>
            <a:ext cx="10881360" cy="502920"/>
          </a:xfrm>
          <a:prstGeom prst="roundRect">
            <a:avLst/>
          </a:prstGeom>
          <a:solidFill>
            <a:srgbClr val="07111F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" y="5907024"/>
            <a:ext cx="1046988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lang="ko-KR">
                <a:solidFill>
                  <a:srgbClr val="FFC857"/>
                </a:solidFill>
                <a:latin typeface="Noto Sans KR"/>
                <a:ea typeface="Noto Sans KR"/>
              </a:rPr>
              <a:t>실제 OpenAI model lane은 API key 미설정으로 NOT_EXECUTED · deterministic control lane 완료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510528"/>
            <a:ext cx="47548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lang="ko-KR">
                <a:solidFill>
                  <a:srgbClr val="9DB0C7"/>
                </a:solidFill>
                <a:latin typeface="Noto Sans KR"/>
                <a:ea typeface="Noto Sans KR"/>
              </a:rPr>
              <a:t>김대균 · AI Inference Portfolio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10528"/>
            <a:ext cx="5486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 lang="ko-KR">
                <a:solidFill>
                  <a:srgbClr val="9DB0C7"/>
                </a:solidFill>
                <a:latin typeface="DejaVu Sans Mono"/>
                <a:ea typeface="DejaVu Sans Mon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lang="ko-KR">
                <a:solidFill>
                  <a:srgbClr val="38D6FF"/>
                </a:solidFill>
                <a:latin typeface="Noto Sans KR"/>
                <a:ea typeface="Noto Sans KR"/>
              </a:rPr>
              <a:t>FINCOMPLIANCE · VERIFIED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8136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 lang="ko-KR">
                <a:solidFill>
                  <a:srgbClr val="F3F7FD"/>
                </a:solidFill>
                <a:latin typeface="Noto Sans KR"/>
                <a:ea typeface="Noto Sans KR"/>
              </a:rPr>
              <a:t>Tool hallucination과 권한 경계를 회귀 테스트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88136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lang="ko-KR">
                <a:solidFill>
                  <a:srgbClr val="9DB0C7"/>
                </a:solidFill>
                <a:latin typeface="Noto Sans KR"/>
                <a:ea typeface="Noto Sans KR"/>
              </a:rPr>
              <a:t>모델 선택을 결정적으로 재생하되 실제 tool registry·state·guardrail 경로를 그대로 통과시켰습니다.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47472"/>
            <a:ext cx="7315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DejaVu Sans Mono"/>
                <a:ea typeface="DejaVu Sans Mono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901952"/>
          <a:ext cx="1088136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597408">
                <a:tc>
                  <a:txBody>
                    <a:bodyPr/>
                    <a:lstStyle/>
                    <a:p>
                      <a:pPr algn="l"/>
                      <a:r>
                        <a:rPr sz="1050" b="1" lang="ko-KR">
                          <a:solidFill>
                            <a:srgbClr val="F3F7FD"/>
                          </a:solidFill>
                          <a:latin typeface="Noto Sans KR"/>
                          <a:ea typeface="Noto Sans KR"/>
                        </a:rPr>
                        <a:t>항목</a:t>
                      </a:r>
                    </a:p>
                  </a:txBody>
                  <a:tcPr marL="82296" marR="82296" marT="45720" marB="45720">
                    <a:solidFill>
                      <a:srgbClr val="10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lang="ko-KR">
                          <a:solidFill>
                            <a:srgbClr val="F3F7FD"/>
                          </a:solidFill>
                          <a:latin typeface="DejaVu Sans Mono"/>
                          <a:ea typeface="DejaVu Sans Mono"/>
                        </a:rPr>
                        <a:t>구현 계약</a:t>
                      </a:r>
                    </a:p>
                  </a:txBody>
                  <a:tcPr marL="82296" marR="82296" marT="45720" marB="45720">
                    <a:solidFill>
                      <a:srgbClr val="10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lang="ko-KR">
                          <a:solidFill>
                            <a:srgbClr val="F3F7FD"/>
                          </a:solidFill>
                          <a:latin typeface="DejaVu Sans Mono"/>
                          <a:ea typeface="DejaVu Sans Mono"/>
                        </a:rPr>
                        <a:t>검증 결과</a:t>
                      </a:r>
                    </a:p>
                  </a:txBody>
                  <a:tcPr marL="82296" marR="82296" marT="45720" marB="45720">
                    <a:solidFill>
                      <a:srgbClr val="10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lang="ko-KR">
                          <a:solidFill>
                            <a:srgbClr val="F3F7FD"/>
                          </a:solidFill>
                          <a:latin typeface="DejaVu Sans Mono"/>
                          <a:ea typeface="DejaVu Sans Mono"/>
                        </a:rPr>
                        <a:t>Failure boundary</a:t>
                      </a:r>
                    </a:p>
                  </a:txBody>
                  <a:tcPr marL="82296" marR="82296" marT="45720" marB="45720">
                    <a:solidFill>
                      <a:srgbClr val="10263A"/>
                    </a:solidFill>
                  </a:tcPr>
                </a:tc>
              </a:tr>
              <a:tr h="597408">
                <a:tc>
                  <a:txBody>
                    <a:bodyPr/>
                    <a:lstStyle/>
                    <a:p>
                      <a:pPr algn="l"/>
                      <a:r>
                        <a:rPr sz="1050" b="0" lang="ko-KR">
                          <a:solidFill>
                            <a:srgbClr val="F3F7FD"/>
                          </a:solidFill>
                          <a:latin typeface="Noto Sans KR"/>
                          <a:ea typeface="Noto Sans KR"/>
                        </a:rPr>
                        <a:t>Tool call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allowlist + strict JSON schema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12 / 12 control PASS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없는 도구·인자 차단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</a:tr>
              <a:tr h="597408">
                <a:tc>
                  <a:txBody>
                    <a:bodyPr/>
                    <a:lstStyle/>
                    <a:p>
                      <a:pPr algn="l"/>
                      <a:r>
                        <a:rPr sz="1050" b="0" lang="ko-KR">
                          <a:solidFill>
                            <a:srgbClr val="F3F7FD"/>
                          </a:solidFill>
                          <a:latin typeface="Noto Sans KR"/>
                          <a:ea typeface="Noto Sans KR"/>
                        </a:rPr>
                        <a:t>Evidence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returned citation allowlist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grounded normal flow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가짜 규정 ID 탐지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</a:tr>
              <a:tr h="597408">
                <a:tc>
                  <a:txBody>
                    <a:bodyPr/>
                    <a:lstStyle/>
                    <a:p>
                      <a:pPr algn="l"/>
                      <a:r>
                        <a:rPr sz="1050" b="0" lang="ko-KR">
                          <a:solidFill>
                            <a:srgbClr val="F3F7FD"/>
                          </a:solidFill>
                          <a:latin typeface="Noto Sans KR"/>
                          <a:ea typeface="Noto Sans KR"/>
                        </a:rPr>
                        <a:t>Security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untrusted output sanitizer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injection neutralized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도구 출력 명령 미실행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</a:tr>
              <a:tr h="597408">
                <a:tc>
                  <a:txBody>
                    <a:bodyPr/>
                    <a:lstStyle/>
                    <a:p>
                      <a:pPr algn="l"/>
                      <a:r>
                        <a:rPr sz="1050" b="0" lang="ko-KR">
                          <a:solidFill>
                            <a:srgbClr val="F3F7FD"/>
                          </a:solidFill>
                          <a:latin typeface="Noto Sans KR"/>
                          <a:ea typeface="Noto Sans KR"/>
                        </a:rPr>
                        <a:t>Authority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out-of-band single-use token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unauthorized finalize 0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모델이 승인 생성 불가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</a:tr>
              <a:tr h="597408">
                <a:tc>
                  <a:txBody>
                    <a:bodyPr/>
                    <a:lstStyle/>
                    <a:p>
                      <a:pPr algn="l"/>
                      <a:r>
                        <a:rPr sz="1050" b="0" lang="ko-KR">
                          <a:solidFill>
                            <a:srgbClr val="F3F7FD"/>
                          </a:solidFill>
                          <a:latin typeface="Noto Sans KR"/>
                          <a:ea typeface="Noto Sans KR"/>
                        </a:rPr>
                        <a:t>Delivery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FastAPI + Docker + CI + trace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container smoke PASS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trace_id replay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5779008"/>
            <a:ext cx="10881360" cy="502920"/>
          </a:xfrm>
          <a:prstGeom prst="roundRect">
            <a:avLst/>
          </a:prstGeom>
          <a:solidFill>
            <a:srgbClr val="07111F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5907024"/>
            <a:ext cx="1046988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lang="ko-KR">
                <a:solidFill>
                  <a:srgbClr val="FFC857"/>
                </a:solidFill>
                <a:latin typeface="Noto Sans KR"/>
                <a:ea typeface="Noto Sans KR"/>
              </a:rPr>
              <a:t>Control PASS는 금융 법률 정확도 100%가 아니라 expected block/recovery가 관찰됐다는 의미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510528"/>
            <a:ext cx="47548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lang="ko-KR">
                <a:solidFill>
                  <a:srgbClr val="9DB0C7"/>
                </a:solidFill>
                <a:latin typeface="Noto Sans KR"/>
                <a:ea typeface="Noto Sans KR"/>
              </a:rPr>
              <a:t>김대균 · AI Inference 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5486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 lang="ko-KR">
                <a:solidFill>
                  <a:srgbClr val="9DB0C7"/>
                </a:solidFill>
                <a:latin typeface="DejaVu Sans Mono"/>
                <a:ea typeface="DejaVu San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lang="ko-KR">
                <a:solidFill>
                  <a:srgbClr val="38D6FF"/>
                </a:solidFill>
                <a:latin typeface="Noto Sans KR"/>
                <a:ea typeface="Noto Sans KR"/>
              </a:rPr>
              <a:t>ENGINEERING 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8136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 lang="ko-KR">
                <a:solidFill>
                  <a:srgbClr val="F3F7FD"/>
                </a:solidFill>
                <a:latin typeface="Noto Sans KR"/>
                <a:ea typeface="Noto Sans KR"/>
              </a:rPr>
              <a:t>재현성을 코드로 강제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88136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lang="ko-KR">
                <a:solidFill>
                  <a:srgbClr val="9DB0C7"/>
                </a:solidFill>
                <a:latin typeface="Noto Sans KR"/>
                <a:ea typeface="Noto Sans KR"/>
              </a:rPr>
              <a:t>좋은 숫자보다 그 숫자가 어디서 왔는지 다시 확인할 수 있게 만들었습니다.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47472"/>
            <a:ext cx="7315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DejaVu Sans Mono"/>
                <a:ea typeface="DejaVu Sans Mono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901952"/>
          <a:ext cx="1088136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716889">
                <a:tc>
                  <a:txBody>
                    <a:bodyPr/>
                    <a:lstStyle/>
                    <a:p>
                      <a:pPr algn="l"/>
                      <a:r>
                        <a:rPr sz="1050" b="1" lang="ko-KR">
                          <a:solidFill>
                            <a:srgbClr val="F3F7FD"/>
                          </a:solidFill>
                          <a:latin typeface="Noto Sans KR"/>
                          <a:ea typeface="Noto Sans KR"/>
                        </a:rPr>
                        <a:t>프로젝트</a:t>
                      </a:r>
                    </a:p>
                  </a:txBody>
                  <a:tcPr marL="82296" marR="82296" marT="45720" marB="45720">
                    <a:solidFill>
                      <a:srgbClr val="10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lang="ko-KR">
                          <a:solidFill>
                            <a:srgbClr val="F3F7FD"/>
                          </a:solidFill>
                          <a:latin typeface="DejaVu Sans Mono"/>
                          <a:ea typeface="DejaVu Sans Mono"/>
                        </a:rPr>
                        <a:t>입력 계약</a:t>
                      </a:r>
                    </a:p>
                  </a:txBody>
                  <a:tcPr marL="82296" marR="82296" marT="45720" marB="45720">
                    <a:solidFill>
                      <a:srgbClr val="10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lang="ko-KR">
                          <a:solidFill>
                            <a:srgbClr val="F3F7FD"/>
                          </a:solidFill>
                          <a:latin typeface="DejaVu Sans Mono"/>
                          <a:ea typeface="DejaVu Sans Mono"/>
                        </a:rPr>
                        <a:t>검증</a:t>
                      </a:r>
                    </a:p>
                  </a:txBody>
                  <a:tcPr marL="82296" marR="82296" marT="45720" marB="45720">
                    <a:solidFill>
                      <a:srgbClr val="10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lang="ko-KR">
                          <a:solidFill>
                            <a:srgbClr val="F3F7FD"/>
                          </a:solidFill>
                          <a:latin typeface="DejaVu Sans Mono"/>
                          <a:ea typeface="DejaVu Sans Mono"/>
                        </a:rPr>
                        <a:t>산출물</a:t>
                      </a:r>
                    </a:p>
                  </a:txBody>
                  <a:tcPr marL="82296" marR="82296" marT="45720" marB="45720">
                    <a:solidFill>
                      <a:srgbClr val="10263A"/>
                    </a:solidFill>
                  </a:tcPr>
                </a:tc>
              </a:tr>
              <a:tr h="716889">
                <a:tc>
                  <a:txBody>
                    <a:bodyPr/>
                    <a:lstStyle/>
                    <a:p>
                      <a:pPr algn="l"/>
                      <a:r>
                        <a:rPr sz="1050" b="0" lang="ko-KR">
                          <a:solidFill>
                            <a:srgbClr val="F3F7FD"/>
                          </a:solidFill>
                          <a:latin typeface="Noto Sans KR"/>
                          <a:ea typeface="Noto Sans KR"/>
                        </a:rPr>
                        <a:t>FinLLM Lab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model·tokenizer revision, ACL corpus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schema + 11-stage gate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result JSON · ADR · incident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</a:tr>
              <a:tr h="716889">
                <a:tc>
                  <a:txBody>
                    <a:bodyPr/>
                    <a:lstStyle/>
                    <a:p>
                      <a:pPr algn="l"/>
                      <a:r>
                        <a:rPr sz="1050" b="0" lang="ko-KR">
                          <a:solidFill>
                            <a:srgbClr val="F3F7FD"/>
                          </a:solidFill>
                          <a:latin typeface="Noto Sans KR"/>
                          <a:ea typeface="Noto Sans KR"/>
                        </a:rPr>
                        <a:t>Quantization Autopsy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18 immutable runs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3회 반복·provenance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JSON · CSV · Markdown · HTML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</a:tr>
              <a:tr h="716889">
                <a:tc>
                  <a:txBody>
                    <a:bodyPr/>
                    <a:lstStyle/>
                    <a:p>
                      <a:pPr algn="l"/>
                      <a:r>
                        <a:rPr sz="1050" b="0" lang="ko-KR">
                          <a:solidFill>
                            <a:srgbClr val="F3F7FD"/>
                          </a:solidFill>
                          <a:latin typeface="Noto Sans KR"/>
                          <a:ea typeface="Noto Sans KR"/>
                        </a:rPr>
                        <a:t>K-VoiceBench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audio manifest·GPU visibility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WER/CER/entity contract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result JSON · HTML · CI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</a:tr>
              <a:tr h="716892">
                <a:tc>
                  <a:txBody>
                    <a:bodyPr/>
                    <a:lstStyle/>
                    <a:p>
                      <a:pPr algn="l"/>
                      <a:r>
                        <a:rPr sz="1050" b="0" lang="ko-KR">
                          <a:solidFill>
                            <a:srgbClr val="F3F7FD"/>
                          </a:solidFill>
                          <a:latin typeface="Noto Sans KR"/>
                          <a:ea typeface="Noto Sans KR"/>
                        </a:rPr>
                        <a:t>FinCompliance Agent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strict tool schema·synthetic evidence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12 adversarial controls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JSON trace · API · HTML · PPTX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5779008"/>
            <a:ext cx="10881360" cy="502920"/>
          </a:xfrm>
          <a:prstGeom prst="roundRect">
            <a:avLst/>
          </a:prstGeom>
          <a:solidFill>
            <a:srgbClr val="07111F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5907024"/>
            <a:ext cx="1046988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lang="ko-KR">
                <a:solidFill>
                  <a:srgbClr val="FFC857"/>
                </a:solidFill>
                <a:latin typeface="Noto Sans KR"/>
                <a:ea typeface="Noto Sans KR"/>
              </a:rPr>
              <a:t>미실행 항목은 PASS로 바꾸지 않고 NOT_EXECUTED / NOT_EVALUATED로 남김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510528"/>
            <a:ext cx="47548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lang="ko-KR">
                <a:solidFill>
                  <a:srgbClr val="9DB0C7"/>
                </a:solidFill>
                <a:latin typeface="Noto Sans KR"/>
                <a:ea typeface="Noto Sans KR"/>
              </a:rPr>
              <a:t>김대균 · AI Inference 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5486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 lang="ko-KR">
                <a:solidFill>
                  <a:srgbClr val="9DB0C7"/>
                </a:solidFill>
                <a:latin typeface="DejaVu Sans Mono"/>
                <a:ea typeface="DejaVu San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lang="ko-KR">
                <a:solidFill>
                  <a:srgbClr val="38D6FF"/>
                </a:solidFill>
                <a:latin typeface="Noto Sans KR"/>
                <a:ea typeface="Noto Sans KR"/>
              </a:rPr>
              <a:t>DEVELOPER OWNERSHIP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8136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 lang="ko-KR">
                <a:solidFill>
                  <a:srgbClr val="F3F7FD"/>
                </a:solidFill>
                <a:latin typeface="Noto Sans KR"/>
                <a:ea typeface="Noto Sans KR"/>
              </a:rPr>
              <a:t>제가 직접 닫은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88136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lang="ko-KR">
                <a:solidFill>
                  <a:srgbClr val="9DB0C7"/>
                </a:solidFill>
                <a:latin typeface="Noto Sans KR"/>
                <a:ea typeface="Noto Sans KR"/>
              </a:rPr>
              <a:t>구현 범위는 모델 호출이 아니라 데이터·서빙·측정·운영 자동화 전체입니다.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47472"/>
            <a:ext cx="7315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DejaVu Sans Mono"/>
                <a:ea typeface="DejaVu Sans Mono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01952"/>
            <a:ext cx="5349240" cy="1572768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92861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lang="ko-KR">
                <a:solidFill>
                  <a:srgbClr val="38D6FF"/>
                </a:solidFill>
                <a:latin typeface="Noto Sans KR"/>
                <a:ea typeface="Noto Sans KR"/>
              </a:rPr>
              <a:t>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32304"/>
            <a:ext cx="13716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lang="ko-KR">
                <a:solidFill>
                  <a:srgbClr val="F3F7FD"/>
                </a:solidFill>
                <a:latin typeface="Noto Sans KR"/>
                <a:ea typeface="Noto Sans KR"/>
              </a:rPr>
              <a:t>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2386584"/>
            <a:ext cx="3538727" cy="7315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lang="ko-KR">
                <a:solidFill>
                  <a:srgbClr val="9DB0C7"/>
                </a:solidFill>
                <a:latin typeface="Noto Sans KR"/>
                <a:ea typeface="Noto Sans KR"/>
              </a:rPr>
              <a:t>vLLM·Transformers, single-GPU scheduling, memory budget, TTFT·RTF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246120"/>
            <a:ext cx="786384" cy="36576"/>
          </a:xfrm>
          <a:prstGeom prst="rect">
            <a:avLst/>
          </a:prstGeom>
          <a:solidFill>
            <a:srgbClr val="38D6FF"/>
          </a:solidFill>
          <a:ln>
            <a:solidFill>
              <a:srgbClr val="38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0488" y="1901952"/>
            <a:ext cx="5349240" cy="1572768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492861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lang="ko-KR">
                <a:solidFill>
                  <a:srgbClr val="9AF56D"/>
                </a:solidFill>
                <a:latin typeface="Noto Sans KR"/>
                <a:ea typeface="Noto Sans KR"/>
              </a:rPr>
              <a:t>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32304"/>
            <a:ext cx="13716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lang="ko-KR">
                <a:solidFill>
                  <a:srgbClr val="F3F7FD"/>
                </a:solidFill>
                <a:latin typeface="Noto Sans KR"/>
                <a:ea typeface="Noto Sans KR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2386584"/>
            <a:ext cx="3538727" cy="7315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lang="ko-KR">
                <a:solidFill>
                  <a:srgbClr val="9DB0C7"/>
                </a:solidFill>
                <a:latin typeface="Noto Sans KR"/>
                <a:ea typeface="Noto Sans KR"/>
              </a:rPr>
              <a:t>RAG quality·ACL·injection, WER·CER·entity, immutable provenance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246120"/>
            <a:ext cx="786384" cy="36576"/>
          </a:xfrm>
          <a:prstGeom prst="rect">
            <a:avLst/>
          </a:prstGeom>
          <a:solidFill>
            <a:srgbClr val="9AF56D"/>
          </a:solidFill>
          <a:ln>
            <a:solidFill>
              <a:srgbClr val="9AF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3730752"/>
            <a:ext cx="5349240" cy="1572768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31920"/>
            <a:ext cx="492861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lang="ko-KR">
                <a:solidFill>
                  <a:srgbClr val="FFC857"/>
                </a:solidFill>
                <a:latin typeface="Noto Sans KR"/>
                <a:ea typeface="Noto Sans KR"/>
              </a:rPr>
              <a:t>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61104"/>
            <a:ext cx="13716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lang="ko-KR">
                <a:solidFill>
                  <a:srgbClr val="F3F7FD"/>
                </a:solidFill>
                <a:latin typeface="Noto Sans KR"/>
                <a:ea typeface="Noto Sans KR"/>
              </a:rPr>
              <a:t>Safety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8568" y="4215384"/>
            <a:ext cx="3538727" cy="7315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lang="ko-KR">
                <a:solidFill>
                  <a:srgbClr val="9DB0C7"/>
                </a:solidFill>
                <a:latin typeface="Noto Sans KR"/>
                <a:ea typeface="Noto Sans KR"/>
              </a:rPr>
              <a:t>Docker Compose, metrics·alerts, regression gate, incident·rollback, CI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5074920"/>
            <a:ext cx="786384" cy="36576"/>
          </a:xfrm>
          <a:prstGeom prst="rect">
            <a:avLst/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90488" y="3730752"/>
            <a:ext cx="5349240" cy="1572768"/>
          </a:xfrm>
          <a:prstGeom prst="roundRect">
            <a:avLst/>
          </a:prstGeom>
          <a:solidFill>
            <a:srgbClr val="10263A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931920"/>
            <a:ext cx="492861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lang="ko-KR">
                <a:solidFill>
                  <a:srgbClr val="38D6FF"/>
                </a:solidFill>
                <a:latin typeface="Noto Sans KR"/>
                <a:ea typeface="Noto Sans KR"/>
              </a:rPr>
              <a:t>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61104"/>
            <a:ext cx="13716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lang="ko-KR">
                <a:solidFill>
                  <a:srgbClr val="F3F7FD"/>
                </a:solidFill>
                <a:latin typeface="Noto Sans KR"/>
                <a:ea typeface="Noto Sans KR"/>
              </a:rPr>
              <a:t>Tool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4215384"/>
            <a:ext cx="3538727" cy="7315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lang="ko-KR">
                <a:solidFill>
                  <a:srgbClr val="9DB0C7"/>
                </a:solidFill>
                <a:latin typeface="Noto Sans KR"/>
                <a:ea typeface="Noto Sans KR"/>
              </a:rPr>
              <a:t>function calling loop, strict guardrails, prompt-injection defense, out-of-band HITL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5074920"/>
            <a:ext cx="786384" cy="36576"/>
          </a:xfrm>
          <a:prstGeom prst="rect">
            <a:avLst/>
          </a:prstGeom>
          <a:solidFill>
            <a:srgbClr val="38D6FF"/>
          </a:solidFill>
          <a:ln>
            <a:solidFill>
              <a:srgbClr val="38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510528"/>
            <a:ext cx="47548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lang="ko-KR">
                <a:solidFill>
                  <a:srgbClr val="9DB0C7"/>
                </a:solidFill>
                <a:latin typeface="Noto Sans KR"/>
                <a:ea typeface="Noto Sans KR"/>
              </a:rPr>
              <a:t>김대균 · AI Inference Portfolio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10528"/>
            <a:ext cx="5486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 lang="ko-KR">
                <a:solidFill>
                  <a:srgbClr val="9DB0C7"/>
                </a:solidFill>
                <a:latin typeface="DejaVu Sans Mono"/>
                <a:ea typeface="DejaVu Sans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lang="ko-KR">
                <a:solidFill>
                  <a:srgbClr val="38D6FF"/>
                </a:solidFill>
                <a:latin typeface="Noto Sans KR"/>
                <a:ea typeface="Noto Sans KR"/>
              </a:rPr>
              <a:t>VALIDATION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8136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 lang="ko-KR">
                <a:solidFill>
                  <a:srgbClr val="F3F7FD"/>
                </a:solidFill>
                <a:latin typeface="Noto Sans KR"/>
                <a:ea typeface="Noto Sans KR"/>
              </a:rPr>
              <a:t>현재 완성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88136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lang="ko-KR">
                <a:solidFill>
                  <a:srgbClr val="9DB0C7"/>
                </a:solidFill>
                <a:latin typeface="Noto Sans KR"/>
                <a:ea typeface="Noto Sans KR"/>
              </a:rPr>
              <a:t>채용 담당자가 바로 열어보고, 개발자가 명령으로 다시 검증할 수 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47472"/>
            <a:ext cx="7315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lang="ko-KR">
                <a:solidFill>
                  <a:srgbClr val="9DB0C7"/>
                </a:solidFill>
                <a:latin typeface="DejaVu Sans Mono"/>
                <a:ea typeface="DejaVu Sans Mono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901952"/>
          <a:ext cx="1088136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716889">
                <a:tc>
                  <a:txBody>
                    <a:bodyPr/>
                    <a:lstStyle/>
                    <a:p>
                      <a:pPr algn="l"/>
                      <a:r>
                        <a:rPr sz="1050" b="1" lang="ko-KR">
                          <a:solidFill>
                            <a:srgbClr val="F3F7FD"/>
                          </a:solidFill>
                          <a:latin typeface="Noto Sans KR"/>
                          <a:ea typeface="Noto Sans KR"/>
                        </a:rPr>
                        <a:t>프로젝트</a:t>
                      </a:r>
                    </a:p>
                  </a:txBody>
                  <a:tcPr marL="82296" marR="82296" marT="45720" marB="45720">
                    <a:solidFill>
                      <a:srgbClr val="10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lang="ko-KR">
                          <a:solidFill>
                            <a:srgbClr val="F3F7FD"/>
                          </a:solidFill>
                          <a:latin typeface="DejaVu Sans Mono"/>
                          <a:ea typeface="DejaVu Sans Mono"/>
                        </a:rPr>
                        <a:t>검증 결과</a:t>
                      </a:r>
                    </a:p>
                  </a:txBody>
                  <a:tcPr marL="82296" marR="82296" marT="45720" marB="45720">
                    <a:solidFill>
                      <a:srgbClr val="10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lang="ko-KR">
                          <a:solidFill>
                            <a:srgbClr val="F3F7FD"/>
                          </a:solidFill>
                          <a:latin typeface="DejaVu Sans Mono"/>
                          <a:ea typeface="DejaVu Sans Mono"/>
                        </a:rPr>
                        <a:t>포트폴리오</a:t>
                      </a:r>
                    </a:p>
                  </a:txBody>
                  <a:tcPr marL="82296" marR="82296" marT="45720" marB="45720">
                    <a:solidFill>
                      <a:srgbClr val="10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lang="ko-KR">
                          <a:solidFill>
                            <a:srgbClr val="F3F7FD"/>
                          </a:solidFill>
                          <a:latin typeface="DejaVu Sans Mono"/>
                          <a:ea typeface="DejaVu Sans Mono"/>
                        </a:rPr>
                        <a:t>Git</a:t>
                      </a:r>
                    </a:p>
                  </a:txBody>
                  <a:tcPr marL="82296" marR="82296" marT="45720" marB="45720">
                    <a:solidFill>
                      <a:srgbClr val="10263A"/>
                    </a:solidFill>
                  </a:tcPr>
                </a:tc>
              </a:tr>
              <a:tr h="716889">
                <a:tc>
                  <a:txBody>
                    <a:bodyPr/>
                    <a:lstStyle/>
                    <a:p>
                      <a:pPr algn="l"/>
                      <a:r>
                        <a:rPr sz="1050" b="0" lang="ko-KR">
                          <a:solidFill>
                            <a:srgbClr val="F3F7FD"/>
                          </a:solidFill>
                          <a:latin typeface="Noto Sans KR"/>
                          <a:ea typeface="Noto Sans KR"/>
                        </a:rPr>
                        <a:t>FinLLM Lab v0.2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153 tests + artifacts PASS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HTML · PPTX · PDF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origin/main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</a:tr>
              <a:tr h="716889">
                <a:tc>
                  <a:txBody>
                    <a:bodyPr/>
                    <a:lstStyle/>
                    <a:p>
                      <a:pPr algn="l"/>
                      <a:r>
                        <a:rPr sz="1050" b="0" lang="ko-KR">
                          <a:solidFill>
                            <a:srgbClr val="F3F7FD"/>
                          </a:solidFill>
                          <a:latin typeface="Noto Sans KR"/>
                          <a:ea typeface="Noto Sans KR"/>
                        </a:rPr>
                        <a:t>Quantization Autopsy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18 runs / 6 configs PASS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Interactive HTML · report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FinLLM companion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</a:tr>
              <a:tr h="716889">
                <a:tc>
                  <a:txBody>
                    <a:bodyPr/>
                    <a:lstStyle/>
                    <a:p>
                      <a:pPr algn="l"/>
                      <a:r>
                        <a:rPr sz="1050" b="0" lang="ko-KR">
                          <a:solidFill>
                            <a:srgbClr val="F3F7FD"/>
                          </a:solidFill>
                          <a:latin typeface="Noto Sans KR"/>
                          <a:ea typeface="Noto Sans KR"/>
                        </a:rPr>
                        <a:t>K-VoiceBench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6 tests + GPU1 result PASS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Interactive HTML · evidence JSON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local main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</a:tr>
              <a:tr h="716892">
                <a:tc>
                  <a:txBody>
                    <a:bodyPr/>
                    <a:lstStyle/>
                    <a:p>
                      <a:pPr algn="l"/>
                      <a:r>
                        <a:rPr sz="1050" b="0" lang="ko-KR">
                          <a:solidFill>
                            <a:srgbClr val="F3F7FD"/>
                          </a:solidFill>
                          <a:latin typeface="Noto Sans KR"/>
                          <a:ea typeface="Noto Sans KR"/>
                        </a:rPr>
                        <a:t>FinCompliance Agent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12 tests + 12/12 controls PASS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HTML · PPTX · trace JSON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lang="ko-KR">
                          <a:solidFill>
                            <a:srgbClr val="9AF56D"/>
                          </a:solidFill>
                          <a:latin typeface="DejaVu Sans Mono"/>
                          <a:ea typeface="DejaVu Sans Mono"/>
                        </a:rPr>
                        <a:t>public main</a:t>
                      </a:r>
                    </a:p>
                  </a:txBody>
                  <a:tcPr marL="82296" marR="82296" marT="45720" marB="45720">
                    <a:solidFill>
                      <a:srgbClr val="0E1D30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5779008"/>
            <a:ext cx="10881360" cy="502920"/>
          </a:xfrm>
          <a:prstGeom prst="roundRect">
            <a:avLst/>
          </a:prstGeom>
          <a:solidFill>
            <a:srgbClr val="07111F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5907024"/>
            <a:ext cx="1046988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lang="ko-KR">
                <a:solidFill>
                  <a:srgbClr val="FFC857"/>
                </a:solidFill>
                <a:latin typeface="Noto Sans KR"/>
                <a:ea typeface="Noto Sans KR"/>
              </a:rPr>
              <a:t>FinCompliance Agent는 public main · K-VoiceBench와 EvidenceOps는 원격 연결 대기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510528"/>
            <a:ext cx="47548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lang="ko-KR">
                <a:solidFill>
                  <a:srgbClr val="9DB0C7"/>
                </a:solidFill>
                <a:latin typeface="Noto Sans KR"/>
                <a:ea typeface="Noto Sans KR"/>
              </a:rPr>
              <a:t>김대균 · AI Inference 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5486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 lang="ko-KR">
                <a:solidFill>
                  <a:srgbClr val="9DB0C7"/>
                </a:solidFill>
                <a:latin typeface="DejaVu Sans Mono"/>
                <a:ea typeface="DejaVu Sans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749808"/>
            <a:ext cx="106984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lang="ko-KR">
                <a:solidFill>
                  <a:srgbClr val="38D6FF"/>
                </a:solidFill>
                <a:latin typeface="Noto Sans KR"/>
                <a:ea typeface="Noto Sans KR"/>
              </a:rPr>
              <a:t>ONE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417320"/>
            <a:ext cx="10789920" cy="20116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300" b="1" lang="ko-KR">
                <a:solidFill>
                  <a:srgbClr val="F3F7FD"/>
                </a:solidFill>
                <a:latin typeface="Noto Sans KR"/>
                <a:ea typeface="Noto Sans KR"/>
              </a:rPr>
              <a:t>Build · Measure · Operate · 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858768"/>
            <a:ext cx="9966960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lang="ko-KR">
                <a:solidFill>
                  <a:srgbClr val="9DB0C7"/>
                </a:solidFill>
                <a:latin typeface="Noto Sans KR"/>
                <a:ea typeface="Noto Sans KR"/>
              </a:rPr>
              <a:t>금융 LLMOps, 양자화 원인 분석, 한국어 음성 평가를 거쳐 모델이 근거와 권한 안에서 행동하는 Agent를 구현했습니다.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4919472"/>
            <a:ext cx="1645920" cy="393192"/>
          </a:xfrm>
          <a:prstGeom prst="roundRect">
            <a:avLst/>
          </a:prstGeom>
          <a:solidFill>
            <a:srgbClr val="07111F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5038344"/>
            <a:ext cx="1444752" cy="1554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lang="ko-KR">
                <a:solidFill>
                  <a:srgbClr val="9AF56D"/>
                </a:solidFill>
                <a:latin typeface="Noto Sans KR"/>
                <a:ea typeface="Noto Sans KR"/>
              </a:rPr>
              <a:t>AI Developer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4919472"/>
            <a:ext cx="1645920" cy="393192"/>
          </a:xfrm>
          <a:prstGeom prst="roundRect">
            <a:avLst/>
          </a:prstGeom>
          <a:solidFill>
            <a:srgbClr val="07111F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42615" y="5038344"/>
            <a:ext cx="1444752" cy="1554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lang="ko-KR">
                <a:solidFill>
                  <a:srgbClr val="9AF56D"/>
                </a:solidFill>
                <a:latin typeface="Noto Sans KR"/>
                <a:ea typeface="Noto Sans KR"/>
              </a:rPr>
              <a:t>LLMOps Engineer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4919472"/>
            <a:ext cx="1728216" cy="393192"/>
          </a:xfrm>
          <a:prstGeom prst="roundRect">
            <a:avLst/>
          </a:prstGeom>
          <a:solidFill>
            <a:srgbClr val="07111F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5038344"/>
            <a:ext cx="1527048" cy="1554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lang="ko-KR">
                <a:solidFill>
                  <a:srgbClr val="9AF56D"/>
                </a:solidFill>
                <a:latin typeface="Noto Sans KR"/>
                <a:ea typeface="Noto Sans KR"/>
              </a:rPr>
              <a:t>Inference Engineer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4919472"/>
            <a:ext cx="1645920" cy="393192"/>
          </a:xfrm>
          <a:prstGeom prst="roundRect">
            <a:avLst/>
          </a:prstGeom>
          <a:solidFill>
            <a:srgbClr val="07111F"/>
          </a:solidFill>
          <a:ln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038344"/>
            <a:ext cx="1444752" cy="1554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 lang="ko-KR">
                <a:solidFill>
                  <a:srgbClr val="9AF56D"/>
                </a:solidFill>
                <a:latin typeface="Noto Sans KR"/>
                <a:ea typeface="Noto Sans KR"/>
              </a:rPr>
              <a:t>Agent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614476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lang="ko-KR">
                <a:solidFill>
                  <a:srgbClr val="9DB0C7"/>
                </a:solidFill>
                <a:latin typeface="DejaVu Sans Mono"/>
                <a:ea typeface="DejaVu Sans Mono"/>
              </a:rPr>
              <a:t>2026 · Developer Portfolio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