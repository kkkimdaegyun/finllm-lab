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749808"/>
            <a:ext cx="106984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38D6FF"/>
                </a:solidFill>
                <a:latin typeface="Noto Sans KR"/>
                <a:ea typeface="Noto Sans KR"/>
              </a:rPr>
              <a:t>AI DEVELOPER · LLMOPS · AGENT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89920" cy="20116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 lang="ko-KR">
                <a:solidFill>
                  <a:srgbClr val="F3F7FD"/>
                </a:solidFill>
                <a:latin typeface="Noto Sans KR"/>
                <a:ea typeface="Noto Sans KR"/>
              </a:rPr>
              <a:t>Evidence-Driven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 lang="ko-KR">
                <a:solidFill>
                  <a:srgbClr val="F3F7FD"/>
                </a:solidFill>
                <a:latin typeface="Noto Sans KR"/>
                <a:ea typeface="Noto Sans KR"/>
              </a:rPr>
              <a:t>AI Inference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858768"/>
            <a:ext cx="996696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추론을 만들고, 측정하고, 운영하며, 증거 기반 Agent로 자동화했습니다.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Production LLMOps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4919472"/>
            <a:ext cx="2112264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2615" y="5038344"/>
            <a:ext cx="1911095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Quantization Debugging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01184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Korean ASR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92824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408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EvidenceOps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4476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lang="ko-KR">
                <a:solidFill>
                  <a:srgbClr val="9DB0C7"/>
                </a:solidFill>
                <a:latin typeface="DejaVu Sans Mono"/>
                <a:ea typeface="DejaVu Sans Mono"/>
              </a:rPr>
              <a:t>2026 · Developer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PORTFOLIO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네 프로젝트가 답하는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모델 데모보다 요구사항 → 측정 → 선택 → 운영 → 자동화의 닫힌 고리를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38D6FF"/>
                </a:solidFill>
                <a:latin typeface="Noto Sans KR"/>
                <a:ea typeface="Noto Sans KR"/>
              </a:rPr>
              <a:t>01 FinLLM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323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23865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금융 Private RAG를 단일 GPU에서 어떻게 배포·관측·회귀·롤백할까?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46120"/>
            <a:ext cx="786384" cy="36576"/>
          </a:xfrm>
          <a:prstGeom prst="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19019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02 Quantization Autopsy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323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원인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23865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양자화 모델의 성능 저하를 정밀도가 아닌 실행 경로까지 어떻게 분해할까?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46120"/>
            <a:ext cx="786384" cy="36576"/>
          </a:xfrm>
          <a:prstGeom prst="rect">
            <a:avLst/>
          </a:prstGeom>
          <a:solidFill>
            <a:srgbClr val="9AF56D"/>
          </a:solidFill>
          <a:ln>
            <a:solidFill>
              <a:srgbClr val="9AF5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7307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319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FFC857"/>
                </a:solidFill>
                <a:latin typeface="Noto Sans KR"/>
                <a:ea typeface="Noto Sans KR"/>
              </a:rPr>
              <a:t>03 K-VoiceBench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611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42153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한국어 ASR을 정확도·엔티티·RTF·VRAM의 같은 계약으로 어떻게 비교할까?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074920"/>
            <a:ext cx="786384" cy="36576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37307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38D6FF"/>
                </a:solidFill>
                <a:latin typeface="Noto Sans KR"/>
                <a:ea typeface="Noto Sans KR"/>
              </a:rPr>
              <a:t>04 EvidenceOps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611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자동화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42153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긴 AI 실험을 사람이 밤새 지키지 않아도 정책·큐·증거로 어떻게 운영할까?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74920"/>
            <a:ext cx="786384" cy="36576"/>
          </a:xfrm>
          <a:prstGeom prst="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01 · FINLLM LAB V0.2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금융 RAG를 ‘운영 루프’로 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ACL을 모델 앞에서 강제하고, 실제 장애와 회귀를 release gate까지 연결했습니다.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4579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1739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4891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ACL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vLLM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132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Metrics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4696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Regression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8068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5228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80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Rollback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Final release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PASS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Deterministic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153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Actual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11 / 11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Result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27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Deployment → Observability → Alert → Incident → Rollback을 Compose rehearsal로 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FINLLM · DEPLOYMENT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더 큰 14B가 더 적은 메모리로 합격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4-bit 가중치 절감분을 KV cache로 돌려 품질과 동시성 여유를 확보했습니다.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4754880" cy="354787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25196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38D6FF"/>
                </a:solidFill>
                <a:latin typeface="Noto Sans KR"/>
                <a:ea typeface="Noto Sans KR"/>
              </a:rPr>
              <a:t>채택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425196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 lang="ko-KR">
                <a:solidFill>
                  <a:srgbClr val="F3F7FD"/>
                </a:solidFill>
                <a:latin typeface="Noto Sans KR"/>
                <a:ea typeface="Noto Sans KR"/>
              </a:rPr>
              <a:t>Qwen3-14B-AWQ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75887"/>
            <a:ext cx="4251960" cy="10058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lang="ko-KR">
                <a:solidFill>
                  <a:srgbClr val="9DB0C7"/>
                </a:solidFill>
                <a:latin typeface="DejaVu Sans Mono"/>
                <a:ea typeface="DejaVu Sans Mono"/>
              </a:rPr>
              <a:t>gpu_memory_utilization 0.46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lang="ko-KR">
                <a:solidFill>
                  <a:srgbClr val="9DB0C7"/>
                </a:solidFill>
                <a:latin typeface="DejaVu Sans Mono"/>
                <a:ea typeface="DejaVu Sans Mono"/>
              </a:rPr>
              <a:t>--enforce-eager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lang="ko-KR">
                <a:solidFill>
                  <a:srgbClr val="9DB0C7"/>
                </a:solidFill>
                <a:latin typeface="DejaVu Sans Mono"/>
                <a:ea typeface="DejaVu Sans Mono"/>
              </a:rPr>
              <a:t>동시성 10 · 8,192 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50992" y="1901952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97296" y="2029968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7296" y="2295144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97.667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58784" y="1901952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05088" y="2029968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User P95 TTFT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2295144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1,273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50992" y="3291840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97296" y="3419856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Throughput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7296" y="3685032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315.3 tok/s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58784" y="3291840"/>
            <a:ext cx="274320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05088" y="3419856"/>
            <a:ext cx="245059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Peak VRAM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5088" y="3685032"/>
            <a:ext cx="245059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21.96 GiB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A6000 memory-budget-emulation이며 실제 24GB 카드 성능은 NOT_EXECUTED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02 · QUANTIZATION AUTOPSY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‘4-bit라서 느리다’는 설명을 반증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같은 모델·예산에서 실행 경로만 바꾸자 AWQ 처리량이 5.47배 회복됐습니다.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75104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8B BF16 · CUDA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9312" y="1901952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0" y="1920240"/>
            <a:ext cx="4371916" cy="329184"/>
          </a:xfrm>
          <a:prstGeom prst="round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1965960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295.98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587752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8B BF16 · eager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2514600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2532888"/>
            <a:ext cx="4238534" cy="329184"/>
          </a:xfrm>
          <a:prstGeom prst="round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578608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286.95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00400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14B AWQ · CUDA graph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9312" y="3127248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145536"/>
            <a:ext cx="845048" cy="329184"/>
          </a:xfrm>
          <a:prstGeom prst="round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191256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57.21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813048"/>
            <a:ext cx="283464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lang="ko-KR">
                <a:solidFill>
                  <a:srgbClr val="9DB0C7"/>
                </a:solidFill>
                <a:latin typeface="Noto Sans KR"/>
                <a:ea typeface="Noto Sans KR"/>
              </a:rPr>
              <a:t>14B AWQ · eager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39312" y="3739896"/>
            <a:ext cx="4663440" cy="365760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0" y="3758183"/>
            <a:ext cx="4626864" cy="329184"/>
          </a:xfrm>
          <a:prstGeom prst="roundRect">
            <a:avLst/>
          </a:prstGeom>
          <a:solidFill>
            <a:srgbClr val="9AF56D"/>
          </a:solidFill>
          <a:ln>
            <a:solidFill>
              <a:srgbClr val="9AF5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3803904"/>
            <a:ext cx="960120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F3F7FD"/>
                </a:solidFill>
                <a:latin typeface="DejaVu Sans Mono"/>
                <a:ea typeface="DejaVu Sans Mono"/>
              </a:rPr>
              <a:t>313.24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1901952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2029968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Immutable 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5792" y="2295144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9488" y="2743200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5792" y="2871216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Configurations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3136392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19488" y="3584448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65792" y="3712463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Repeats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5792" y="3977639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3×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4425696"/>
            <a:ext cx="1920240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5792" y="4553712"/>
            <a:ext cx="1627632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AWQ recovery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4818888"/>
            <a:ext cx="1627632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38D6FF"/>
                </a:solidFill>
                <a:latin typeface="DejaVu Sans Mono"/>
                <a:ea typeface="DejaVu Sans Mono"/>
              </a:rPr>
              <a:t>5.47×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정확한 kernel root cause는 프로파일러로 측정하지 않아 NOT_MEASURED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QUANTIZATION · DEBUGGING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그럴듯한 원인보다 반증 가능한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비교 축을 고정하고 설명이 깨지는 조건을 찾았습니다.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관측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AWQ 1/5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2125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8414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1566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가설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dequant 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1300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8460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1612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통제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같은 모델·예산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1347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8507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165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반증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eager 회복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1393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8553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1705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제한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원인 범위 명시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Weight saved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5.90 GiB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KV cache 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5.58 GiB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User TTFT 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80.6%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24GB headroom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2.04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8B BF16과 14B AWQ는 크기가 달라 순수한 양자화 효과를 식별한 실험은 아님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03 · K-VOICEBENCH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한국어 ASR을 하나의 결과 계약으로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학습 없이 공개 Whisper 체크포인트의 추론 품질과 단일 GPU 운영성을 측정했습니다.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JSONL Manifest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2125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8414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31566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Audio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1300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58460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1612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Whisper FP16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21347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8507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1659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WER·CER·Entity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1393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8553" y="1975104"/>
            <a:ext cx="2081174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31705" y="2249424"/>
            <a:ext cx="1934870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Latency·RTF·VRAM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GPU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GPU 1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Sequential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Training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CI backend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Mock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원본 음성·모델 가중치·로컬 절대 경로를 결과 JSON과 Git에서 분리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K-VOICEBENCH · VERIFIED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Whisper large-v3 · A6000 한 장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24개, 100.848초 금융 TTS 최소대립쌍 · clean 12 / telephony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지표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전체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Clean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Telephony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ITN WER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6.897%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6.897%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6.897%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띄어쓰기 비민감 ITN CER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0.000%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0.000%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0.000%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금융 숫자 Entity 정확도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100.0%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100.0%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100.0%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P95 warm latency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442.7ms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Mean / P95 RTF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0.0918 / 0.1017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Peak allocated VRAM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3,200.5MiB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—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TTS 진단값이며 사람 금융상담 음성 성능은 NOT_EVALUATED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PROJECT 04 · EVIDENCEOPS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AI 실험 운영을 사람의 밤샘에서 분리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허용된 도구만 순차 실행하고 interruption 이후 checkpoint에서 재개합니다.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4579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1739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4891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Policy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Sequential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1324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1636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Execute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54696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Observe·Triage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8068" y="2386584"/>
            <a:ext cx="155448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lang="ko-KR">
                <a:solidFill>
                  <a:srgbClr val="38D6FF"/>
                </a:solidFill>
                <a:latin typeface="Noto Sans KR"/>
                <a:ea typeface="Noto Sans KR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5228" y="1975104"/>
            <a:ext cx="1714500" cy="1078992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80" y="2249424"/>
            <a:ext cx="1568196" cy="5303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lang="ko-KR">
                <a:solidFill>
                  <a:srgbClr val="F3F7FD"/>
                </a:solidFill>
                <a:latin typeface="Noto Sans KR"/>
                <a:ea typeface="Noto Sans KR"/>
              </a:rPr>
              <a:t>Evidence Pack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Portfolio jobs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6 / 6 PASS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8426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4730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Unit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4730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8483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4788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GPU policy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4788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GPU 1 only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08542" y="3712463"/>
            <a:ext cx="2631186" cy="914400"/>
          </a:xfrm>
          <a:prstGeom prst="roundRect">
            <a:avLst/>
          </a:prstGeom>
          <a:solidFill>
            <a:srgbClr val="0E1D30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4846" y="3840479"/>
            <a:ext cx="2338578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Noto Sans KR"/>
                <a:ea typeface="Noto Sans KR"/>
              </a:rPr>
              <a:t>LLM 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4846" y="4105655"/>
            <a:ext cx="2338578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lang="ko-KR">
                <a:solidFill>
                  <a:srgbClr val="9AF56D"/>
                </a:solidFill>
                <a:latin typeface="DejaVu Sans Mono"/>
                <a:ea typeface="DejaVu Sans Mono"/>
              </a:rPr>
              <a:t>Advisory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CPU job은 CUDA를 볼 수 없고 GPU job은 물리 GPU 1번 exclusive 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EVIDENCEOPS · VERIFIED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실행보다 중요한 것은 증거와 중단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세 프로젝트의 계약을 한 큐에서 검증하고 실행 사건을 SHA-256 hash chain으로 연결했습니다.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97408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항목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구현 계약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실측 결과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Failure boundary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597408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Agent run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10-state machine + checkpoint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 / 6 jobs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완료 job 재실행 금지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97408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Execution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sequential queue + detach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14.460s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interruption 후 resume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97408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Resource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physical GPU 1 exclusive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GPU executions 0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CPU에서 CUDA 비노출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97408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Evidence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log hash + audit chain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VERIFIED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변조 시 chain 검증 실패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597408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Interface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CLI + MCP v2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7 tools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policy 우회 경로 없음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NEEDS_ATTENTION은 자동 재시도하지 않으며 사람이 확인 · LLM triage NOT_NEEDED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ENGINEERING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재현성을 코드로 강제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좋은 숫자보다 그 숫자가 어디서 왔는지 다시 확인할 수 있게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프로젝트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입력 계약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검증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산출물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FinLLM Lab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model·tokenizer revision, ACL corpus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schema + 11-stage gate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result JSON · ADR · incident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Quantization Autopsy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18 immutable runs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3회 반복·provenance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JSON · CSV · Markdown · HTML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K-VoiceBench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audio manifest·GPU visibility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WER/CER/entity contract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result JSON · HTML · CI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71689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EvidenceOps Agent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experiment spec·argv allowlist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checkpoint + hash chain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JSON · HTML · MCP · CI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미실행 항목은 PASS로 바꾸지 않고 NOT_EXECUTED / NOT_EVALUATED로 남김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DEVELOPER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제가 직접 닫은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구현 범위는 모델 호출이 아니라 데이터·서빙·측정·운영 자동화 전체입니다.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38D6FF"/>
                </a:solidFill>
                <a:latin typeface="Noto Sans KR"/>
                <a:ea typeface="Noto Sans KR"/>
              </a:rPr>
              <a:t>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323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8568" y="23865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vLLM·Transformers, single-GPU scheduling, memory budget, TTFT·RTF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46120"/>
            <a:ext cx="786384" cy="36576"/>
          </a:xfrm>
          <a:prstGeom prst="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0488" y="19019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323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23865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RAG quality·ACL·injection, WER·CER·entity, immutable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46120"/>
            <a:ext cx="786384" cy="36576"/>
          </a:xfrm>
          <a:prstGeom prst="rect">
            <a:avLst/>
          </a:prstGeom>
          <a:solidFill>
            <a:srgbClr val="9AF56D"/>
          </a:solidFill>
          <a:ln>
            <a:solidFill>
              <a:srgbClr val="9AF5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7307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319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FFC857"/>
                </a:solidFill>
                <a:latin typeface="Noto Sans KR"/>
                <a:ea typeface="Noto Sans KR"/>
              </a:rPr>
              <a:t>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611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42153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Docker Compose, metrics·alerts, regression gate, incident·rollback, CI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5074920"/>
            <a:ext cx="786384" cy="36576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3730752"/>
            <a:ext cx="5349240" cy="1572768"/>
          </a:xfrm>
          <a:prstGeom prst="roundRect">
            <a:avLst/>
          </a:prstGeom>
          <a:solidFill>
            <a:srgbClr val="10263A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4928616" cy="20116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38D6FF"/>
                </a:solidFill>
                <a:latin typeface="Noto Sans KR"/>
                <a:ea typeface="Noto Sans KR"/>
              </a:rPr>
              <a:t>AgentOps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61104"/>
            <a:ext cx="137160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 lang="ko-KR">
                <a:solidFill>
                  <a:srgbClr val="F3F7FD"/>
                </a:solidFill>
                <a:latin typeface="Noto Sans KR"/>
                <a:ea typeface="Noto Sans KR"/>
              </a:rPr>
              <a:t>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4215384"/>
            <a:ext cx="3538727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lang="ko-KR">
                <a:solidFill>
                  <a:srgbClr val="9DB0C7"/>
                </a:solidFill>
                <a:latin typeface="Noto Sans KR"/>
                <a:ea typeface="Noto Sans KR"/>
              </a:rPr>
              <a:t>policy gate, state machine, checkpoint·resume, MCP, tamper-evident audit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74920"/>
            <a:ext cx="786384" cy="36576"/>
          </a:xfrm>
          <a:prstGeom prst="rect">
            <a:avLst/>
          </a:prstGeom>
          <a:solidFill>
            <a:srgbClr val="38D6FF"/>
          </a:solidFill>
          <a:ln>
            <a:solidFill>
              <a:srgbClr val="38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804672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lang="ko-KR">
                <a:solidFill>
                  <a:srgbClr val="38D6FF"/>
                </a:solidFill>
                <a:latin typeface="Noto Sans KR"/>
                <a:ea typeface="Noto Sans KR"/>
              </a:rPr>
              <a:t>VALIDATION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lang="ko-KR">
                <a:solidFill>
                  <a:srgbClr val="F3F7FD"/>
                </a:solidFill>
                <a:latin typeface="Noto Sans KR"/>
                <a:ea typeface="Noto Sans KR"/>
              </a:rPr>
              <a:t>현재 완성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61872"/>
            <a:ext cx="10881360" cy="53035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lang="ko-KR">
                <a:solidFill>
                  <a:srgbClr val="9DB0C7"/>
                </a:solidFill>
                <a:latin typeface="Noto Sans KR"/>
                <a:ea typeface="Noto Sans KR"/>
              </a:rPr>
              <a:t>채용 담당자가 바로 열어보고, 개발자가 명령으로 다시 검증할 수 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47472"/>
            <a:ext cx="7315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1000" b="0" lang="ko-KR">
                <a:solidFill>
                  <a:srgbClr val="9DB0C7"/>
                </a:solidFill>
                <a:latin typeface="DejaVu Sans Mono"/>
                <a:ea typeface="DejaVu Sans Mono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01952"/>
          <a:ext cx="1088136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1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프로젝트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검증 결과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포트폴리오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lang="ko-KR">
                          <a:solidFill>
                            <a:srgbClr val="F3F7FD"/>
                          </a:solidFill>
                          <a:latin typeface="DejaVu Sans Mono"/>
                          <a:ea typeface="DejaVu Sans Mono"/>
                        </a:rPr>
                        <a:t>Git</a:t>
                      </a:r>
                    </a:p>
                  </a:txBody>
                  <a:tcPr marL="82296" marR="82296" marT="45720" marB="45720">
                    <a:solidFill>
                      <a:srgbClr val="10263A"/>
                    </a:solidFill>
                  </a:tcPr>
                </a:tc>
              </a:tr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FinLLM Lab v0.2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153 tests + artifacts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HTML · PPTX · PDF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origin/main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Quantization Autopsy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18 runs / 6 configs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Interactive HTML · report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FinLLM companion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716889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K-VoiceBench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6 tests + GPU1 result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Interactive HTML · evidence JSON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local main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  <a:tr h="716892">
                <a:tc>
                  <a:txBody>
                    <a:bodyPr/>
                    <a:lstStyle/>
                    <a:p>
                      <a:pPr algn="l"/>
                      <a:r>
                        <a:rPr sz="1050" b="0" lang="ko-KR">
                          <a:solidFill>
                            <a:srgbClr val="F3F7FD"/>
                          </a:solidFill>
                          <a:latin typeface="Noto Sans KR"/>
                          <a:ea typeface="Noto Sans KR"/>
                        </a:rPr>
                        <a:t>EvidenceOps Agent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12 tests + 6/6 jobs PASS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HTML · PPTX · evidence JSON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lang="ko-KR">
                          <a:solidFill>
                            <a:srgbClr val="9AF56D"/>
                          </a:solidFill>
                          <a:latin typeface="DejaVu Sans Mono"/>
                          <a:ea typeface="DejaVu Sans Mono"/>
                        </a:rPr>
                        <a:t>local main</a:t>
                      </a:r>
                    </a:p>
                  </a:txBody>
                  <a:tcPr marL="82296" marR="82296" marT="45720" marB="45720">
                    <a:solidFill>
                      <a:srgbClr val="0E1D3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79008"/>
            <a:ext cx="10881360" cy="502920"/>
          </a:xfrm>
          <a:prstGeom prst="roundRect">
            <a:avLst/>
          </a:prstGeom>
          <a:solidFill>
            <a:srgbClr val="07111F"/>
          </a:solidFill>
          <a:ln w="15240"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07024"/>
            <a:ext cx="1046988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lang="ko-KR">
                <a:solidFill>
                  <a:srgbClr val="FFC857"/>
                </a:solidFill>
                <a:latin typeface="Noto Sans KR"/>
                <a:ea typeface="Noto Sans KR"/>
              </a:rPr>
              <a:t>K-VoiceBench와 EvidenceOps는 나중에 GitHub 저장소를 만든 뒤 원격만 연결하면 되는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510528"/>
            <a:ext cx="475488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Noto Sans KR"/>
                <a:ea typeface="Noto Sans KR"/>
              </a:rPr>
              <a:t>김대균 · AI Inference 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5486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0" lang="ko-KR">
                <a:solidFill>
                  <a:srgbClr val="9DB0C7"/>
                </a:solidFill>
                <a:latin typeface="DejaVu Sans Mono"/>
                <a:ea typeface="DejaVu Sa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749808"/>
            <a:ext cx="1069848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lang="ko-KR">
                <a:solidFill>
                  <a:srgbClr val="38D6FF"/>
                </a:solidFill>
                <a:latin typeface="Noto Sans KR"/>
                <a:ea typeface="Noto Sans KR"/>
              </a:rPr>
              <a:t>ONE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417320"/>
            <a:ext cx="10789920" cy="20116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300" b="1" lang="ko-KR">
                <a:solidFill>
                  <a:srgbClr val="F3F7FD"/>
                </a:solidFill>
                <a:latin typeface="Noto Sans KR"/>
                <a:ea typeface="Noto Sans KR"/>
              </a:rPr>
              <a:t>Build · Measure · Operate · Automate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858768"/>
            <a:ext cx="996696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0" lang="ko-KR">
                <a:solidFill>
                  <a:srgbClr val="9DB0C7"/>
                </a:solidFill>
                <a:latin typeface="Noto Sans KR"/>
                <a:ea typeface="Noto Sans KR"/>
              </a:rPr>
              <a:t>금융 LLMOps, 양자화 원인 분석, 한국어 음성 평가를 거쳐 제한된 GPU의 AI 실험을 정책과 증거로 자동화했습니다.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AI Developer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42615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LLMOps Engineer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4919472"/>
            <a:ext cx="1728216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5038344"/>
            <a:ext cx="1527048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Inference Engineer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4919472"/>
            <a:ext cx="1645920" cy="393192"/>
          </a:xfrm>
          <a:prstGeom prst="roundRect">
            <a:avLst/>
          </a:prstGeom>
          <a:solidFill>
            <a:srgbClr val="07111F"/>
          </a:solidFill>
          <a:ln>
            <a:solidFill>
              <a:srgbClr val="2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5038344"/>
            <a:ext cx="1444752" cy="1554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 lang="ko-KR">
                <a:solidFill>
                  <a:srgbClr val="9AF56D"/>
                </a:solidFill>
                <a:latin typeface="Noto Sans KR"/>
                <a:ea typeface="Noto Sans KR"/>
              </a:rPr>
              <a:t>Agent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4476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lang="ko-KR">
                <a:solidFill>
                  <a:srgbClr val="9DB0C7"/>
                </a:solidFill>
                <a:latin typeface="DejaVu Sans Mono"/>
                <a:ea typeface="DejaVu Sans Mono"/>
              </a:rPr>
              <a:t>2026 · Developer Portfolio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